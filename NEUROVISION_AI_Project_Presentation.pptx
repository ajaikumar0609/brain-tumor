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jpg" ContentType="image/jp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45F6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r>
              <a:rPr dirty="0" spc="-10"/>
              <a:t>NeuroVision</a:t>
            </a:r>
            <a:r>
              <a:rPr dirty="0" spc="-20"/>
              <a:t> </a:t>
            </a:r>
            <a:r>
              <a:rPr dirty="0"/>
              <a:t>AI</a:t>
            </a:r>
            <a:r>
              <a:rPr dirty="0" spc="195"/>
              <a:t> </a:t>
            </a:r>
            <a:r>
              <a:rPr dirty="0"/>
              <a:t>|</a:t>
            </a:r>
            <a:r>
              <a:rPr dirty="0" spc="200"/>
              <a:t> </a:t>
            </a:r>
            <a:r>
              <a:rPr dirty="0"/>
              <a:t>Brain</a:t>
            </a:r>
            <a:r>
              <a:rPr dirty="0" spc="-15"/>
              <a:t> </a:t>
            </a:r>
            <a:r>
              <a:rPr dirty="0"/>
              <a:t>Tumor</a:t>
            </a:r>
            <a:r>
              <a:rPr dirty="0" spc="-15"/>
              <a:t> </a:t>
            </a:r>
            <a:r>
              <a:rPr dirty="0"/>
              <a:t>MRI</a:t>
            </a:r>
            <a:r>
              <a:rPr dirty="0" spc="-25"/>
              <a:t> </a:t>
            </a:r>
            <a:r>
              <a:rPr dirty="0"/>
              <a:t>Generation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/>
              <a:t>Classification</a:t>
            </a:r>
            <a:r>
              <a:rPr dirty="0" spc="195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Ajai</a:t>
            </a:r>
            <a:r>
              <a:rPr dirty="0" spc="-30"/>
              <a:t> </a:t>
            </a:r>
            <a:r>
              <a:rPr dirty="0"/>
              <a:t>Kumar N</a:t>
            </a:r>
            <a:r>
              <a:rPr dirty="0" spc="-10"/>
              <a:t> </a:t>
            </a:r>
            <a:r>
              <a:rPr dirty="0"/>
              <a:t>(URK23CS5064)</a:t>
            </a:r>
            <a:r>
              <a:rPr dirty="0" spc="245"/>
              <a:t> </a:t>
            </a:r>
            <a:r>
              <a:rPr dirty="0"/>
              <a:t>|</a:t>
            </a:r>
            <a:r>
              <a:rPr dirty="0" spc="204"/>
              <a:t> 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45F6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r>
              <a:rPr dirty="0" spc="-10"/>
              <a:t>NeuroVision</a:t>
            </a:r>
            <a:r>
              <a:rPr dirty="0" spc="-20"/>
              <a:t> </a:t>
            </a:r>
            <a:r>
              <a:rPr dirty="0"/>
              <a:t>AI</a:t>
            </a:r>
            <a:r>
              <a:rPr dirty="0" spc="195"/>
              <a:t> </a:t>
            </a:r>
            <a:r>
              <a:rPr dirty="0"/>
              <a:t>|</a:t>
            </a:r>
            <a:r>
              <a:rPr dirty="0" spc="200"/>
              <a:t> </a:t>
            </a:r>
            <a:r>
              <a:rPr dirty="0"/>
              <a:t>Brain</a:t>
            </a:r>
            <a:r>
              <a:rPr dirty="0" spc="-15"/>
              <a:t> </a:t>
            </a:r>
            <a:r>
              <a:rPr dirty="0"/>
              <a:t>Tumor</a:t>
            </a:r>
            <a:r>
              <a:rPr dirty="0" spc="-15"/>
              <a:t> </a:t>
            </a:r>
            <a:r>
              <a:rPr dirty="0"/>
              <a:t>MRI</a:t>
            </a:r>
            <a:r>
              <a:rPr dirty="0" spc="-25"/>
              <a:t> </a:t>
            </a:r>
            <a:r>
              <a:rPr dirty="0"/>
              <a:t>Generation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/>
              <a:t>Classification</a:t>
            </a:r>
            <a:r>
              <a:rPr dirty="0" spc="195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Ajai</a:t>
            </a:r>
            <a:r>
              <a:rPr dirty="0" spc="-30"/>
              <a:t> </a:t>
            </a:r>
            <a:r>
              <a:rPr dirty="0"/>
              <a:t>Kumar N</a:t>
            </a:r>
            <a:r>
              <a:rPr dirty="0" spc="-10"/>
              <a:t> </a:t>
            </a:r>
            <a:r>
              <a:rPr dirty="0"/>
              <a:t>(URK23CS5064)</a:t>
            </a:r>
            <a:r>
              <a:rPr dirty="0" spc="245"/>
              <a:t> </a:t>
            </a:r>
            <a:r>
              <a:rPr dirty="0"/>
              <a:t>|</a:t>
            </a:r>
            <a:r>
              <a:rPr dirty="0" spc="204"/>
              <a:t> 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45F6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r>
              <a:rPr dirty="0" spc="-10"/>
              <a:t>NeuroVision</a:t>
            </a:r>
            <a:r>
              <a:rPr dirty="0" spc="-20"/>
              <a:t> </a:t>
            </a:r>
            <a:r>
              <a:rPr dirty="0"/>
              <a:t>AI</a:t>
            </a:r>
            <a:r>
              <a:rPr dirty="0" spc="195"/>
              <a:t> </a:t>
            </a:r>
            <a:r>
              <a:rPr dirty="0"/>
              <a:t>|</a:t>
            </a:r>
            <a:r>
              <a:rPr dirty="0" spc="200"/>
              <a:t> </a:t>
            </a:r>
            <a:r>
              <a:rPr dirty="0"/>
              <a:t>Brain</a:t>
            </a:r>
            <a:r>
              <a:rPr dirty="0" spc="-15"/>
              <a:t> </a:t>
            </a:r>
            <a:r>
              <a:rPr dirty="0"/>
              <a:t>Tumor</a:t>
            </a:r>
            <a:r>
              <a:rPr dirty="0" spc="-15"/>
              <a:t> </a:t>
            </a:r>
            <a:r>
              <a:rPr dirty="0"/>
              <a:t>MRI</a:t>
            </a:r>
            <a:r>
              <a:rPr dirty="0" spc="-25"/>
              <a:t> </a:t>
            </a:r>
            <a:r>
              <a:rPr dirty="0"/>
              <a:t>Generation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/>
              <a:t>Classification</a:t>
            </a:r>
            <a:r>
              <a:rPr dirty="0" spc="195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Ajai</a:t>
            </a:r>
            <a:r>
              <a:rPr dirty="0" spc="-30"/>
              <a:t> </a:t>
            </a:r>
            <a:r>
              <a:rPr dirty="0"/>
              <a:t>Kumar N</a:t>
            </a:r>
            <a:r>
              <a:rPr dirty="0" spc="-10"/>
              <a:t> </a:t>
            </a:r>
            <a:r>
              <a:rPr dirty="0"/>
              <a:t>(URK23CS5064)</a:t>
            </a:r>
            <a:r>
              <a:rPr dirty="0" spc="245"/>
              <a:t> </a:t>
            </a:r>
            <a:r>
              <a:rPr dirty="0"/>
              <a:t>|</a:t>
            </a:r>
            <a:r>
              <a:rPr dirty="0" spc="204"/>
              <a:t> 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45F6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r>
              <a:rPr dirty="0" spc="-10"/>
              <a:t>NeuroVision</a:t>
            </a:r>
            <a:r>
              <a:rPr dirty="0" spc="-20"/>
              <a:t> </a:t>
            </a:r>
            <a:r>
              <a:rPr dirty="0"/>
              <a:t>AI</a:t>
            </a:r>
            <a:r>
              <a:rPr dirty="0" spc="195"/>
              <a:t> </a:t>
            </a:r>
            <a:r>
              <a:rPr dirty="0"/>
              <a:t>|</a:t>
            </a:r>
            <a:r>
              <a:rPr dirty="0" spc="200"/>
              <a:t> </a:t>
            </a:r>
            <a:r>
              <a:rPr dirty="0"/>
              <a:t>Brain</a:t>
            </a:r>
            <a:r>
              <a:rPr dirty="0" spc="-15"/>
              <a:t> </a:t>
            </a:r>
            <a:r>
              <a:rPr dirty="0"/>
              <a:t>Tumor</a:t>
            </a:r>
            <a:r>
              <a:rPr dirty="0" spc="-15"/>
              <a:t> </a:t>
            </a:r>
            <a:r>
              <a:rPr dirty="0"/>
              <a:t>MRI</a:t>
            </a:r>
            <a:r>
              <a:rPr dirty="0" spc="-25"/>
              <a:t> </a:t>
            </a:r>
            <a:r>
              <a:rPr dirty="0"/>
              <a:t>Generation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/>
              <a:t>Classification</a:t>
            </a:r>
            <a:r>
              <a:rPr dirty="0" spc="195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Ajai</a:t>
            </a:r>
            <a:r>
              <a:rPr dirty="0" spc="-30"/>
              <a:t> </a:t>
            </a:r>
            <a:r>
              <a:rPr dirty="0"/>
              <a:t>Kumar N</a:t>
            </a:r>
            <a:r>
              <a:rPr dirty="0" spc="-10"/>
              <a:t> </a:t>
            </a:r>
            <a:r>
              <a:rPr dirty="0"/>
              <a:t>(URK23CS5064)</a:t>
            </a:r>
            <a:r>
              <a:rPr dirty="0" spc="245"/>
              <a:t> </a:t>
            </a:r>
            <a:r>
              <a:rPr dirty="0"/>
              <a:t>|</a:t>
            </a:r>
            <a:r>
              <a:rPr dirty="0" spc="204"/>
              <a:t> 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45F6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r>
              <a:rPr dirty="0" spc="-10"/>
              <a:t>NeuroVision</a:t>
            </a:r>
            <a:r>
              <a:rPr dirty="0" spc="-20"/>
              <a:t> </a:t>
            </a:r>
            <a:r>
              <a:rPr dirty="0"/>
              <a:t>AI</a:t>
            </a:r>
            <a:r>
              <a:rPr dirty="0" spc="195"/>
              <a:t> </a:t>
            </a:r>
            <a:r>
              <a:rPr dirty="0"/>
              <a:t>|</a:t>
            </a:r>
            <a:r>
              <a:rPr dirty="0" spc="200"/>
              <a:t> </a:t>
            </a:r>
            <a:r>
              <a:rPr dirty="0"/>
              <a:t>Brain</a:t>
            </a:r>
            <a:r>
              <a:rPr dirty="0" spc="-15"/>
              <a:t> </a:t>
            </a:r>
            <a:r>
              <a:rPr dirty="0"/>
              <a:t>Tumor</a:t>
            </a:r>
            <a:r>
              <a:rPr dirty="0" spc="-15"/>
              <a:t> </a:t>
            </a:r>
            <a:r>
              <a:rPr dirty="0"/>
              <a:t>MRI</a:t>
            </a:r>
            <a:r>
              <a:rPr dirty="0" spc="-25"/>
              <a:t> </a:t>
            </a:r>
            <a:r>
              <a:rPr dirty="0"/>
              <a:t>Generation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/>
              <a:t>Classification</a:t>
            </a:r>
            <a:r>
              <a:rPr dirty="0" spc="195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Ajai</a:t>
            </a:r>
            <a:r>
              <a:rPr dirty="0" spc="-30"/>
              <a:t> </a:t>
            </a:r>
            <a:r>
              <a:rPr dirty="0"/>
              <a:t>Kumar N</a:t>
            </a:r>
            <a:r>
              <a:rPr dirty="0" spc="-10"/>
              <a:t> </a:t>
            </a:r>
            <a:r>
              <a:rPr dirty="0"/>
              <a:t>(URK23CS5064)</a:t>
            </a:r>
            <a:r>
              <a:rPr dirty="0" spc="245"/>
              <a:t> </a:t>
            </a:r>
            <a:r>
              <a:rPr dirty="0"/>
              <a:t>|</a:t>
            </a:r>
            <a:r>
              <a:rPr dirty="0" spc="204"/>
              <a:t> 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6F8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868680"/>
          </a:xfrm>
          <a:custGeom>
            <a:avLst/>
            <a:gdLst/>
            <a:ahLst/>
            <a:cxnLst/>
            <a:rect l="l" t="t" r="r" b="b"/>
            <a:pathLst>
              <a:path w="12192000" h="868680">
                <a:moveTo>
                  <a:pt x="12192000" y="0"/>
                </a:moveTo>
                <a:lnTo>
                  <a:pt x="0" y="0"/>
                </a:lnTo>
                <a:lnTo>
                  <a:pt x="0" y="868679"/>
                </a:lnTo>
                <a:lnTo>
                  <a:pt x="12192000" y="868679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9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868680"/>
            <a:ext cx="12192000" cy="45720"/>
          </a:xfrm>
          <a:custGeom>
            <a:avLst/>
            <a:gdLst/>
            <a:ahLst/>
            <a:cxnLst/>
            <a:rect l="l" t="t" r="r" b="b"/>
            <a:pathLst>
              <a:path w="12192000" h="45719">
                <a:moveTo>
                  <a:pt x="12192000" y="0"/>
                </a:moveTo>
                <a:lnTo>
                  <a:pt x="0" y="0"/>
                </a:lnTo>
                <a:lnTo>
                  <a:pt x="0" y="45720"/>
                </a:lnTo>
                <a:lnTo>
                  <a:pt x="12192000" y="4572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A9D8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198831"/>
            <a:ext cx="7517130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2750" y="1136650"/>
            <a:ext cx="11336020" cy="3657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35940" y="6532194"/>
            <a:ext cx="5405120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545F6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r>
              <a:rPr dirty="0" spc="-10"/>
              <a:t>NeuroVision</a:t>
            </a:r>
            <a:r>
              <a:rPr dirty="0" spc="-20"/>
              <a:t> </a:t>
            </a:r>
            <a:r>
              <a:rPr dirty="0"/>
              <a:t>AI</a:t>
            </a:r>
            <a:r>
              <a:rPr dirty="0" spc="195"/>
              <a:t> </a:t>
            </a:r>
            <a:r>
              <a:rPr dirty="0"/>
              <a:t>|</a:t>
            </a:r>
            <a:r>
              <a:rPr dirty="0" spc="200"/>
              <a:t> </a:t>
            </a:r>
            <a:r>
              <a:rPr dirty="0"/>
              <a:t>Brain</a:t>
            </a:r>
            <a:r>
              <a:rPr dirty="0" spc="-15"/>
              <a:t> </a:t>
            </a:r>
            <a:r>
              <a:rPr dirty="0"/>
              <a:t>Tumor</a:t>
            </a:r>
            <a:r>
              <a:rPr dirty="0" spc="-15"/>
              <a:t> </a:t>
            </a:r>
            <a:r>
              <a:rPr dirty="0"/>
              <a:t>MRI</a:t>
            </a:r>
            <a:r>
              <a:rPr dirty="0" spc="-25"/>
              <a:t> </a:t>
            </a:r>
            <a:r>
              <a:rPr dirty="0"/>
              <a:t>Generation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/>
              <a:t>Classification</a:t>
            </a:r>
            <a:r>
              <a:rPr dirty="0" spc="195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Ajai</a:t>
            </a:r>
            <a:r>
              <a:rPr dirty="0" spc="-30"/>
              <a:t> </a:t>
            </a:r>
            <a:r>
              <a:rPr dirty="0"/>
              <a:t>Kumar N</a:t>
            </a:r>
            <a:r>
              <a:rPr dirty="0" spc="-10"/>
              <a:t> </a:t>
            </a:r>
            <a:r>
              <a:rPr dirty="0"/>
              <a:t>(URK23CS5064)</a:t>
            </a:r>
            <a:r>
              <a:rPr dirty="0" spc="245"/>
              <a:t> </a:t>
            </a:r>
            <a:r>
              <a:rPr dirty="0"/>
              <a:t>|</a:t>
            </a:r>
            <a:r>
              <a:rPr dirty="0" spc="204"/>
              <a:t> 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9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828547" y="920242"/>
            <a:ext cx="10055860" cy="15798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3400"/>
              <a:t>BRAIN</a:t>
            </a:r>
            <a:r>
              <a:rPr dirty="0" sz="3400" spc="-105"/>
              <a:t> </a:t>
            </a:r>
            <a:r>
              <a:rPr dirty="0" sz="3400"/>
              <a:t>TUMOR</a:t>
            </a:r>
            <a:r>
              <a:rPr dirty="0" sz="3400" spc="-100"/>
              <a:t> </a:t>
            </a:r>
            <a:r>
              <a:rPr dirty="0" sz="3400"/>
              <a:t>MRI</a:t>
            </a:r>
            <a:r>
              <a:rPr dirty="0" sz="3400" spc="-100"/>
              <a:t> </a:t>
            </a:r>
            <a:r>
              <a:rPr dirty="0" sz="3400"/>
              <a:t>IMAGE</a:t>
            </a:r>
            <a:r>
              <a:rPr dirty="0" sz="3400" spc="-85"/>
              <a:t> </a:t>
            </a:r>
            <a:r>
              <a:rPr dirty="0" sz="3400" spc="-30"/>
              <a:t>GENERATION</a:t>
            </a:r>
            <a:r>
              <a:rPr dirty="0" sz="3400" spc="-80"/>
              <a:t> </a:t>
            </a:r>
            <a:r>
              <a:rPr dirty="0" sz="3400" spc="-25"/>
              <a:t>AND CLASSIFICATION</a:t>
            </a:r>
            <a:r>
              <a:rPr dirty="0" sz="3400" spc="-60"/>
              <a:t> </a:t>
            </a:r>
            <a:r>
              <a:rPr dirty="0" sz="3400"/>
              <a:t>USING</a:t>
            </a:r>
            <a:r>
              <a:rPr dirty="0" sz="3400" spc="-95"/>
              <a:t> </a:t>
            </a:r>
            <a:r>
              <a:rPr dirty="0" sz="3400"/>
              <a:t>A</a:t>
            </a:r>
            <a:r>
              <a:rPr dirty="0" sz="3400" spc="-110"/>
              <a:t> </a:t>
            </a:r>
            <a:r>
              <a:rPr dirty="0" sz="3400"/>
              <a:t>HYBRID</a:t>
            </a:r>
            <a:r>
              <a:rPr dirty="0" sz="3400" spc="-100"/>
              <a:t> </a:t>
            </a:r>
            <a:r>
              <a:rPr dirty="0" sz="3400" spc="-10"/>
              <a:t>CONDITIONAL</a:t>
            </a:r>
            <a:r>
              <a:rPr dirty="0" sz="3400" spc="-70"/>
              <a:t> </a:t>
            </a:r>
            <a:r>
              <a:rPr dirty="0" sz="3400" spc="-10"/>
              <a:t>WGAN-</a:t>
            </a:r>
            <a:r>
              <a:rPr dirty="0" sz="3400" spc="-25"/>
              <a:t>GP</a:t>
            </a:r>
            <a:endParaRPr sz="3400"/>
          </a:p>
        </p:txBody>
      </p:sp>
      <p:sp>
        <p:nvSpPr>
          <p:cNvPr id="7" name="object 7"/>
          <p:cNvSpPr txBox="1"/>
          <p:nvPr/>
        </p:nvSpPr>
        <p:spPr>
          <a:xfrm>
            <a:off x="828547" y="2769235"/>
            <a:ext cx="8201025" cy="17214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CFDDED"/>
                </a:solidFill>
                <a:latin typeface="Calibri"/>
                <a:cs typeface="Calibri"/>
              </a:rPr>
              <a:t>NeuroVision</a:t>
            </a:r>
            <a:r>
              <a:rPr dirty="0" sz="2000" spc="-50">
                <a:solidFill>
                  <a:srgbClr val="CFDDE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CFDDED"/>
                </a:solidFill>
                <a:latin typeface="Calibri"/>
                <a:cs typeface="Calibri"/>
              </a:rPr>
              <a:t>AI:</a:t>
            </a:r>
            <a:r>
              <a:rPr dirty="0" sz="2000" spc="-60">
                <a:solidFill>
                  <a:srgbClr val="CFDDE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CFDDED"/>
                </a:solidFill>
                <a:latin typeface="Calibri"/>
                <a:cs typeface="Calibri"/>
              </a:rPr>
              <a:t>a</a:t>
            </a:r>
            <a:r>
              <a:rPr dirty="0" sz="2000" spc="-50">
                <a:solidFill>
                  <a:srgbClr val="CFDDED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CFDDED"/>
                </a:solidFill>
                <a:latin typeface="Calibri"/>
                <a:cs typeface="Calibri"/>
              </a:rPr>
              <a:t>research</a:t>
            </a:r>
            <a:r>
              <a:rPr dirty="0" sz="2000" spc="-40">
                <a:solidFill>
                  <a:srgbClr val="CFDDE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CFDDED"/>
                </a:solidFill>
                <a:latin typeface="Calibri"/>
                <a:cs typeface="Calibri"/>
              </a:rPr>
              <a:t>prototype</a:t>
            </a:r>
            <a:r>
              <a:rPr dirty="0" sz="2000" spc="-60">
                <a:solidFill>
                  <a:srgbClr val="CFDDE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CFDDED"/>
                </a:solidFill>
                <a:latin typeface="Calibri"/>
                <a:cs typeface="Calibri"/>
              </a:rPr>
              <a:t>web</a:t>
            </a:r>
            <a:r>
              <a:rPr dirty="0" sz="2000" spc="-65">
                <a:solidFill>
                  <a:srgbClr val="CFDDE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CFDDED"/>
                </a:solidFill>
                <a:latin typeface="Calibri"/>
                <a:cs typeface="Calibri"/>
              </a:rPr>
              <a:t>application</a:t>
            </a:r>
            <a:r>
              <a:rPr dirty="0" sz="2000" spc="-50">
                <a:solidFill>
                  <a:srgbClr val="CFDDE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CFDDED"/>
                </a:solidFill>
                <a:latin typeface="Calibri"/>
                <a:cs typeface="Calibri"/>
              </a:rPr>
              <a:t>(React</a:t>
            </a:r>
            <a:r>
              <a:rPr dirty="0" sz="2000" spc="-50">
                <a:solidFill>
                  <a:srgbClr val="CFDDE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CFDDED"/>
                </a:solidFill>
                <a:latin typeface="Calibri"/>
                <a:cs typeface="Calibri"/>
              </a:rPr>
              <a:t>+</a:t>
            </a:r>
            <a:r>
              <a:rPr dirty="0" sz="2000" spc="-50">
                <a:solidFill>
                  <a:srgbClr val="CFDDED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CFDDED"/>
                </a:solidFill>
                <a:latin typeface="Calibri"/>
                <a:cs typeface="Calibri"/>
              </a:rPr>
              <a:t>FastAPI)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35"/>
              </a:spcBef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 b="1">
                <a:solidFill>
                  <a:srgbClr val="F1C879"/>
                </a:solidFill>
                <a:latin typeface="Calibri"/>
                <a:cs typeface="Calibri"/>
              </a:rPr>
              <a:t>Ajai</a:t>
            </a:r>
            <a:r>
              <a:rPr dirty="0" sz="2000" spc="-30" b="1">
                <a:solidFill>
                  <a:srgbClr val="F1C879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F1C879"/>
                </a:solidFill>
                <a:latin typeface="Calibri"/>
                <a:cs typeface="Calibri"/>
              </a:rPr>
              <a:t>Kumar</a:t>
            </a:r>
            <a:r>
              <a:rPr dirty="0" sz="2000" spc="-30" b="1">
                <a:solidFill>
                  <a:srgbClr val="F1C879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F1C879"/>
                </a:solidFill>
                <a:latin typeface="Calibri"/>
                <a:cs typeface="Calibri"/>
              </a:rPr>
              <a:t>N</a:t>
            </a:r>
            <a:r>
              <a:rPr dirty="0" sz="2000" spc="420" b="1">
                <a:solidFill>
                  <a:srgbClr val="F1C879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F1C879"/>
                </a:solidFill>
                <a:latin typeface="Calibri"/>
                <a:cs typeface="Calibri"/>
              </a:rPr>
              <a:t>(URK23CS5064)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600" spc="-50">
                <a:solidFill>
                  <a:srgbClr val="FFFFFF"/>
                </a:solidFill>
                <a:latin typeface="Calibri"/>
                <a:cs typeface="Calibri"/>
              </a:rPr>
              <a:t>B.Tech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Computer</a:t>
            </a:r>
            <a:r>
              <a:rPr dirty="0" sz="16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Science</a:t>
            </a:r>
            <a:r>
              <a:rPr dirty="0" sz="16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6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Engineering,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specialization</a:t>
            </a:r>
            <a:r>
              <a:rPr dirty="0" sz="16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16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Artificial</a:t>
            </a:r>
            <a:r>
              <a:rPr dirty="0" sz="16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Intelligence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25AI2004</a:t>
            </a:r>
            <a:r>
              <a:rPr dirty="0" sz="16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Artificial</a:t>
            </a:r>
            <a:r>
              <a:rPr dirty="0" sz="16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Intelligence</a:t>
            </a:r>
            <a:r>
              <a:rPr dirty="0" sz="16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16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Healthcare</a:t>
            </a:r>
            <a:r>
              <a:rPr dirty="0" sz="1600" spc="3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3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Micro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project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presentation,</a:t>
            </a:r>
            <a:r>
              <a:rPr dirty="0" sz="160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29/10/26</a:t>
            </a:r>
            <a:r>
              <a:rPr dirty="0" sz="16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(scheduled)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872215"/>
            <a:ext cx="12192000" cy="130810"/>
            <a:chOff x="0" y="4872215"/>
            <a:chExt cx="12192000" cy="1308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872215"/>
              <a:ext cx="12192000" cy="13018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4892040"/>
              <a:ext cx="12192000" cy="55244"/>
            </a:xfrm>
            <a:custGeom>
              <a:avLst/>
              <a:gdLst/>
              <a:ahLst/>
              <a:cxnLst/>
              <a:rect l="l" t="t" r="r" b="b"/>
              <a:pathLst>
                <a:path w="12192000" h="55245">
                  <a:moveTo>
                    <a:pt x="12192000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192000" y="54863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2A9D8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828547" y="5106820"/>
            <a:ext cx="7212330" cy="803275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600" spc="-10" b="1">
                <a:solidFill>
                  <a:srgbClr val="FFFFFF"/>
                </a:solidFill>
                <a:latin typeface="Calibri"/>
                <a:cs typeface="Calibri"/>
              </a:rPr>
              <a:t>Karunya</a:t>
            </a:r>
            <a:r>
              <a:rPr dirty="0" sz="16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Institute</a:t>
            </a:r>
            <a:r>
              <a:rPr dirty="0" sz="16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6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r>
              <a:rPr dirty="0" sz="16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6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Sciences</a:t>
            </a:r>
            <a:r>
              <a:rPr dirty="0" sz="16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Calibri"/>
                <a:cs typeface="Calibri"/>
              </a:rPr>
              <a:t>(Deemed-to-be-University),</a:t>
            </a:r>
            <a:r>
              <a:rPr dirty="0" sz="16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Calibri"/>
                <a:cs typeface="Calibri"/>
              </a:rPr>
              <a:t>Coimbatore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dirty="0" sz="1400">
                <a:solidFill>
                  <a:srgbClr val="CFDDED"/>
                </a:solidFill>
                <a:latin typeface="Calibri"/>
                <a:cs typeface="Calibri"/>
              </a:rPr>
              <a:t>Course</a:t>
            </a:r>
            <a:r>
              <a:rPr dirty="0" sz="1400" spc="-65">
                <a:solidFill>
                  <a:srgbClr val="CFDDED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CFDDED"/>
                </a:solidFill>
                <a:latin typeface="Calibri"/>
                <a:cs typeface="Calibri"/>
              </a:rPr>
              <a:t>faculty:</a:t>
            </a:r>
            <a:r>
              <a:rPr dirty="0" sz="1400" spc="-30">
                <a:solidFill>
                  <a:srgbClr val="CFDDED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CFDDED"/>
                </a:solidFill>
                <a:latin typeface="Calibri"/>
                <a:cs typeface="Calibri"/>
              </a:rPr>
              <a:t>Ms.</a:t>
            </a:r>
            <a:r>
              <a:rPr dirty="0" sz="1400" spc="-40">
                <a:solidFill>
                  <a:srgbClr val="CFDDED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CFDDED"/>
                </a:solidFill>
                <a:latin typeface="Calibri"/>
                <a:cs typeface="Calibri"/>
              </a:rPr>
              <a:t>Gethsia</a:t>
            </a:r>
            <a:r>
              <a:rPr dirty="0" sz="1400" spc="-15">
                <a:solidFill>
                  <a:srgbClr val="CFDDED"/>
                </a:solidFill>
                <a:latin typeface="Calibri"/>
                <a:cs typeface="Calibri"/>
              </a:rPr>
              <a:t> </a:t>
            </a:r>
            <a:r>
              <a:rPr dirty="0" sz="1400" spc="-95">
                <a:solidFill>
                  <a:srgbClr val="CFDDED"/>
                </a:solidFill>
                <a:latin typeface="Calibri"/>
                <a:cs typeface="Calibri"/>
              </a:rPr>
              <a:t>P,</a:t>
            </a:r>
            <a:r>
              <a:rPr dirty="0" sz="1400" spc="-10">
                <a:solidFill>
                  <a:srgbClr val="CFDDED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CFDDED"/>
                </a:solidFill>
                <a:latin typeface="Calibri"/>
                <a:cs typeface="Calibri"/>
              </a:rPr>
              <a:t>Division</a:t>
            </a:r>
            <a:r>
              <a:rPr dirty="0" sz="1400" spc="-45">
                <a:solidFill>
                  <a:srgbClr val="CFDDED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CFDDED"/>
                </a:solidFill>
                <a:latin typeface="Calibri"/>
                <a:cs typeface="Calibri"/>
              </a:rPr>
              <a:t>of</a:t>
            </a:r>
            <a:r>
              <a:rPr dirty="0" sz="1400" spc="-40">
                <a:solidFill>
                  <a:srgbClr val="CFDDED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CFDDED"/>
                </a:solidFill>
                <a:latin typeface="Calibri"/>
                <a:cs typeface="Calibri"/>
              </a:rPr>
              <a:t>Artificial</a:t>
            </a:r>
            <a:r>
              <a:rPr dirty="0" sz="1400" spc="-35">
                <a:solidFill>
                  <a:srgbClr val="CFDDED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CFDDED"/>
                </a:solidFill>
                <a:latin typeface="Calibri"/>
                <a:cs typeface="Calibri"/>
              </a:rPr>
              <a:t>Intelligence</a:t>
            </a:r>
            <a:r>
              <a:rPr dirty="0" sz="1400" spc="-5">
                <a:solidFill>
                  <a:srgbClr val="CFDDED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CFDDED"/>
                </a:solidFill>
                <a:latin typeface="Calibri"/>
                <a:cs typeface="Calibri"/>
              </a:rPr>
              <a:t>and</a:t>
            </a:r>
            <a:r>
              <a:rPr dirty="0" sz="1400" spc="-30">
                <a:solidFill>
                  <a:srgbClr val="CFDDED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CFDDED"/>
                </a:solidFill>
                <a:latin typeface="Calibri"/>
                <a:cs typeface="Calibri"/>
              </a:rPr>
              <a:t>Machine</a:t>
            </a:r>
            <a:r>
              <a:rPr dirty="0" sz="1400" spc="-25">
                <a:solidFill>
                  <a:srgbClr val="CFDDED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CFDDED"/>
                </a:solidFill>
                <a:latin typeface="Calibri"/>
                <a:cs typeface="Calibri"/>
              </a:rPr>
              <a:t>Learning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1300">
                <a:solidFill>
                  <a:srgbClr val="F1C879"/>
                </a:solidFill>
                <a:latin typeface="Calibri"/>
                <a:cs typeface="Calibri"/>
              </a:rPr>
              <a:t>Academic</a:t>
            </a:r>
            <a:r>
              <a:rPr dirty="0" sz="1300" spc="-25">
                <a:solidFill>
                  <a:srgbClr val="F1C879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1C879"/>
                </a:solidFill>
                <a:latin typeface="Calibri"/>
                <a:cs typeface="Calibri"/>
              </a:rPr>
              <a:t>research</a:t>
            </a:r>
            <a:r>
              <a:rPr dirty="0" sz="1300" spc="-30">
                <a:solidFill>
                  <a:srgbClr val="F1C879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1C879"/>
                </a:solidFill>
                <a:latin typeface="Calibri"/>
                <a:cs typeface="Calibri"/>
              </a:rPr>
              <a:t>prototype –</a:t>
            </a:r>
            <a:r>
              <a:rPr dirty="0" sz="1300" spc="-25">
                <a:solidFill>
                  <a:srgbClr val="F1C879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1C879"/>
                </a:solidFill>
                <a:latin typeface="Calibri"/>
                <a:cs typeface="Calibri"/>
              </a:rPr>
              <a:t>not</a:t>
            </a:r>
            <a:r>
              <a:rPr dirty="0" sz="1300" spc="-30">
                <a:solidFill>
                  <a:srgbClr val="F1C879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1C879"/>
                </a:solidFill>
                <a:latin typeface="Calibri"/>
                <a:cs typeface="Calibri"/>
              </a:rPr>
              <a:t>a</a:t>
            </a:r>
            <a:r>
              <a:rPr dirty="0" sz="1300" spc="-35">
                <a:solidFill>
                  <a:srgbClr val="F1C879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1C879"/>
                </a:solidFill>
                <a:latin typeface="Calibri"/>
                <a:cs typeface="Calibri"/>
              </a:rPr>
              <a:t>medical</a:t>
            </a:r>
            <a:r>
              <a:rPr dirty="0" sz="1300" spc="-20">
                <a:solidFill>
                  <a:srgbClr val="F1C879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1C879"/>
                </a:solidFill>
                <a:latin typeface="Calibri"/>
                <a:cs typeface="Calibri"/>
              </a:rPr>
              <a:t>device</a:t>
            </a:r>
            <a:r>
              <a:rPr dirty="0" sz="1300" spc="-25">
                <a:solidFill>
                  <a:srgbClr val="F1C879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1C879"/>
                </a:solidFill>
                <a:latin typeface="Calibri"/>
                <a:cs typeface="Calibri"/>
              </a:rPr>
              <a:t>or</a:t>
            </a:r>
            <a:r>
              <a:rPr dirty="0" sz="1300" spc="-45">
                <a:solidFill>
                  <a:srgbClr val="F1C879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1C879"/>
                </a:solidFill>
                <a:latin typeface="Calibri"/>
                <a:cs typeface="Calibri"/>
              </a:rPr>
              <a:t>a</a:t>
            </a:r>
            <a:r>
              <a:rPr dirty="0" sz="1300" spc="-35">
                <a:solidFill>
                  <a:srgbClr val="F1C879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1C879"/>
                </a:solidFill>
                <a:latin typeface="Calibri"/>
                <a:cs typeface="Calibri"/>
              </a:rPr>
              <a:t>clinically</a:t>
            </a:r>
            <a:r>
              <a:rPr dirty="0" sz="1300" spc="-35">
                <a:solidFill>
                  <a:srgbClr val="F1C879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1C879"/>
                </a:solidFill>
                <a:latin typeface="Calibri"/>
                <a:cs typeface="Calibri"/>
              </a:rPr>
              <a:t>validated</a:t>
            </a:r>
            <a:r>
              <a:rPr dirty="0" sz="1300" spc="-15">
                <a:solidFill>
                  <a:srgbClr val="F1C879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1C879"/>
                </a:solidFill>
                <a:latin typeface="Calibri"/>
                <a:cs typeface="Calibri"/>
              </a:rPr>
              <a:t>diagnostic</a:t>
            </a:r>
            <a:r>
              <a:rPr dirty="0" sz="1300" spc="-10">
                <a:solidFill>
                  <a:srgbClr val="F1C879"/>
                </a:solidFill>
                <a:latin typeface="Calibri"/>
                <a:cs typeface="Calibri"/>
              </a:rPr>
              <a:t> system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Healthcare</a:t>
            </a:r>
            <a:r>
              <a:rPr dirty="0" spc="-60"/>
              <a:t> </a:t>
            </a:r>
            <a:r>
              <a:rPr dirty="0"/>
              <a:t>problem</a:t>
            </a:r>
            <a:r>
              <a:rPr dirty="0" spc="-70"/>
              <a:t> </a:t>
            </a:r>
            <a:r>
              <a:rPr dirty="0"/>
              <a:t>and</a:t>
            </a:r>
            <a:r>
              <a:rPr dirty="0" spc="-85"/>
              <a:t> </a:t>
            </a:r>
            <a:r>
              <a:rPr dirty="0" spc="-10"/>
              <a:t>motivation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4227" y="1170178"/>
            <a:ext cx="6549390" cy="35007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92759" indent="220345">
              <a:lnSpc>
                <a:spcPct val="100000"/>
              </a:lnSpc>
              <a:spcBef>
                <a:spcPts val="100"/>
              </a:spcBef>
              <a:buChar char="•"/>
              <a:tabLst>
                <a:tab pos="233045" algn="l"/>
              </a:tabLst>
            </a:pP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Brain</a:t>
            </a:r>
            <a:r>
              <a:rPr dirty="0" sz="1800" spc="-7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tumour</a:t>
            </a:r>
            <a:r>
              <a:rPr dirty="0" sz="1800" spc="-5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MRI</a:t>
            </a:r>
            <a:r>
              <a:rPr dirty="0" sz="1800" spc="-7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classification</a:t>
            </a:r>
            <a:r>
              <a:rPr dirty="0" sz="1800" spc="-6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(glioma,</a:t>
            </a:r>
            <a:r>
              <a:rPr dirty="0" sz="1800" spc="-5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meningioma,</a:t>
            </a:r>
            <a:r>
              <a:rPr dirty="0" sz="1800" spc="-6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3203C"/>
                </a:solidFill>
                <a:latin typeface="Calibri"/>
                <a:cs typeface="Calibri"/>
              </a:rPr>
              <a:t>pituitary </a:t>
            </a:r>
            <a:r>
              <a:rPr dirty="0" sz="1800" spc="-25">
                <a:solidFill>
                  <a:srgbClr val="13203C"/>
                </a:solidFill>
                <a:latin typeface="Calibri"/>
                <a:cs typeface="Calibri"/>
              </a:rPr>
              <a:t>tumour,</a:t>
            </a:r>
            <a:r>
              <a:rPr dirty="0" sz="1800" spc="-5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no</a:t>
            </a:r>
            <a:r>
              <a:rPr dirty="0" sz="1800" spc="-5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tumour)</a:t>
            </a:r>
            <a:r>
              <a:rPr dirty="0" sz="18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needs</a:t>
            </a:r>
            <a:r>
              <a:rPr dirty="0" sz="1800" spc="-6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many</a:t>
            </a:r>
            <a:r>
              <a:rPr dirty="0" sz="1800" spc="-5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correctly</a:t>
            </a:r>
            <a:r>
              <a:rPr dirty="0" sz="18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labelled</a:t>
            </a:r>
            <a:r>
              <a:rPr dirty="0" sz="18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3203C"/>
                </a:solidFill>
                <a:latin typeface="Calibri"/>
                <a:cs typeface="Calibri"/>
              </a:rPr>
              <a:t>images.</a:t>
            </a:r>
            <a:endParaRPr sz="1800">
              <a:latin typeface="Calibri"/>
              <a:cs typeface="Calibri"/>
            </a:endParaRPr>
          </a:p>
          <a:p>
            <a:pPr marL="12700" marR="751205" indent="220345">
              <a:lnSpc>
                <a:spcPct val="100000"/>
              </a:lnSpc>
              <a:spcBef>
                <a:spcPts val="900"/>
              </a:spcBef>
              <a:buChar char="•"/>
              <a:tabLst>
                <a:tab pos="233045" algn="l"/>
              </a:tabLst>
            </a:pP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Medical</a:t>
            </a:r>
            <a:r>
              <a:rPr dirty="0" sz="1800" spc="-6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data</a:t>
            </a:r>
            <a:r>
              <a:rPr dirty="0" sz="1800" spc="-6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are</a:t>
            </a:r>
            <a:r>
              <a:rPr dirty="0" sz="18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scarce,</a:t>
            </a:r>
            <a:r>
              <a:rPr dirty="0" sz="1800" spc="-6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imbalanced,</a:t>
            </a:r>
            <a:r>
              <a:rPr dirty="0" sz="18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expensive</a:t>
            </a:r>
            <a:r>
              <a:rPr dirty="0" sz="1800" spc="-7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to</a:t>
            </a:r>
            <a:r>
              <a:rPr dirty="0" sz="1800" spc="-6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label</a:t>
            </a:r>
            <a:r>
              <a:rPr dirty="0" sz="1800" spc="-6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13203C"/>
                </a:solidFill>
                <a:latin typeface="Calibri"/>
                <a:cs typeface="Calibri"/>
              </a:rPr>
              <a:t>and </a:t>
            </a:r>
            <a:r>
              <a:rPr dirty="0" sz="1800" spc="-10">
                <a:solidFill>
                  <a:srgbClr val="13203C"/>
                </a:solidFill>
                <a:latin typeface="Calibri"/>
                <a:cs typeface="Calibri"/>
              </a:rPr>
              <a:t>protected</a:t>
            </a:r>
            <a:r>
              <a:rPr dirty="0" sz="18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by</a:t>
            </a:r>
            <a:r>
              <a:rPr dirty="0" sz="18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privacy</a:t>
            </a:r>
            <a:r>
              <a:rPr dirty="0" sz="18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3203C"/>
                </a:solidFill>
                <a:latin typeface="Calibri"/>
                <a:cs typeface="Calibri"/>
              </a:rPr>
              <a:t>rules.</a:t>
            </a:r>
            <a:endParaRPr sz="1800">
              <a:latin typeface="Calibri"/>
              <a:cs typeface="Calibri"/>
            </a:endParaRPr>
          </a:p>
          <a:p>
            <a:pPr marL="12700" marR="24130" indent="220345">
              <a:lnSpc>
                <a:spcPct val="100000"/>
              </a:lnSpc>
              <a:spcBef>
                <a:spcPts val="900"/>
              </a:spcBef>
              <a:buChar char="•"/>
              <a:tabLst>
                <a:tab pos="233045" algn="l"/>
              </a:tabLst>
            </a:pP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GANs</a:t>
            </a:r>
            <a:r>
              <a:rPr dirty="0" sz="1800" spc="-6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can</a:t>
            </a:r>
            <a:r>
              <a:rPr dirty="0" sz="1800" spc="-5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3203C"/>
                </a:solidFill>
                <a:latin typeface="Calibri"/>
                <a:cs typeface="Calibri"/>
              </a:rPr>
              <a:t>synthesise</a:t>
            </a:r>
            <a:r>
              <a:rPr dirty="0" sz="1800" spc="-6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extra</a:t>
            </a:r>
            <a:r>
              <a:rPr dirty="0" sz="1800" spc="-6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training</a:t>
            </a:r>
            <a:r>
              <a:rPr dirty="0" sz="18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images</a:t>
            </a:r>
            <a:r>
              <a:rPr dirty="0" sz="1800" spc="-6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(data</a:t>
            </a:r>
            <a:r>
              <a:rPr dirty="0" sz="1800" spc="-6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3203C"/>
                </a:solidFill>
                <a:latin typeface="Calibri"/>
                <a:cs typeface="Calibri"/>
              </a:rPr>
              <a:t>augmentation),</a:t>
            </a:r>
            <a:r>
              <a:rPr dirty="0" sz="18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13203C"/>
                </a:solidFill>
                <a:latin typeface="Calibri"/>
                <a:cs typeface="Calibri"/>
              </a:rPr>
              <a:t>but </a:t>
            </a:r>
            <a:r>
              <a:rPr dirty="0" sz="1800" spc="-10">
                <a:solidFill>
                  <a:srgbClr val="13203C"/>
                </a:solidFill>
                <a:latin typeface="Calibri"/>
                <a:cs typeface="Calibri"/>
              </a:rPr>
              <a:t>generated</a:t>
            </a:r>
            <a:r>
              <a:rPr dirty="0" sz="18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images</a:t>
            </a:r>
            <a:r>
              <a:rPr dirty="0" sz="18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may</a:t>
            </a:r>
            <a:r>
              <a:rPr dirty="0" sz="1800" spc="-6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only</a:t>
            </a:r>
            <a:r>
              <a:rPr dirty="0" sz="18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look</a:t>
            </a:r>
            <a:r>
              <a:rPr dirty="0" sz="18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like</a:t>
            </a:r>
            <a:r>
              <a:rPr dirty="0" sz="18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MRI</a:t>
            </a:r>
            <a:r>
              <a:rPr dirty="0" sz="18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without</a:t>
            </a:r>
            <a:r>
              <a:rPr dirty="0" sz="18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real</a:t>
            </a:r>
            <a:r>
              <a:rPr dirty="0" sz="18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13203C"/>
                </a:solidFill>
                <a:latin typeface="Calibri"/>
                <a:cs typeface="Calibri"/>
              </a:rPr>
              <a:t>pathology,</a:t>
            </a:r>
            <a:r>
              <a:rPr dirty="0" sz="18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13203C"/>
                </a:solidFill>
                <a:latin typeface="Calibri"/>
                <a:cs typeface="Calibri"/>
              </a:rPr>
              <a:t>and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the</a:t>
            </a:r>
            <a:r>
              <a:rPr dirty="0" sz="1800" spc="-10">
                <a:solidFill>
                  <a:srgbClr val="13203C"/>
                </a:solidFill>
                <a:latin typeface="Calibri"/>
                <a:cs typeface="Calibri"/>
              </a:rPr>
              <a:t> requested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label</a:t>
            </a:r>
            <a:r>
              <a:rPr dirty="0" sz="18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is</a:t>
            </a:r>
            <a:r>
              <a:rPr dirty="0" sz="18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not</a:t>
            </a:r>
            <a:r>
              <a:rPr dirty="0" sz="18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a</a:t>
            </a:r>
            <a:r>
              <a:rPr dirty="0" sz="18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3203C"/>
                </a:solidFill>
                <a:latin typeface="Calibri"/>
                <a:cs typeface="Calibri"/>
              </a:rPr>
              <a:t>diagnosis.</a:t>
            </a:r>
            <a:endParaRPr sz="1800">
              <a:latin typeface="Calibri"/>
              <a:cs typeface="Calibri"/>
            </a:endParaRPr>
          </a:p>
          <a:p>
            <a:pPr marL="233045" indent="-220345">
              <a:lnSpc>
                <a:spcPct val="100000"/>
              </a:lnSpc>
              <a:spcBef>
                <a:spcPts val="900"/>
              </a:spcBef>
              <a:buChar char="•"/>
              <a:tabLst>
                <a:tab pos="233045" algn="l"/>
              </a:tabLst>
            </a:pPr>
            <a:r>
              <a:rPr dirty="0" sz="1800" spc="-10">
                <a:solidFill>
                  <a:srgbClr val="13203C"/>
                </a:solidFill>
                <a:latin typeface="Calibri"/>
                <a:cs typeface="Calibri"/>
              </a:rPr>
              <a:t>Evaluation</a:t>
            </a:r>
            <a:r>
              <a:rPr dirty="0" sz="1800" spc="-6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is</a:t>
            </a:r>
            <a:r>
              <a:rPr dirty="0" sz="1800" spc="-5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fragile:</a:t>
            </a:r>
            <a:r>
              <a:rPr dirty="0" sz="18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copies,</a:t>
            </a:r>
            <a:r>
              <a:rPr dirty="0" sz="1800" spc="-5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mirrored</a:t>
            </a:r>
            <a:r>
              <a:rPr dirty="0" sz="18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or</a:t>
            </a:r>
            <a:r>
              <a:rPr dirty="0" sz="1800" spc="-5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3203C"/>
                </a:solidFill>
                <a:latin typeface="Calibri"/>
                <a:cs typeface="Calibri"/>
              </a:rPr>
              <a:t>re-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encoded</a:t>
            </a:r>
            <a:r>
              <a:rPr dirty="0" sz="18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slices</a:t>
            </a:r>
            <a:r>
              <a:rPr dirty="0" sz="1800" spc="-5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shared</a:t>
            </a:r>
            <a:r>
              <a:rPr dirty="0" sz="1800" spc="-5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13203C"/>
                </a:solidFill>
                <a:latin typeface="Calibri"/>
                <a:cs typeface="Calibri"/>
              </a:rPr>
              <a:t>by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training</a:t>
            </a:r>
            <a:r>
              <a:rPr dirty="0" sz="1800" spc="-6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and</a:t>
            </a:r>
            <a:r>
              <a:rPr dirty="0" sz="1800" spc="-5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test</a:t>
            </a:r>
            <a:r>
              <a:rPr dirty="0" sz="1800" spc="-7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data</a:t>
            </a:r>
            <a:r>
              <a:rPr dirty="0" sz="1800" spc="-7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inflate</a:t>
            </a:r>
            <a:r>
              <a:rPr dirty="0" sz="1800" spc="-6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every</a:t>
            </a:r>
            <a:r>
              <a:rPr dirty="0" sz="1800" spc="-6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3203C"/>
                </a:solidFill>
                <a:latin typeface="Calibri"/>
                <a:cs typeface="Calibri"/>
              </a:rPr>
              <a:t>score.</a:t>
            </a:r>
            <a:endParaRPr sz="1800">
              <a:latin typeface="Calibri"/>
              <a:cs typeface="Calibri"/>
            </a:endParaRPr>
          </a:p>
          <a:p>
            <a:pPr marL="12700" marR="71755" indent="220345">
              <a:lnSpc>
                <a:spcPct val="100000"/>
              </a:lnSpc>
              <a:spcBef>
                <a:spcPts val="900"/>
              </a:spcBef>
              <a:buChar char="•"/>
              <a:tabLst>
                <a:tab pos="233045" algn="l"/>
              </a:tabLst>
            </a:pP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This</a:t>
            </a:r>
            <a:r>
              <a:rPr dirty="0" sz="1800" spc="-6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project</a:t>
            </a:r>
            <a:r>
              <a:rPr dirty="0" sz="1800" spc="-5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found</a:t>
            </a:r>
            <a:r>
              <a:rPr dirty="0" sz="18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exactly</a:t>
            </a:r>
            <a:r>
              <a:rPr dirty="0" sz="1800" spc="-5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that</a:t>
            </a:r>
            <a:r>
              <a:rPr dirty="0" sz="18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in</a:t>
            </a:r>
            <a:r>
              <a:rPr dirty="0" sz="1800" spc="-6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its</a:t>
            </a:r>
            <a:r>
              <a:rPr dirty="0" sz="18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starting</a:t>
            </a:r>
            <a:r>
              <a:rPr dirty="0" sz="1800" spc="-5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dataset</a:t>
            </a:r>
            <a:r>
              <a:rPr dirty="0" sz="1800" spc="-5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and</a:t>
            </a:r>
            <a:r>
              <a:rPr dirty="0" sz="1800" spc="-5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rebuilt</a:t>
            </a:r>
            <a:r>
              <a:rPr dirty="0" sz="18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13203C"/>
                </a:solidFill>
                <a:latin typeface="Calibri"/>
                <a:cs typeface="Calibri"/>
              </a:rPr>
              <a:t>the </a:t>
            </a:r>
            <a:r>
              <a:rPr dirty="0" sz="1800" spc="-10">
                <a:solidFill>
                  <a:srgbClr val="13203C"/>
                </a:solidFill>
                <a:latin typeface="Calibri"/>
                <a:cs typeface="Calibri"/>
              </a:rPr>
              <a:t>experiments</a:t>
            </a:r>
            <a:r>
              <a:rPr dirty="0" sz="18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on</a:t>
            </a:r>
            <a:r>
              <a:rPr dirty="0" sz="1800" spc="-1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a</a:t>
            </a:r>
            <a:r>
              <a:rPr dirty="0" sz="18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3203C"/>
                </a:solidFill>
                <a:latin typeface="Calibri"/>
                <a:cs typeface="Calibri"/>
              </a:rPr>
              <a:t>leakage-controlled</a:t>
            </a:r>
            <a:r>
              <a:rPr dirty="0" sz="180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3203C"/>
                </a:solidFill>
                <a:latin typeface="Calibri"/>
                <a:cs typeface="Calibri"/>
              </a:rPr>
              <a:t>split.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488935" y="1225296"/>
            <a:ext cx="4272280" cy="2352040"/>
            <a:chOff x="7488935" y="1225296"/>
            <a:chExt cx="4272280" cy="2352040"/>
          </a:xfrm>
        </p:grpSpPr>
        <p:sp>
          <p:nvSpPr>
            <p:cNvPr id="5" name="object 5"/>
            <p:cNvSpPr/>
            <p:nvPr/>
          </p:nvSpPr>
          <p:spPr>
            <a:xfrm>
              <a:off x="7498841" y="1235202"/>
              <a:ext cx="4251960" cy="2331720"/>
            </a:xfrm>
            <a:custGeom>
              <a:avLst/>
              <a:gdLst/>
              <a:ahLst/>
              <a:cxnLst/>
              <a:rect l="l" t="t" r="r" b="b"/>
              <a:pathLst>
                <a:path w="4251959" h="2331720">
                  <a:moveTo>
                    <a:pt x="4158741" y="0"/>
                  </a:moveTo>
                  <a:lnTo>
                    <a:pt x="93217" y="0"/>
                  </a:lnTo>
                  <a:lnTo>
                    <a:pt x="56953" y="7332"/>
                  </a:lnTo>
                  <a:lnTo>
                    <a:pt x="27320" y="27320"/>
                  </a:lnTo>
                  <a:lnTo>
                    <a:pt x="7332" y="56953"/>
                  </a:lnTo>
                  <a:lnTo>
                    <a:pt x="0" y="93218"/>
                  </a:lnTo>
                  <a:lnTo>
                    <a:pt x="0" y="2238502"/>
                  </a:lnTo>
                  <a:lnTo>
                    <a:pt x="7332" y="2274766"/>
                  </a:lnTo>
                  <a:lnTo>
                    <a:pt x="27320" y="2304399"/>
                  </a:lnTo>
                  <a:lnTo>
                    <a:pt x="56953" y="2324387"/>
                  </a:lnTo>
                  <a:lnTo>
                    <a:pt x="93217" y="2331720"/>
                  </a:lnTo>
                  <a:lnTo>
                    <a:pt x="4158741" y="2331720"/>
                  </a:lnTo>
                  <a:lnTo>
                    <a:pt x="4195006" y="2324387"/>
                  </a:lnTo>
                  <a:lnTo>
                    <a:pt x="4224639" y="2304399"/>
                  </a:lnTo>
                  <a:lnTo>
                    <a:pt x="4244627" y="2274766"/>
                  </a:lnTo>
                  <a:lnTo>
                    <a:pt x="4251959" y="2238502"/>
                  </a:lnTo>
                  <a:lnTo>
                    <a:pt x="4251959" y="93218"/>
                  </a:lnTo>
                  <a:lnTo>
                    <a:pt x="4244627" y="56953"/>
                  </a:lnTo>
                  <a:lnTo>
                    <a:pt x="4224639" y="27320"/>
                  </a:lnTo>
                  <a:lnTo>
                    <a:pt x="4195006" y="7332"/>
                  </a:lnTo>
                  <a:lnTo>
                    <a:pt x="4158741" y="0"/>
                  </a:lnTo>
                  <a:close/>
                </a:path>
              </a:pathLst>
            </a:custGeom>
            <a:solidFill>
              <a:srgbClr val="E3F1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498841" y="1235202"/>
              <a:ext cx="4251960" cy="2331720"/>
            </a:xfrm>
            <a:custGeom>
              <a:avLst/>
              <a:gdLst/>
              <a:ahLst/>
              <a:cxnLst/>
              <a:rect l="l" t="t" r="r" b="b"/>
              <a:pathLst>
                <a:path w="4251959" h="2331720">
                  <a:moveTo>
                    <a:pt x="0" y="93218"/>
                  </a:moveTo>
                  <a:lnTo>
                    <a:pt x="7332" y="56953"/>
                  </a:lnTo>
                  <a:lnTo>
                    <a:pt x="27320" y="27320"/>
                  </a:lnTo>
                  <a:lnTo>
                    <a:pt x="56953" y="7332"/>
                  </a:lnTo>
                  <a:lnTo>
                    <a:pt x="93217" y="0"/>
                  </a:lnTo>
                  <a:lnTo>
                    <a:pt x="4158741" y="0"/>
                  </a:lnTo>
                  <a:lnTo>
                    <a:pt x="4195006" y="7332"/>
                  </a:lnTo>
                  <a:lnTo>
                    <a:pt x="4224639" y="27320"/>
                  </a:lnTo>
                  <a:lnTo>
                    <a:pt x="4244627" y="56953"/>
                  </a:lnTo>
                  <a:lnTo>
                    <a:pt x="4251959" y="93218"/>
                  </a:lnTo>
                  <a:lnTo>
                    <a:pt x="4251959" y="2238502"/>
                  </a:lnTo>
                  <a:lnTo>
                    <a:pt x="4244627" y="2274766"/>
                  </a:lnTo>
                  <a:lnTo>
                    <a:pt x="4224639" y="2304399"/>
                  </a:lnTo>
                  <a:lnTo>
                    <a:pt x="4195006" y="2324387"/>
                  </a:lnTo>
                  <a:lnTo>
                    <a:pt x="4158741" y="2331720"/>
                  </a:lnTo>
                  <a:lnTo>
                    <a:pt x="93217" y="2331720"/>
                  </a:lnTo>
                  <a:lnTo>
                    <a:pt x="56953" y="2324387"/>
                  </a:lnTo>
                  <a:lnTo>
                    <a:pt x="27320" y="2304399"/>
                  </a:lnTo>
                  <a:lnTo>
                    <a:pt x="7332" y="2274766"/>
                  </a:lnTo>
                  <a:lnTo>
                    <a:pt x="0" y="2238502"/>
                  </a:lnTo>
                  <a:lnTo>
                    <a:pt x="0" y="93218"/>
                  </a:lnTo>
                  <a:close/>
                </a:path>
              </a:pathLst>
            </a:custGeom>
            <a:ln w="19812">
              <a:solidFill>
                <a:srgbClr val="2A9D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7623429" y="1236738"/>
            <a:ext cx="3950970" cy="1529715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dirty="0" sz="1500" b="1">
                <a:solidFill>
                  <a:srgbClr val="13203C"/>
                </a:solidFill>
                <a:latin typeface="Calibri"/>
                <a:cs typeface="Calibri"/>
              </a:rPr>
              <a:t>What</a:t>
            </a:r>
            <a:r>
              <a:rPr dirty="0" sz="1500" spc="-30" b="1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3203C"/>
                </a:solidFill>
                <a:latin typeface="Calibri"/>
                <a:cs typeface="Calibri"/>
              </a:rPr>
              <a:t>we</a:t>
            </a:r>
            <a:r>
              <a:rPr dirty="0" sz="1500" spc="-25" b="1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3203C"/>
                </a:solidFill>
                <a:latin typeface="Calibri"/>
                <a:cs typeface="Calibri"/>
              </a:rPr>
              <a:t>found</a:t>
            </a:r>
            <a:r>
              <a:rPr dirty="0" sz="1500" spc="-40" b="1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3203C"/>
                </a:solidFill>
                <a:latin typeface="Calibri"/>
                <a:cs typeface="Calibri"/>
              </a:rPr>
              <a:t>in</a:t>
            </a:r>
            <a:r>
              <a:rPr dirty="0" sz="1500" spc="-35" b="1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3203C"/>
                </a:solidFill>
                <a:latin typeface="Calibri"/>
                <a:cs typeface="Calibri"/>
              </a:rPr>
              <a:t>the</a:t>
            </a:r>
            <a:r>
              <a:rPr dirty="0" sz="1500" spc="-30" b="1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20" b="1">
                <a:solidFill>
                  <a:srgbClr val="13203C"/>
                </a:solidFill>
                <a:latin typeface="Calibri"/>
                <a:cs typeface="Calibri"/>
              </a:rPr>
              <a:t>data</a:t>
            </a:r>
            <a:endParaRPr sz="1500">
              <a:latin typeface="Calibri"/>
              <a:cs typeface="Calibri"/>
            </a:endParaRPr>
          </a:p>
          <a:p>
            <a:pPr marL="12700" marR="348615">
              <a:lnSpc>
                <a:spcPct val="100000"/>
              </a:lnSpc>
              <a:spcBef>
                <a:spcPts val="409"/>
              </a:spcBef>
            </a:pP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1,076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of</a:t>
            </a:r>
            <a:r>
              <a:rPr dirty="0" sz="14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1,600</a:t>
            </a:r>
            <a:r>
              <a:rPr dirty="0" sz="14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original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Testing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images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had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a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near-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identical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copy</a:t>
            </a:r>
            <a:r>
              <a:rPr dirty="0" sz="14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in</a:t>
            </a:r>
            <a:r>
              <a:rPr dirty="0" sz="1400" spc="-5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Training.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395"/>
              </a:spcBef>
            </a:pP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Exact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file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hashing</a:t>
            </a:r>
            <a:r>
              <a:rPr dirty="0" sz="14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missed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them</a:t>
            </a:r>
            <a:r>
              <a:rPr dirty="0" sz="14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(mirrored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/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re-encoded copies).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Only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3,295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of</a:t>
            </a:r>
            <a:r>
              <a:rPr dirty="0" sz="14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7,200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images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are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unique.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488935" y="3785615"/>
            <a:ext cx="4272280" cy="2397760"/>
            <a:chOff x="7488935" y="3785615"/>
            <a:chExt cx="4272280" cy="2397760"/>
          </a:xfrm>
        </p:grpSpPr>
        <p:sp>
          <p:nvSpPr>
            <p:cNvPr id="9" name="object 9"/>
            <p:cNvSpPr/>
            <p:nvPr/>
          </p:nvSpPr>
          <p:spPr>
            <a:xfrm>
              <a:off x="7498841" y="3795521"/>
              <a:ext cx="4251960" cy="2377440"/>
            </a:xfrm>
            <a:custGeom>
              <a:avLst/>
              <a:gdLst/>
              <a:ahLst/>
              <a:cxnLst/>
              <a:rect l="l" t="t" r="r" b="b"/>
              <a:pathLst>
                <a:path w="4251959" h="2377440">
                  <a:moveTo>
                    <a:pt x="4156836" y="0"/>
                  </a:moveTo>
                  <a:lnTo>
                    <a:pt x="95123" y="0"/>
                  </a:lnTo>
                  <a:lnTo>
                    <a:pt x="58078" y="7469"/>
                  </a:lnTo>
                  <a:lnTo>
                    <a:pt x="27844" y="27844"/>
                  </a:lnTo>
                  <a:lnTo>
                    <a:pt x="7469" y="58078"/>
                  </a:lnTo>
                  <a:lnTo>
                    <a:pt x="0" y="95122"/>
                  </a:lnTo>
                  <a:lnTo>
                    <a:pt x="0" y="2282342"/>
                  </a:lnTo>
                  <a:lnTo>
                    <a:pt x="7469" y="2319355"/>
                  </a:lnTo>
                  <a:lnTo>
                    <a:pt x="27844" y="2349584"/>
                  </a:lnTo>
                  <a:lnTo>
                    <a:pt x="58078" y="2369965"/>
                  </a:lnTo>
                  <a:lnTo>
                    <a:pt x="95123" y="2377440"/>
                  </a:lnTo>
                  <a:lnTo>
                    <a:pt x="4156836" y="2377440"/>
                  </a:lnTo>
                  <a:lnTo>
                    <a:pt x="4193881" y="2369965"/>
                  </a:lnTo>
                  <a:lnTo>
                    <a:pt x="4224115" y="2349584"/>
                  </a:lnTo>
                  <a:lnTo>
                    <a:pt x="4244490" y="2319355"/>
                  </a:lnTo>
                  <a:lnTo>
                    <a:pt x="4251959" y="2282342"/>
                  </a:lnTo>
                  <a:lnTo>
                    <a:pt x="4251959" y="95122"/>
                  </a:lnTo>
                  <a:lnTo>
                    <a:pt x="4244490" y="58078"/>
                  </a:lnTo>
                  <a:lnTo>
                    <a:pt x="4224115" y="27844"/>
                  </a:lnTo>
                  <a:lnTo>
                    <a:pt x="4193881" y="7469"/>
                  </a:lnTo>
                  <a:lnTo>
                    <a:pt x="4156836" y="0"/>
                  </a:lnTo>
                  <a:close/>
                </a:path>
              </a:pathLst>
            </a:custGeom>
            <a:solidFill>
              <a:srgbClr val="FCF0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498841" y="3795521"/>
              <a:ext cx="4251960" cy="2377440"/>
            </a:xfrm>
            <a:custGeom>
              <a:avLst/>
              <a:gdLst/>
              <a:ahLst/>
              <a:cxnLst/>
              <a:rect l="l" t="t" r="r" b="b"/>
              <a:pathLst>
                <a:path w="4251959" h="2377440">
                  <a:moveTo>
                    <a:pt x="0" y="95122"/>
                  </a:moveTo>
                  <a:lnTo>
                    <a:pt x="7469" y="58078"/>
                  </a:lnTo>
                  <a:lnTo>
                    <a:pt x="27844" y="27844"/>
                  </a:lnTo>
                  <a:lnTo>
                    <a:pt x="58078" y="7469"/>
                  </a:lnTo>
                  <a:lnTo>
                    <a:pt x="95123" y="0"/>
                  </a:lnTo>
                  <a:lnTo>
                    <a:pt x="4156836" y="0"/>
                  </a:lnTo>
                  <a:lnTo>
                    <a:pt x="4193881" y="7469"/>
                  </a:lnTo>
                  <a:lnTo>
                    <a:pt x="4224115" y="27844"/>
                  </a:lnTo>
                  <a:lnTo>
                    <a:pt x="4244490" y="58078"/>
                  </a:lnTo>
                  <a:lnTo>
                    <a:pt x="4251959" y="95122"/>
                  </a:lnTo>
                  <a:lnTo>
                    <a:pt x="4251959" y="2282342"/>
                  </a:lnTo>
                  <a:lnTo>
                    <a:pt x="4244490" y="2319355"/>
                  </a:lnTo>
                  <a:lnTo>
                    <a:pt x="4224115" y="2349584"/>
                  </a:lnTo>
                  <a:lnTo>
                    <a:pt x="4193881" y="2369965"/>
                  </a:lnTo>
                  <a:lnTo>
                    <a:pt x="4156836" y="2377440"/>
                  </a:lnTo>
                  <a:lnTo>
                    <a:pt x="95123" y="2377440"/>
                  </a:lnTo>
                  <a:lnTo>
                    <a:pt x="58078" y="2369965"/>
                  </a:lnTo>
                  <a:lnTo>
                    <a:pt x="27844" y="2349584"/>
                  </a:lnTo>
                  <a:lnTo>
                    <a:pt x="7469" y="2319355"/>
                  </a:lnTo>
                  <a:lnTo>
                    <a:pt x="0" y="2282342"/>
                  </a:lnTo>
                  <a:lnTo>
                    <a:pt x="0" y="95122"/>
                  </a:lnTo>
                  <a:close/>
                </a:path>
              </a:pathLst>
            </a:custGeom>
            <a:ln w="19812">
              <a:solidFill>
                <a:srgbClr val="C889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7624064" y="3798075"/>
            <a:ext cx="3917315" cy="1479550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dirty="0" sz="1500" spc="-10" b="1">
                <a:solidFill>
                  <a:srgbClr val="13203C"/>
                </a:solidFill>
                <a:latin typeface="Calibri"/>
                <a:cs typeface="Calibri"/>
              </a:rPr>
              <a:t>Research</a:t>
            </a:r>
            <a:r>
              <a:rPr dirty="0" sz="1500" spc="-25" b="1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13203C"/>
                </a:solidFill>
                <a:latin typeface="Calibri"/>
                <a:cs typeface="Calibri"/>
              </a:rPr>
              <a:t>questions</a:t>
            </a:r>
            <a:endParaRPr sz="15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409"/>
              </a:spcBef>
            </a:pP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Q1:</a:t>
            </a:r>
            <a:r>
              <a:rPr dirty="0" sz="14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Does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the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 proposed</a:t>
            </a:r>
            <a:r>
              <a:rPr dirty="0" sz="14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conditional</a:t>
            </a:r>
            <a:r>
              <a:rPr dirty="0" sz="14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WGAN-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GP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generate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better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images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than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DCGAN</a:t>
            </a:r>
            <a:r>
              <a:rPr dirty="0" sz="1400" spc="-5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/</a:t>
            </a:r>
            <a:r>
              <a:rPr dirty="0" sz="14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WGAN-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GP</a:t>
            </a:r>
            <a:r>
              <a:rPr dirty="0" sz="1400" spc="-5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(FID, KID)?</a:t>
            </a:r>
            <a:endParaRPr sz="1400">
              <a:latin typeface="Calibri"/>
              <a:cs typeface="Calibri"/>
            </a:endParaRPr>
          </a:p>
          <a:p>
            <a:pPr marL="12700" marR="113030">
              <a:lnSpc>
                <a:spcPct val="100000"/>
              </a:lnSpc>
              <a:spcBef>
                <a:spcPts val="400"/>
              </a:spcBef>
            </a:pP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Q2: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Does</a:t>
            </a:r>
            <a:r>
              <a:rPr dirty="0" sz="14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adding</a:t>
            </a:r>
            <a:r>
              <a:rPr dirty="0" sz="14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its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images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help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a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CNN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once</a:t>
            </a:r>
            <a:r>
              <a:rPr dirty="0" sz="14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training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size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is</a:t>
            </a:r>
            <a:r>
              <a:rPr dirty="0" sz="14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controlled?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 spc="-10"/>
              <a:t>NeuroVision</a:t>
            </a:r>
            <a:r>
              <a:rPr dirty="0" spc="-20"/>
              <a:t> </a:t>
            </a:r>
            <a:r>
              <a:rPr dirty="0"/>
              <a:t>AI</a:t>
            </a:r>
            <a:r>
              <a:rPr dirty="0" spc="195"/>
              <a:t> </a:t>
            </a:r>
            <a:r>
              <a:rPr dirty="0"/>
              <a:t>|</a:t>
            </a:r>
            <a:r>
              <a:rPr dirty="0" spc="200"/>
              <a:t> </a:t>
            </a:r>
            <a:r>
              <a:rPr dirty="0"/>
              <a:t>Brain</a:t>
            </a:r>
            <a:r>
              <a:rPr dirty="0" spc="-15"/>
              <a:t> </a:t>
            </a:r>
            <a:r>
              <a:rPr dirty="0"/>
              <a:t>Tumor</a:t>
            </a:r>
            <a:r>
              <a:rPr dirty="0" spc="-15"/>
              <a:t> </a:t>
            </a:r>
            <a:r>
              <a:rPr dirty="0"/>
              <a:t>MRI</a:t>
            </a:r>
            <a:r>
              <a:rPr dirty="0" spc="-25"/>
              <a:t> </a:t>
            </a:r>
            <a:r>
              <a:rPr dirty="0"/>
              <a:t>Generation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/>
              <a:t>Classification</a:t>
            </a:r>
            <a:r>
              <a:rPr dirty="0" spc="195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Ajai</a:t>
            </a:r>
            <a:r>
              <a:rPr dirty="0" spc="-30"/>
              <a:t> </a:t>
            </a:r>
            <a:r>
              <a:rPr dirty="0"/>
              <a:t>Kumar N</a:t>
            </a:r>
            <a:r>
              <a:rPr dirty="0" spc="-10"/>
              <a:t> </a:t>
            </a:r>
            <a:r>
              <a:rPr dirty="0"/>
              <a:t>(URK23CS5064)</a:t>
            </a:r>
            <a:r>
              <a:rPr dirty="0" spc="245"/>
              <a:t> </a:t>
            </a:r>
            <a:r>
              <a:rPr dirty="0"/>
              <a:t>|</a:t>
            </a:r>
            <a:r>
              <a:rPr dirty="0" spc="204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Aim,</a:t>
            </a:r>
            <a:r>
              <a:rPr dirty="0" spc="-75"/>
              <a:t> </a:t>
            </a:r>
            <a:r>
              <a:rPr dirty="0"/>
              <a:t>objectives</a:t>
            </a:r>
            <a:r>
              <a:rPr dirty="0" spc="-75"/>
              <a:t> </a:t>
            </a:r>
            <a:r>
              <a:rPr dirty="0"/>
              <a:t>and</a:t>
            </a:r>
            <a:r>
              <a:rPr dirty="0" spc="-80"/>
              <a:t> </a:t>
            </a:r>
            <a:r>
              <a:rPr dirty="0"/>
              <a:t>industry</a:t>
            </a:r>
            <a:r>
              <a:rPr dirty="0" spc="-65"/>
              <a:t> </a:t>
            </a:r>
            <a:r>
              <a:rPr dirty="0" spc="-10"/>
              <a:t>relevance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48055" y="1088136"/>
            <a:ext cx="6695440" cy="1071880"/>
            <a:chOff x="448055" y="1088136"/>
            <a:chExt cx="6695440" cy="1071880"/>
          </a:xfrm>
        </p:grpSpPr>
        <p:sp>
          <p:nvSpPr>
            <p:cNvPr id="4" name="object 4"/>
            <p:cNvSpPr/>
            <p:nvPr/>
          </p:nvSpPr>
          <p:spPr>
            <a:xfrm>
              <a:off x="457961" y="1098042"/>
              <a:ext cx="6675120" cy="1051560"/>
            </a:xfrm>
            <a:custGeom>
              <a:avLst/>
              <a:gdLst/>
              <a:ahLst/>
              <a:cxnLst/>
              <a:rect l="l" t="t" r="r" b="b"/>
              <a:pathLst>
                <a:path w="6675120" h="1051560">
                  <a:moveTo>
                    <a:pt x="6633083" y="0"/>
                  </a:moveTo>
                  <a:lnTo>
                    <a:pt x="42062" y="0"/>
                  </a:lnTo>
                  <a:lnTo>
                    <a:pt x="25690" y="3300"/>
                  </a:lnTo>
                  <a:lnTo>
                    <a:pt x="12320" y="12303"/>
                  </a:lnTo>
                  <a:lnTo>
                    <a:pt x="3305" y="25663"/>
                  </a:lnTo>
                  <a:lnTo>
                    <a:pt x="0" y="42037"/>
                  </a:lnTo>
                  <a:lnTo>
                    <a:pt x="0" y="1009523"/>
                  </a:lnTo>
                  <a:lnTo>
                    <a:pt x="3305" y="1025896"/>
                  </a:lnTo>
                  <a:lnTo>
                    <a:pt x="12320" y="1039256"/>
                  </a:lnTo>
                  <a:lnTo>
                    <a:pt x="25690" y="1048259"/>
                  </a:lnTo>
                  <a:lnTo>
                    <a:pt x="42062" y="1051560"/>
                  </a:lnTo>
                  <a:lnTo>
                    <a:pt x="6633083" y="1051560"/>
                  </a:lnTo>
                  <a:lnTo>
                    <a:pt x="6649456" y="1048259"/>
                  </a:lnTo>
                  <a:lnTo>
                    <a:pt x="6662816" y="1039256"/>
                  </a:lnTo>
                  <a:lnTo>
                    <a:pt x="6671819" y="1025896"/>
                  </a:lnTo>
                  <a:lnTo>
                    <a:pt x="6675119" y="1009523"/>
                  </a:lnTo>
                  <a:lnTo>
                    <a:pt x="6675119" y="42037"/>
                  </a:lnTo>
                  <a:lnTo>
                    <a:pt x="6671819" y="25663"/>
                  </a:lnTo>
                  <a:lnTo>
                    <a:pt x="6662816" y="12303"/>
                  </a:lnTo>
                  <a:lnTo>
                    <a:pt x="6649456" y="3300"/>
                  </a:lnTo>
                  <a:lnTo>
                    <a:pt x="6633083" y="0"/>
                  </a:lnTo>
                  <a:close/>
                </a:path>
              </a:pathLst>
            </a:custGeom>
            <a:solidFill>
              <a:srgbClr val="E3F1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57961" y="1098042"/>
              <a:ext cx="6675120" cy="1051560"/>
            </a:xfrm>
            <a:custGeom>
              <a:avLst/>
              <a:gdLst/>
              <a:ahLst/>
              <a:cxnLst/>
              <a:rect l="l" t="t" r="r" b="b"/>
              <a:pathLst>
                <a:path w="6675120" h="1051560">
                  <a:moveTo>
                    <a:pt x="0" y="42037"/>
                  </a:moveTo>
                  <a:lnTo>
                    <a:pt x="3305" y="25663"/>
                  </a:lnTo>
                  <a:lnTo>
                    <a:pt x="12320" y="12303"/>
                  </a:lnTo>
                  <a:lnTo>
                    <a:pt x="25690" y="3300"/>
                  </a:lnTo>
                  <a:lnTo>
                    <a:pt x="42062" y="0"/>
                  </a:lnTo>
                  <a:lnTo>
                    <a:pt x="6633083" y="0"/>
                  </a:lnTo>
                  <a:lnTo>
                    <a:pt x="6649456" y="3300"/>
                  </a:lnTo>
                  <a:lnTo>
                    <a:pt x="6662816" y="12303"/>
                  </a:lnTo>
                  <a:lnTo>
                    <a:pt x="6671819" y="25663"/>
                  </a:lnTo>
                  <a:lnTo>
                    <a:pt x="6675119" y="42037"/>
                  </a:lnTo>
                  <a:lnTo>
                    <a:pt x="6675119" y="1009523"/>
                  </a:lnTo>
                  <a:lnTo>
                    <a:pt x="6671819" y="1025896"/>
                  </a:lnTo>
                  <a:lnTo>
                    <a:pt x="6662816" y="1039256"/>
                  </a:lnTo>
                  <a:lnTo>
                    <a:pt x="6649456" y="1048259"/>
                  </a:lnTo>
                  <a:lnTo>
                    <a:pt x="6633083" y="1051560"/>
                  </a:lnTo>
                  <a:lnTo>
                    <a:pt x="42062" y="1051560"/>
                  </a:lnTo>
                  <a:lnTo>
                    <a:pt x="25690" y="1048259"/>
                  </a:lnTo>
                  <a:lnTo>
                    <a:pt x="12320" y="1039256"/>
                  </a:lnTo>
                  <a:lnTo>
                    <a:pt x="3305" y="1025896"/>
                  </a:lnTo>
                  <a:lnTo>
                    <a:pt x="0" y="1009523"/>
                  </a:lnTo>
                  <a:lnTo>
                    <a:pt x="0" y="42037"/>
                  </a:lnTo>
                  <a:close/>
                </a:path>
              </a:pathLst>
            </a:custGeom>
            <a:ln w="19811">
              <a:solidFill>
                <a:srgbClr val="2A9D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554227" y="1139697"/>
            <a:ext cx="6452235" cy="37674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765" marR="27559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Aim:</a:t>
            </a:r>
            <a:r>
              <a:rPr dirty="0" sz="15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compare</a:t>
            </a:r>
            <a:r>
              <a:rPr dirty="0" sz="15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DCGAN,</a:t>
            </a:r>
            <a:r>
              <a:rPr dirty="0" sz="15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3203C"/>
                </a:solidFill>
                <a:latin typeface="Calibri"/>
                <a:cs typeface="Calibri"/>
              </a:rPr>
              <a:t>WGAN-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GP</a:t>
            </a:r>
            <a:r>
              <a:rPr dirty="0" sz="15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and</a:t>
            </a:r>
            <a:r>
              <a:rPr dirty="0" sz="15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a</a:t>
            </a:r>
            <a:r>
              <a:rPr dirty="0" sz="15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conditional</a:t>
            </a:r>
            <a:r>
              <a:rPr dirty="0" sz="15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3203C"/>
                </a:solidFill>
                <a:latin typeface="Calibri"/>
                <a:cs typeface="Calibri"/>
              </a:rPr>
              <a:t>WGAN-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GP</a:t>
            </a:r>
            <a:r>
              <a:rPr dirty="0" sz="15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on</a:t>
            </a:r>
            <a:r>
              <a:rPr dirty="0" sz="15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a</a:t>
            </a:r>
            <a:r>
              <a:rPr dirty="0" sz="15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3203C"/>
                </a:solidFill>
                <a:latin typeface="Calibri"/>
                <a:cs typeface="Calibri"/>
              </a:rPr>
              <a:t>leakage-controlled</a:t>
            </a:r>
            <a:r>
              <a:rPr dirty="0" sz="15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MRI</a:t>
            </a:r>
            <a:r>
              <a:rPr dirty="0" sz="15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dataset,</a:t>
            </a:r>
            <a:r>
              <a:rPr dirty="0" sz="15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test</a:t>
            </a:r>
            <a:r>
              <a:rPr dirty="0" sz="15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honestly</a:t>
            </a:r>
            <a:r>
              <a:rPr dirty="0" sz="1500" spc="-5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whether</a:t>
            </a:r>
            <a:r>
              <a:rPr dirty="0" sz="15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3203C"/>
                </a:solidFill>
                <a:latin typeface="Calibri"/>
                <a:cs typeface="Calibri"/>
              </a:rPr>
              <a:t>synthetic</a:t>
            </a:r>
            <a:r>
              <a:rPr dirty="0" sz="15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images</a:t>
            </a:r>
            <a:r>
              <a:rPr dirty="0" sz="15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help</a:t>
            </a:r>
            <a:r>
              <a:rPr dirty="0" sz="15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a</a:t>
            </a:r>
            <a:r>
              <a:rPr dirty="0" sz="15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3203C"/>
                </a:solidFill>
                <a:latin typeface="Calibri"/>
                <a:cs typeface="Calibri"/>
              </a:rPr>
              <a:t>classifier,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and</a:t>
            </a:r>
            <a:r>
              <a:rPr dirty="0" sz="15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deliver</a:t>
            </a:r>
            <a:r>
              <a:rPr dirty="0" sz="15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the</a:t>
            </a:r>
            <a:r>
              <a:rPr dirty="0" sz="15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work</a:t>
            </a:r>
            <a:r>
              <a:rPr dirty="0" sz="15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as</a:t>
            </a:r>
            <a:r>
              <a:rPr dirty="0" sz="15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a</a:t>
            </a:r>
            <a:r>
              <a:rPr dirty="0" sz="15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3203C"/>
                </a:solidFill>
                <a:latin typeface="Calibri"/>
                <a:cs typeface="Calibri"/>
              </a:rPr>
              <a:t>documented</a:t>
            </a:r>
            <a:r>
              <a:rPr dirty="0" sz="1500" spc="-5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web</a:t>
            </a:r>
            <a:r>
              <a:rPr dirty="0" sz="15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3203C"/>
                </a:solidFill>
                <a:latin typeface="Calibri"/>
                <a:cs typeface="Calibri"/>
              </a:rPr>
              <a:t>application.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O1</a:t>
            </a:r>
            <a:r>
              <a:rPr dirty="0" sz="1500" spc="29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Audit</a:t>
            </a:r>
            <a:r>
              <a:rPr dirty="0" sz="15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3203C"/>
                </a:solidFill>
                <a:latin typeface="Calibri"/>
                <a:cs typeface="Calibri"/>
              </a:rPr>
              <a:t>duplicates;</a:t>
            </a:r>
            <a:r>
              <a:rPr dirty="0" sz="15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build</a:t>
            </a:r>
            <a:r>
              <a:rPr dirty="0" sz="15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a</a:t>
            </a:r>
            <a:r>
              <a:rPr dirty="0" sz="15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3203C"/>
                </a:solidFill>
                <a:latin typeface="Calibri"/>
                <a:cs typeface="Calibri"/>
              </a:rPr>
              <a:t>cluster-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disjoint</a:t>
            </a:r>
            <a:r>
              <a:rPr dirty="0" sz="15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split</a:t>
            </a:r>
            <a:r>
              <a:rPr dirty="0" sz="15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(0</a:t>
            </a:r>
            <a:r>
              <a:rPr dirty="0" sz="15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3203C"/>
                </a:solidFill>
                <a:latin typeface="Calibri"/>
                <a:cs typeface="Calibri"/>
              </a:rPr>
              <a:t>clusters</a:t>
            </a:r>
            <a:r>
              <a:rPr dirty="0" sz="15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crossing</a:t>
            </a:r>
            <a:r>
              <a:rPr dirty="0" sz="15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3203C"/>
                </a:solidFill>
                <a:latin typeface="Calibri"/>
                <a:cs typeface="Calibri"/>
              </a:rPr>
              <a:t>partitions).</a:t>
            </a:r>
            <a:endParaRPr sz="1500">
              <a:latin typeface="Calibri"/>
              <a:cs typeface="Calibri"/>
            </a:endParaRPr>
          </a:p>
          <a:p>
            <a:pPr marL="12700" marR="494030">
              <a:lnSpc>
                <a:spcPct val="100000"/>
              </a:lnSpc>
              <a:spcBef>
                <a:spcPts val="800"/>
              </a:spcBef>
            </a:pP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O2</a:t>
            </a:r>
            <a:r>
              <a:rPr dirty="0" sz="1500" spc="28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20">
                <a:solidFill>
                  <a:srgbClr val="13203C"/>
                </a:solidFill>
                <a:latin typeface="Calibri"/>
                <a:cs typeface="Calibri"/>
              </a:rPr>
              <a:t>Train</a:t>
            </a:r>
            <a:r>
              <a:rPr dirty="0" sz="15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DCGAN,</a:t>
            </a:r>
            <a:r>
              <a:rPr dirty="0" sz="15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3203C"/>
                </a:solidFill>
                <a:latin typeface="Calibri"/>
                <a:cs typeface="Calibri"/>
              </a:rPr>
              <a:t>WGAN-</a:t>
            </a:r>
            <a:r>
              <a:rPr dirty="0" sz="1500" spc="-70">
                <a:solidFill>
                  <a:srgbClr val="13203C"/>
                </a:solidFill>
                <a:latin typeface="Calibri"/>
                <a:cs typeface="Calibri"/>
              </a:rPr>
              <a:t>GP,</a:t>
            </a:r>
            <a:r>
              <a:rPr dirty="0" sz="15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3203C"/>
                </a:solidFill>
                <a:latin typeface="Calibri"/>
                <a:cs typeface="Calibri"/>
              </a:rPr>
              <a:t>cWGAN-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GP</a:t>
            </a:r>
            <a:r>
              <a:rPr dirty="0" sz="1500" spc="-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on</a:t>
            </a:r>
            <a:r>
              <a:rPr dirty="0" sz="15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the</a:t>
            </a:r>
            <a:r>
              <a:rPr dirty="0" sz="1500" spc="-1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training</a:t>
            </a:r>
            <a:r>
              <a:rPr dirty="0" sz="15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partition</a:t>
            </a:r>
            <a:r>
              <a:rPr dirty="0" sz="1500" spc="-5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only</a:t>
            </a:r>
            <a:r>
              <a:rPr dirty="0" sz="15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3203C"/>
                </a:solidFill>
                <a:latin typeface="Calibri"/>
                <a:cs typeface="Calibri"/>
              </a:rPr>
              <a:t>(3,000 generator</a:t>
            </a:r>
            <a:r>
              <a:rPr dirty="0" sz="15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3203C"/>
                </a:solidFill>
                <a:latin typeface="Calibri"/>
                <a:cs typeface="Calibri"/>
              </a:rPr>
              <a:t>updates).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O3</a:t>
            </a:r>
            <a:r>
              <a:rPr dirty="0" sz="1500" spc="28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3203C"/>
                </a:solidFill>
                <a:latin typeface="Calibri"/>
                <a:cs typeface="Calibri"/>
              </a:rPr>
              <a:t>Evaluate</a:t>
            </a:r>
            <a:r>
              <a:rPr dirty="0" sz="15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FID</a:t>
            </a:r>
            <a:r>
              <a:rPr dirty="0" sz="15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/</a:t>
            </a:r>
            <a:r>
              <a:rPr dirty="0" sz="15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KID</a:t>
            </a:r>
            <a:r>
              <a:rPr dirty="0" sz="15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on</a:t>
            </a:r>
            <a:r>
              <a:rPr dirty="0" sz="15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the</a:t>
            </a:r>
            <a:r>
              <a:rPr dirty="0" sz="15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492</a:t>
            </a:r>
            <a:r>
              <a:rPr dirty="0" sz="15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test</a:t>
            </a:r>
            <a:r>
              <a:rPr dirty="0" sz="15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images,</a:t>
            </a:r>
            <a:r>
              <a:rPr dirty="0" sz="15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3</a:t>
            </a:r>
            <a:r>
              <a:rPr dirty="0" sz="15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3203C"/>
                </a:solidFill>
                <a:latin typeface="Calibri"/>
                <a:cs typeface="Calibri"/>
              </a:rPr>
              <a:t>generation</a:t>
            </a:r>
            <a:r>
              <a:rPr dirty="0" sz="15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seeds,</a:t>
            </a:r>
            <a:r>
              <a:rPr dirty="0" sz="15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20">
                <a:solidFill>
                  <a:srgbClr val="13203C"/>
                </a:solidFill>
                <a:latin typeface="Calibri"/>
                <a:cs typeface="Calibri"/>
              </a:rPr>
              <a:t>real-</a:t>
            </a:r>
            <a:r>
              <a:rPr dirty="0" sz="1500" spc="-10">
                <a:solidFill>
                  <a:srgbClr val="13203C"/>
                </a:solidFill>
                <a:latin typeface="Calibri"/>
                <a:cs typeface="Calibri"/>
              </a:rPr>
              <a:t>vs-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real</a:t>
            </a:r>
            <a:r>
              <a:rPr dirty="0" sz="1500" spc="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3203C"/>
                </a:solidFill>
                <a:latin typeface="Calibri"/>
                <a:cs typeface="Calibri"/>
              </a:rPr>
              <a:t>floor.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O4</a:t>
            </a:r>
            <a:r>
              <a:rPr dirty="0" sz="1500" spc="28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3203C"/>
                </a:solidFill>
                <a:latin typeface="Calibri"/>
                <a:cs typeface="Calibri"/>
              </a:rPr>
              <a:t>Implement</a:t>
            </a:r>
            <a:r>
              <a:rPr dirty="0" sz="15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3203C"/>
                </a:solidFill>
                <a:latin typeface="Calibri"/>
                <a:cs typeface="Calibri"/>
              </a:rPr>
              <a:t>label-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conditional</a:t>
            </a:r>
            <a:r>
              <a:rPr dirty="0" sz="15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3203C"/>
                </a:solidFill>
                <a:latin typeface="Calibri"/>
                <a:cs typeface="Calibri"/>
              </a:rPr>
              <a:t>generation;</a:t>
            </a:r>
            <a:r>
              <a:rPr dirty="0" sz="15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test</a:t>
            </a:r>
            <a:r>
              <a:rPr dirty="0" sz="15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whether</a:t>
            </a:r>
            <a:r>
              <a:rPr dirty="0" sz="15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the</a:t>
            </a:r>
            <a:r>
              <a:rPr dirty="0" sz="15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label</a:t>
            </a:r>
            <a:r>
              <a:rPr dirty="0" sz="15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changes</a:t>
            </a:r>
            <a:r>
              <a:rPr dirty="0" sz="15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13203C"/>
                </a:solidFill>
                <a:latin typeface="Calibri"/>
                <a:cs typeface="Calibri"/>
              </a:rPr>
              <a:t>the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500" spc="-10">
                <a:solidFill>
                  <a:srgbClr val="13203C"/>
                </a:solidFill>
                <a:latin typeface="Calibri"/>
                <a:cs typeface="Calibri"/>
              </a:rPr>
              <a:t>output.</a:t>
            </a:r>
            <a:endParaRPr sz="1500">
              <a:latin typeface="Calibri"/>
              <a:cs typeface="Calibri"/>
            </a:endParaRPr>
          </a:p>
          <a:p>
            <a:pPr marL="12700" marR="34925">
              <a:lnSpc>
                <a:spcPct val="100000"/>
              </a:lnSpc>
              <a:spcBef>
                <a:spcPts val="805"/>
              </a:spcBef>
            </a:pP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O5</a:t>
            </a:r>
            <a:r>
              <a:rPr dirty="0" sz="1500" spc="28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Compare</a:t>
            </a:r>
            <a:r>
              <a:rPr dirty="0" sz="15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classifiers</a:t>
            </a:r>
            <a:r>
              <a:rPr dirty="0" sz="1500" spc="-1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A</a:t>
            </a:r>
            <a:r>
              <a:rPr dirty="0" sz="15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/</a:t>
            </a:r>
            <a:r>
              <a:rPr dirty="0" sz="15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B</a:t>
            </a:r>
            <a:r>
              <a:rPr dirty="0" sz="15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/</a:t>
            </a:r>
            <a:r>
              <a:rPr dirty="0" sz="15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C</a:t>
            </a:r>
            <a:r>
              <a:rPr dirty="0" sz="15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(3</a:t>
            </a:r>
            <a:r>
              <a:rPr dirty="0" sz="15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seeds):</a:t>
            </a:r>
            <a:r>
              <a:rPr dirty="0" sz="15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20">
                <a:solidFill>
                  <a:srgbClr val="13203C"/>
                </a:solidFill>
                <a:latin typeface="Calibri"/>
                <a:cs typeface="Calibri"/>
              </a:rPr>
              <a:t>accuracy,</a:t>
            </a:r>
            <a:r>
              <a:rPr dirty="0" sz="15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3203C"/>
                </a:solidFill>
                <a:latin typeface="Calibri"/>
                <a:cs typeface="Calibri"/>
              </a:rPr>
              <a:t>macro-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F1,</a:t>
            </a:r>
            <a:r>
              <a:rPr dirty="0" sz="15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derived</a:t>
            </a:r>
            <a:r>
              <a:rPr dirty="0" sz="15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sensitivity</a:t>
            </a:r>
            <a:r>
              <a:rPr dirty="0" sz="15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50">
                <a:solidFill>
                  <a:srgbClr val="13203C"/>
                </a:solidFill>
                <a:latin typeface="Calibri"/>
                <a:cs typeface="Calibri"/>
              </a:rPr>
              <a:t>/ </a:t>
            </a:r>
            <a:r>
              <a:rPr dirty="0" sz="1500" spc="-10">
                <a:solidFill>
                  <a:srgbClr val="13203C"/>
                </a:solidFill>
                <a:latin typeface="Calibri"/>
                <a:cs typeface="Calibri"/>
              </a:rPr>
              <a:t>specificity.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O6</a:t>
            </a:r>
            <a:r>
              <a:rPr dirty="0" sz="1500" spc="27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Build</a:t>
            </a:r>
            <a:r>
              <a:rPr dirty="0" sz="15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and</a:t>
            </a:r>
            <a:r>
              <a:rPr dirty="0" sz="15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test</a:t>
            </a:r>
            <a:r>
              <a:rPr dirty="0" sz="15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NeuroVision</a:t>
            </a:r>
            <a:r>
              <a:rPr dirty="0" sz="15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AI</a:t>
            </a:r>
            <a:r>
              <a:rPr dirty="0" sz="15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with</a:t>
            </a:r>
            <a:r>
              <a:rPr dirty="0" sz="15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visible</a:t>
            </a:r>
            <a:r>
              <a:rPr dirty="0" sz="15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3203C"/>
                </a:solidFill>
                <a:latin typeface="Calibri"/>
                <a:cs typeface="Calibri"/>
              </a:rPr>
              <a:t>research-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prototype</a:t>
            </a:r>
            <a:r>
              <a:rPr dirty="0" sz="1500" spc="-5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3203C"/>
                </a:solidFill>
                <a:latin typeface="Calibri"/>
                <a:cs typeface="Calibri"/>
              </a:rPr>
              <a:t>warnings.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397495" y="1088136"/>
            <a:ext cx="4363720" cy="3860800"/>
            <a:chOff x="7397495" y="1088136"/>
            <a:chExt cx="4363720" cy="3860800"/>
          </a:xfrm>
        </p:grpSpPr>
        <p:sp>
          <p:nvSpPr>
            <p:cNvPr id="8" name="object 8"/>
            <p:cNvSpPr/>
            <p:nvPr/>
          </p:nvSpPr>
          <p:spPr>
            <a:xfrm>
              <a:off x="7407401" y="1098042"/>
              <a:ext cx="4343400" cy="3840479"/>
            </a:xfrm>
            <a:custGeom>
              <a:avLst/>
              <a:gdLst/>
              <a:ahLst/>
              <a:cxnLst/>
              <a:rect l="l" t="t" r="r" b="b"/>
              <a:pathLst>
                <a:path w="4343400" h="3840479">
                  <a:moveTo>
                    <a:pt x="4189729" y="0"/>
                  </a:moveTo>
                  <a:lnTo>
                    <a:pt x="153670" y="0"/>
                  </a:lnTo>
                  <a:lnTo>
                    <a:pt x="105111" y="7837"/>
                  </a:lnTo>
                  <a:lnTo>
                    <a:pt x="62929" y="29659"/>
                  </a:lnTo>
                  <a:lnTo>
                    <a:pt x="29659" y="62929"/>
                  </a:lnTo>
                  <a:lnTo>
                    <a:pt x="7837" y="105111"/>
                  </a:lnTo>
                  <a:lnTo>
                    <a:pt x="0" y="153670"/>
                  </a:lnTo>
                  <a:lnTo>
                    <a:pt x="0" y="3686810"/>
                  </a:lnTo>
                  <a:lnTo>
                    <a:pt x="7837" y="3735368"/>
                  </a:lnTo>
                  <a:lnTo>
                    <a:pt x="29659" y="3777550"/>
                  </a:lnTo>
                  <a:lnTo>
                    <a:pt x="62929" y="3810820"/>
                  </a:lnTo>
                  <a:lnTo>
                    <a:pt x="105111" y="3832642"/>
                  </a:lnTo>
                  <a:lnTo>
                    <a:pt x="153670" y="3840480"/>
                  </a:lnTo>
                  <a:lnTo>
                    <a:pt x="4189729" y="3840480"/>
                  </a:lnTo>
                  <a:lnTo>
                    <a:pt x="4238288" y="3832642"/>
                  </a:lnTo>
                  <a:lnTo>
                    <a:pt x="4280470" y="3810820"/>
                  </a:lnTo>
                  <a:lnTo>
                    <a:pt x="4313740" y="3777550"/>
                  </a:lnTo>
                  <a:lnTo>
                    <a:pt x="4335562" y="3735368"/>
                  </a:lnTo>
                  <a:lnTo>
                    <a:pt x="4343400" y="3686810"/>
                  </a:lnTo>
                  <a:lnTo>
                    <a:pt x="4343400" y="153670"/>
                  </a:lnTo>
                  <a:lnTo>
                    <a:pt x="4335562" y="105111"/>
                  </a:lnTo>
                  <a:lnTo>
                    <a:pt x="4313740" y="62929"/>
                  </a:lnTo>
                  <a:lnTo>
                    <a:pt x="4280470" y="29659"/>
                  </a:lnTo>
                  <a:lnTo>
                    <a:pt x="4238288" y="7837"/>
                  </a:lnTo>
                  <a:lnTo>
                    <a:pt x="41897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407401" y="1098042"/>
              <a:ext cx="4343400" cy="3840479"/>
            </a:xfrm>
            <a:custGeom>
              <a:avLst/>
              <a:gdLst/>
              <a:ahLst/>
              <a:cxnLst/>
              <a:rect l="l" t="t" r="r" b="b"/>
              <a:pathLst>
                <a:path w="4343400" h="3840479">
                  <a:moveTo>
                    <a:pt x="0" y="153670"/>
                  </a:moveTo>
                  <a:lnTo>
                    <a:pt x="7837" y="105111"/>
                  </a:lnTo>
                  <a:lnTo>
                    <a:pt x="29659" y="62929"/>
                  </a:lnTo>
                  <a:lnTo>
                    <a:pt x="62929" y="29659"/>
                  </a:lnTo>
                  <a:lnTo>
                    <a:pt x="105111" y="7837"/>
                  </a:lnTo>
                  <a:lnTo>
                    <a:pt x="153670" y="0"/>
                  </a:lnTo>
                  <a:lnTo>
                    <a:pt x="4189729" y="0"/>
                  </a:lnTo>
                  <a:lnTo>
                    <a:pt x="4238288" y="7837"/>
                  </a:lnTo>
                  <a:lnTo>
                    <a:pt x="4280470" y="29659"/>
                  </a:lnTo>
                  <a:lnTo>
                    <a:pt x="4313740" y="62929"/>
                  </a:lnTo>
                  <a:lnTo>
                    <a:pt x="4335562" y="105111"/>
                  </a:lnTo>
                  <a:lnTo>
                    <a:pt x="4343400" y="153670"/>
                  </a:lnTo>
                  <a:lnTo>
                    <a:pt x="4343400" y="3686810"/>
                  </a:lnTo>
                  <a:lnTo>
                    <a:pt x="4335562" y="3735368"/>
                  </a:lnTo>
                  <a:lnTo>
                    <a:pt x="4313740" y="3777550"/>
                  </a:lnTo>
                  <a:lnTo>
                    <a:pt x="4280470" y="3810820"/>
                  </a:lnTo>
                  <a:lnTo>
                    <a:pt x="4238288" y="3832642"/>
                  </a:lnTo>
                  <a:lnTo>
                    <a:pt x="4189729" y="3840480"/>
                  </a:lnTo>
                  <a:lnTo>
                    <a:pt x="153670" y="3840480"/>
                  </a:lnTo>
                  <a:lnTo>
                    <a:pt x="105111" y="3832642"/>
                  </a:lnTo>
                  <a:lnTo>
                    <a:pt x="62929" y="3810820"/>
                  </a:lnTo>
                  <a:lnTo>
                    <a:pt x="29659" y="3777550"/>
                  </a:lnTo>
                  <a:lnTo>
                    <a:pt x="7837" y="3735368"/>
                  </a:lnTo>
                  <a:lnTo>
                    <a:pt x="0" y="3686810"/>
                  </a:lnTo>
                  <a:lnTo>
                    <a:pt x="0" y="153670"/>
                  </a:lnTo>
                  <a:close/>
                </a:path>
              </a:pathLst>
            </a:custGeom>
            <a:ln w="19812">
              <a:solidFill>
                <a:srgbClr val="1F39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7549642" y="1046158"/>
            <a:ext cx="3926840" cy="2526030"/>
          </a:xfrm>
          <a:prstGeom prst="rect">
            <a:avLst/>
          </a:prstGeom>
        </p:spPr>
        <p:txBody>
          <a:bodyPr wrap="square" lIns="0" tIns="137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dirty="0" sz="1700" b="1">
                <a:solidFill>
                  <a:srgbClr val="13203C"/>
                </a:solidFill>
                <a:latin typeface="Calibri"/>
                <a:cs typeface="Calibri"/>
              </a:rPr>
              <a:t>Industry</a:t>
            </a:r>
            <a:r>
              <a:rPr dirty="0" sz="1700" spc="-50" b="1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700" spc="-10" b="1">
                <a:solidFill>
                  <a:srgbClr val="13203C"/>
                </a:solidFill>
                <a:latin typeface="Calibri"/>
                <a:cs typeface="Calibri"/>
              </a:rPr>
              <a:t>relevance</a:t>
            </a:r>
            <a:endParaRPr sz="1700">
              <a:latin typeface="Calibri"/>
              <a:cs typeface="Calibri"/>
            </a:endParaRPr>
          </a:p>
          <a:p>
            <a:pPr marL="12700" marR="191770">
              <a:lnSpc>
                <a:spcPct val="100000"/>
              </a:lnSpc>
              <a:spcBef>
                <a:spcPts val="820"/>
              </a:spcBef>
            </a:pP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Healthcare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AI</a:t>
            </a:r>
            <a:r>
              <a:rPr dirty="0" sz="14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and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augmentation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research: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fair</a:t>
            </a:r>
            <a:r>
              <a:rPr dirty="0" sz="14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tests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need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a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size-matched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real-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only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control.</a:t>
            </a:r>
            <a:endParaRPr sz="1400">
              <a:latin typeface="Calibri"/>
              <a:cs typeface="Calibri"/>
            </a:endParaRPr>
          </a:p>
          <a:p>
            <a:pPr marL="12700" marR="308610">
              <a:lnSpc>
                <a:spcPct val="100000"/>
              </a:lnSpc>
              <a:spcBef>
                <a:spcPts val="800"/>
              </a:spcBef>
            </a:pP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Medical-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image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computing:</a:t>
            </a:r>
            <a:r>
              <a:rPr dirty="0" sz="14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reproducible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duplicate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audits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and</a:t>
            </a:r>
            <a:r>
              <a:rPr dirty="0" sz="14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cluster-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disjoint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splits.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Responsible</a:t>
            </a:r>
            <a:r>
              <a:rPr dirty="0" sz="14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evaluation:</a:t>
            </a:r>
            <a:r>
              <a:rPr dirty="0" sz="1400" spc="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uncertainty,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 limits</a:t>
            </a:r>
            <a:r>
              <a:rPr dirty="0" sz="1400" spc="-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and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honest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reporting.</a:t>
            </a:r>
            <a:endParaRPr sz="1400">
              <a:latin typeface="Calibri"/>
              <a:cs typeface="Calibri"/>
            </a:endParaRPr>
          </a:p>
          <a:p>
            <a:pPr marL="12700" marR="93980">
              <a:lnSpc>
                <a:spcPct val="100000"/>
              </a:lnSpc>
              <a:spcBef>
                <a:spcPts val="805"/>
              </a:spcBef>
            </a:pP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Software</a:t>
            </a:r>
            <a:r>
              <a:rPr dirty="0" sz="1400" spc="-7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delivery: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saved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results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and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models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exposed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through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a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validated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API.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397495" y="5065776"/>
            <a:ext cx="4363720" cy="1209040"/>
            <a:chOff x="7397495" y="5065776"/>
            <a:chExt cx="4363720" cy="1209040"/>
          </a:xfrm>
        </p:grpSpPr>
        <p:sp>
          <p:nvSpPr>
            <p:cNvPr id="12" name="object 12"/>
            <p:cNvSpPr/>
            <p:nvPr/>
          </p:nvSpPr>
          <p:spPr>
            <a:xfrm>
              <a:off x="7407401" y="5075682"/>
              <a:ext cx="4343400" cy="1188720"/>
            </a:xfrm>
            <a:custGeom>
              <a:avLst/>
              <a:gdLst/>
              <a:ahLst/>
              <a:cxnLst/>
              <a:rect l="l" t="t" r="r" b="b"/>
              <a:pathLst>
                <a:path w="4343400" h="1188720">
                  <a:moveTo>
                    <a:pt x="4295902" y="0"/>
                  </a:moveTo>
                  <a:lnTo>
                    <a:pt x="47498" y="0"/>
                  </a:lnTo>
                  <a:lnTo>
                    <a:pt x="29039" y="3742"/>
                  </a:lnTo>
                  <a:lnTo>
                    <a:pt x="13938" y="13938"/>
                  </a:lnTo>
                  <a:lnTo>
                    <a:pt x="3742" y="29039"/>
                  </a:lnTo>
                  <a:lnTo>
                    <a:pt x="0" y="47498"/>
                  </a:lnTo>
                  <a:lnTo>
                    <a:pt x="0" y="1141171"/>
                  </a:lnTo>
                  <a:lnTo>
                    <a:pt x="3742" y="1159680"/>
                  </a:lnTo>
                  <a:lnTo>
                    <a:pt x="13938" y="1174794"/>
                  </a:lnTo>
                  <a:lnTo>
                    <a:pt x="29039" y="1184983"/>
                  </a:lnTo>
                  <a:lnTo>
                    <a:pt x="47498" y="1188720"/>
                  </a:lnTo>
                  <a:lnTo>
                    <a:pt x="4295902" y="1188720"/>
                  </a:lnTo>
                  <a:lnTo>
                    <a:pt x="4314360" y="1184983"/>
                  </a:lnTo>
                  <a:lnTo>
                    <a:pt x="4329461" y="1174794"/>
                  </a:lnTo>
                  <a:lnTo>
                    <a:pt x="4339657" y="1159680"/>
                  </a:lnTo>
                  <a:lnTo>
                    <a:pt x="4343400" y="1141171"/>
                  </a:lnTo>
                  <a:lnTo>
                    <a:pt x="4343400" y="47498"/>
                  </a:lnTo>
                  <a:lnTo>
                    <a:pt x="4339657" y="29039"/>
                  </a:lnTo>
                  <a:lnTo>
                    <a:pt x="4329461" y="13938"/>
                  </a:lnTo>
                  <a:lnTo>
                    <a:pt x="4314360" y="3742"/>
                  </a:lnTo>
                  <a:lnTo>
                    <a:pt x="4295902" y="0"/>
                  </a:lnTo>
                  <a:close/>
                </a:path>
              </a:pathLst>
            </a:custGeom>
            <a:solidFill>
              <a:srgbClr val="FCF0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407401" y="5075682"/>
              <a:ext cx="4343400" cy="1188720"/>
            </a:xfrm>
            <a:custGeom>
              <a:avLst/>
              <a:gdLst/>
              <a:ahLst/>
              <a:cxnLst/>
              <a:rect l="l" t="t" r="r" b="b"/>
              <a:pathLst>
                <a:path w="4343400" h="1188720">
                  <a:moveTo>
                    <a:pt x="0" y="47498"/>
                  </a:moveTo>
                  <a:lnTo>
                    <a:pt x="3742" y="29039"/>
                  </a:lnTo>
                  <a:lnTo>
                    <a:pt x="13938" y="13938"/>
                  </a:lnTo>
                  <a:lnTo>
                    <a:pt x="29039" y="3742"/>
                  </a:lnTo>
                  <a:lnTo>
                    <a:pt x="47498" y="0"/>
                  </a:lnTo>
                  <a:lnTo>
                    <a:pt x="4295902" y="0"/>
                  </a:lnTo>
                  <a:lnTo>
                    <a:pt x="4314360" y="3742"/>
                  </a:lnTo>
                  <a:lnTo>
                    <a:pt x="4329461" y="13938"/>
                  </a:lnTo>
                  <a:lnTo>
                    <a:pt x="4339657" y="29039"/>
                  </a:lnTo>
                  <a:lnTo>
                    <a:pt x="4343400" y="47498"/>
                  </a:lnTo>
                  <a:lnTo>
                    <a:pt x="4343400" y="1141171"/>
                  </a:lnTo>
                  <a:lnTo>
                    <a:pt x="4339657" y="1159680"/>
                  </a:lnTo>
                  <a:lnTo>
                    <a:pt x="4329461" y="1174794"/>
                  </a:lnTo>
                  <a:lnTo>
                    <a:pt x="4314360" y="1184983"/>
                  </a:lnTo>
                  <a:lnTo>
                    <a:pt x="4295902" y="1188720"/>
                  </a:lnTo>
                  <a:lnTo>
                    <a:pt x="47498" y="1188720"/>
                  </a:lnTo>
                  <a:lnTo>
                    <a:pt x="29039" y="1184983"/>
                  </a:lnTo>
                  <a:lnTo>
                    <a:pt x="13938" y="1174794"/>
                  </a:lnTo>
                  <a:lnTo>
                    <a:pt x="3742" y="1159680"/>
                  </a:lnTo>
                  <a:lnTo>
                    <a:pt x="0" y="1141171"/>
                  </a:lnTo>
                  <a:lnTo>
                    <a:pt x="0" y="47498"/>
                  </a:lnTo>
                  <a:close/>
                </a:path>
              </a:pathLst>
            </a:custGeom>
            <a:ln w="19812">
              <a:solidFill>
                <a:srgbClr val="C889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7518654" y="5064782"/>
            <a:ext cx="3898900" cy="697865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1300" b="1">
                <a:solidFill>
                  <a:srgbClr val="13203C"/>
                </a:solidFill>
                <a:latin typeface="Calibri"/>
                <a:cs typeface="Calibri"/>
              </a:rPr>
              <a:t>SDG</a:t>
            </a:r>
            <a:r>
              <a:rPr dirty="0" sz="1300" spc="-55" b="1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3203C"/>
                </a:solidFill>
                <a:latin typeface="Calibri"/>
                <a:cs typeface="Calibri"/>
              </a:rPr>
              <a:t>links</a:t>
            </a:r>
            <a:r>
              <a:rPr dirty="0" sz="1300" spc="-60" b="1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3203C"/>
                </a:solidFill>
                <a:latin typeface="Calibri"/>
                <a:cs typeface="Calibri"/>
              </a:rPr>
              <a:t>(research</a:t>
            </a:r>
            <a:r>
              <a:rPr dirty="0" sz="1300" spc="-45" b="1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3203C"/>
                </a:solidFill>
                <a:latin typeface="Calibri"/>
                <a:cs typeface="Calibri"/>
              </a:rPr>
              <a:t>direction</a:t>
            </a:r>
            <a:r>
              <a:rPr dirty="0" sz="1300" spc="-35" b="1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13203C"/>
                </a:solidFill>
                <a:latin typeface="Calibri"/>
                <a:cs typeface="Calibri"/>
              </a:rPr>
              <a:t>only)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1200">
                <a:solidFill>
                  <a:srgbClr val="13203C"/>
                </a:solidFill>
                <a:latin typeface="Calibri"/>
                <a:cs typeface="Calibri"/>
              </a:rPr>
              <a:t>SDG</a:t>
            </a:r>
            <a:r>
              <a:rPr dirty="0" sz="1200" spc="-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3203C"/>
                </a:solidFill>
                <a:latin typeface="Calibri"/>
                <a:cs typeface="Calibri"/>
              </a:rPr>
              <a:t>3 Good</a:t>
            </a:r>
            <a:r>
              <a:rPr dirty="0" sz="1200" spc="-1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3203C"/>
                </a:solidFill>
                <a:latin typeface="Calibri"/>
                <a:cs typeface="Calibri"/>
              </a:rPr>
              <a:t>Health</a:t>
            </a:r>
            <a:r>
              <a:rPr dirty="0" sz="1200" spc="-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3203C"/>
                </a:solidFill>
                <a:latin typeface="Calibri"/>
                <a:cs typeface="Calibri"/>
              </a:rPr>
              <a:t>and</a:t>
            </a:r>
            <a:r>
              <a:rPr dirty="0" sz="12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3203C"/>
                </a:solidFill>
                <a:latin typeface="Calibri"/>
                <a:cs typeface="Calibri"/>
              </a:rPr>
              <a:t>Well-</a:t>
            </a:r>
            <a:r>
              <a:rPr dirty="0" sz="1200">
                <a:solidFill>
                  <a:srgbClr val="13203C"/>
                </a:solidFill>
                <a:latin typeface="Calibri"/>
                <a:cs typeface="Calibri"/>
              </a:rPr>
              <a:t>being;</a:t>
            </a:r>
            <a:r>
              <a:rPr dirty="0" sz="12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3203C"/>
                </a:solidFill>
                <a:latin typeface="Calibri"/>
                <a:cs typeface="Calibri"/>
              </a:rPr>
              <a:t>SDG</a:t>
            </a:r>
            <a:r>
              <a:rPr dirty="0" sz="1200" spc="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3203C"/>
                </a:solidFill>
                <a:latin typeface="Calibri"/>
                <a:cs typeface="Calibri"/>
              </a:rPr>
              <a:t>9 </a:t>
            </a:r>
            <a:r>
              <a:rPr dirty="0" sz="1200" spc="-20">
                <a:solidFill>
                  <a:srgbClr val="13203C"/>
                </a:solidFill>
                <a:latin typeface="Calibri"/>
                <a:cs typeface="Calibri"/>
              </a:rPr>
              <a:t>Industry,</a:t>
            </a:r>
            <a:r>
              <a:rPr dirty="0" sz="12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3203C"/>
                </a:solidFill>
                <a:latin typeface="Calibri"/>
                <a:cs typeface="Calibri"/>
              </a:rPr>
              <a:t>Innovation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13203C"/>
                </a:solidFill>
                <a:latin typeface="Calibri"/>
                <a:cs typeface="Calibri"/>
              </a:rPr>
              <a:t>and</a:t>
            </a:r>
            <a:r>
              <a:rPr dirty="0" sz="12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3203C"/>
                </a:solidFill>
                <a:latin typeface="Calibri"/>
                <a:cs typeface="Calibri"/>
              </a:rPr>
              <a:t>Infrastructure.</a:t>
            </a:r>
            <a:r>
              <a:rPr dirty="0" sz="12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3203C"/>
                </a:solidFill>
                <a:latin typeface="Calibri"/>
                <a:cs typeface="Calibri"/>
              </a:rPr>
              <a:t>Not</a:t>
            </a:r>
            <a:r>
              <a:rPr dirty="0" sz="1200" spc="-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3203C"/>
                </a:solidFill>
                <a:latin typeface="Calibri"/>
                <a:cs typeface="Calibri"/>
              </a:rPr>
              <a:t>approved</a:t>
            </a:r>
            <a:r>
              <a:rPr dirty="0" sz="12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3203C"/>
                </a:solidFill>
                <a:latin typeface="Calibri"/>
                <a:cs typeface="Calibri"/>
              </a:rPr>
              <a:t>for</a:t>
            </a:r>
            <a:r>
              <a:rPr dirty="0" sz="12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3203C"/>
                </a:solidFill>
                <a:latin typeface="Calibri"/>
                <a:cs typeface="Calibri"/>
              </a:rPr>
              <a:t>clinical</a:t>
            </a:r>
            <a:r>
              <a:rPr dirty="0" sz="1200" spc="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13203C"/>
                </a:solidFill>
                <a:latin typeface="Calibri"/>
                <a:cs typeface="Calibri"/>
              </a:rPr>
              <a:t>use.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 spc="-10"/>
              <a:t>NeuroVision</a:t>
            </a:r>
            <a:r>
              <a:rPr dirty="0" spc="-20"/>
              <a:t> </a:t>
            </a:r>
            <a:r>
              <a:rPr dirty="0"/>
              <a:t>AI</a:t>
            </a:r>
            <a:r>
              <a:rPr dirty="0" spc="195"/>
              <a:t> </a:t>
            </a:r>
            <a:r>
              <a:rPr dirty="0"/>
              <a:t>|</a:t>
            </a:r>
            <a:r>
              <a:rPr dirty="0" spc="200"/>
              <a:t> </a:t>
            </a:r>
            <a:r>
              <a:rPr dirty="0"/>
              <a:t>Brain</a:t>
            </a:r>
            <a:r>
              <a:rPr dirty="0" spc="-15"/>
              <a:t> </a:t>
            </a:r>
            <a:r>
              <a:rPr dirty="0"/>
              <a:t>Tumor</a:t>
            </a:r>
            <a:r>
              <a:rPr dirty="0" spc="-15"/>
              <a:t> </a:t>
            </a:r>
            <a:r>
              <a:rPr dirty="0"/>
              <a:t>MRI</a:t>
            </a:r>
            <a:r>
              <a:rPr dirty="0" spc="-25"/>
              <a:t> </a:t>
            </a:r>
            <a:r>
              <a:rPr dirty="0"/>
              <a:t>Generation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/>
              <a:t>Classification</a:t>
            </a:r>
            <a:r>
              <a:rPr dirty="0" spc="195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Ajai</a:t>
            </a:r>
            <a:r>
              <a:rPr dirty="0" spc="-30"/>
              <a:t> </a:t>
            </a:r>
            <a:r>
              <a:rPr dirty="0"/>
              <a:t>Kumar N</a:t>
            </a:r>
            <a:r>
              <a:rPr dirty="0" spc="-10"/>
              <a:t> </a:t>
            </a:r>
            <a:r>
              <a:rPr dirty="0"/>
              <a:t>(URK23CS5064)</a:t>
            </a:r>
            <a:r>
              <a:rPr dirty="0" spc="245"/>
              <a:t> </a:t>
            </a:r>
            <a:r>
              <a:rPr dirty="0"/>
              <a:t>|</a:t>
            </a:r>
            <a:r>
              <a:rPr dirty="0" spc="204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Literature</a:t>
            </a:r>
            <a:r>
              <a:rPr dirty="0" spc="-90"/>
              <a:t> </a:t>
            </a:r>
            <a:r>
              <a:rPr dirty="0"/>
              <a:t>review</a:t>
            </a:r>
            <a:r>
              <a:rPr dirty="0" spc="-95"/>
              <a:t> </a:t>
            </a:r>
            <a:r>
              <a:rPr dirty="0"/>
              <a:t>and</a:t>
            </a:r>
            <a:r>
              <a:rPr dirty="0" spc="-120"/>
              <a:t> </a:t>
            </a:r>
            <a:r>
              <a:rPr dirty="0"/>
              <a:t>research</a:t>
            </a:r>
            <a:r>
              <a:rPr dirty="0" spc="-90"/>
              <a:t> </a:t>
            </a:r>
            <a:r>
              <a:rPr dirty="0" spc="-25"/>
              <a:t>gap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50850" y="1136650"/>
          <a:ext cx="11336020" cy="3657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83279"/>
                <a:gridCol w="2926079"/>
                <a:gridCol w="2651759"/>
                <a:gridCol w="2286000"/>
              </a:tblGrid>
              <a:tr h="45720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3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Work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395F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3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Contribution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395F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3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Used</a:t>
                      </a:r>
                      <a:r>
                        <a:rPr dirty="0" sz="13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3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this</a:t>
                      </a:r>
                      <a:r>
                        <a:rPr dirty="0" sz="13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project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395F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3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Open</a:t>
                      </a:r>
                      <a:r>
                        <a:rPr dirty="0" sz="1300" spc="-3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1300" spc="-3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MRI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39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GAN</a:t>
                      </a:r>
                      <a:r>
                        <a:rPr dirty="0" sz="1300" spc="-2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1300" spc="-3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Goodfellow et</a:t>
                      </a:r>
                      <a:r>
                        <a:rPr dirty="0" sz="1300" spc="-2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al.</a:t>
                      </a:r>
                      <a:r>
                        <a:rPr dirty="0" sz="1300" spc="-4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2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[1]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Adversarial</a:t>
                      </a:r>
                      <a:r>
                        <a:rPr dirty="0" sz="1300" spc="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generator</a:t>
                      </a:r>
                      <a:r>
                        <a:rPr dirty="0" sz="1300" spc="-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vs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discriminator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DCGAN</a:t>
                      </a:r>
                      <a:r>
                        <a:rPr dirty="0" sz="1300" spc="-4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objective</a:t>
                      </a:r>
                      <a:r>
                        <a:rPr dirty="0" sz="1300" spc="-4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2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(BCE)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Instability;</a:t>
                      </a:r>
                      <a:r>
                        <a:rPr dirty="0" sz="1300" spc="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no</a:t>
                      </a:r>
                      <a:r>
                        <a:rPr dirty="0" sz="1300" spc="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clinical</a:t>
                      </a:r>
                      <a:r>
                        <a:rPr dirty="0" sz="1300" spc="-1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check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EDF1F6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cGAN</a:t>
                      </a:r>
                      <a:r>
                        <a:rPr dirty="0" sz="1300" spc="-2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1300" spc="-2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Mirza</a:t>
                      </a:r>
                      <a:r>
                        <a:rPr dirty="0" sz="1300" spc="-3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300" spc="-3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Osindero</a:t>
                      </a:r>
                      <a:r>
                        <a:rPr dirty="0" sz="1300" spc="-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2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[2]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Condition</a:t>
                      </a:r>
                      <a:r>
                        <a:rPr dirty="0" sz="1300" spc="-2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on</a:t>
                      </a:r>
                      <a:r>
                        <a:rPr dirty="0" sz="1300" spc="-2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300" spc="-2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label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Label</a:t>
                      </a:r>
                      <a:r>
                        <a:rPr dirty="0" sz="1300" spc="-3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embedding</a:t>
                      </a:r>
                      <a:r>
                        <a:rPr dirty="0" sz="1300" spc="-2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300" spc="-3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generator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Labels</a:t>
                      </a:r>
                      <a:r>
                        <a:rPr dirty="0" sz="1300" spc="-1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may</a:t>
                      </a:r>
                      <a:r>
                        <a:rPr dirty="0" sz="1300" spc="-1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not</a:t>
                      </a:r>
                      <a:r>
                        <a:rPr dirty="0" sz="1300" spc="-2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be</a:t>
                      </a:r>
                      <a:r>
                        <a:rPr dirty="0" sz="1300" spc="-3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learned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DCGAN</a:t>
                      </a:r>
                      <a:r>
                        <a:rPr dirty="0" sz="1300" spc="-2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1300" spc="-2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Radford</a:t>
                      </a:r>
                      <a:r>
                        <a:rPr dirty="0" sz="1300" spc="-3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et</a:t>
                      </a:r>
                      <a:r>
                        <a:rPr dirty="0" sz="1300" spc="-2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al.</a:t>
                      </a:r>
                      <a:r>
                        <a:rPr dirty="0" sz="1300" spc="-3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2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[3]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Stable</a:t>
                      </a:r>
                      <a:r>
                        <a:rPr dirty="0" sz="1300" spc="-4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conv</a:t>
                      </a:r>
                      <a:r>
                        <a:rPr dirty="0" sz="1300" spc="-5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architecture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64×64 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generator</a:t>
                      </a:r>
                      <a:r>
                        <a:rPr dirty="0" sz="1300" spc="-1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300" spc="-1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discriminator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Large</a:t>
                      </a:r>
                      <a:r>
                        <a:rPr dirty="0" sz="1300" spc="-4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natural-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image</a:t>
                      </a:r>
                      <a:r>
                        <a:rPr dirty="0" sz="1300" spc="-1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2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DF1F6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300" spc="-2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WGAN-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GP</a:t>
                      </a:r>
                      <a:r>
                        <a:rPr dirty="0" sz="1300" spc="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1300" spc="-2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Arjovsky</a:t>
                      </a:r>
                      <a:r>
                        <a:rPr dirty="0" sz="1300" spc="-2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[4],</a:t>
                      </a:r>
                      <a:r>
                        <a:rPr dirty="0" sz="1300" spc="-1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Gulrajani</a:t>
                      </a:r>
                      <a:r>
                        <a:rPr dirty="0" sz="1300" spc="-1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2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[5]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Wasserstein</a:t>
                      </a:r>
                      <a:r>
                        <a:rPr dirty="0" sz="1300" spc="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critic</a:t>
                      </a:r>
                      <a:r>
                        <a:rPr dirty="0" sz="1300" spc="-4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dirty="0" sz="1300" spc="-3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gradient</a:t>
                      </a:r>
                      <a:r>
                        <a:rPr dirty="0" sz="1300" spc="-3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penalty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300" spc="-2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WGAN-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GP</a:t>
                      </a:r>
                      <a:r>
                        <a:rPr dirty="0" sz="1300" spc="6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300" spc="4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2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cWGAN-</a:t>
                      </a:r>
                      <a:r>
                        <a:rPr dirty="0" sz="1300" spc="-2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GP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More</a:t>
                      </a:r>
                      <a:r>
                        <a:rPr dirty="0" sz="1300" spc="-5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compute;</a:t>
                      </a:r>
                      <a:r>
                        <a:rPr dirty="0" sz="1300" spc="-3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not</a:t>
                      </a:r>
                      <a:r>
                        <a:rPr dirty="0" sz="1300" spc="-4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better</a:t>
                      </a:r>
                      <a:r>
                        <a:rPr dirty="0" sz="1300" spc="-3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2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here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FID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1300" spc="-1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Heusel</a:t>
                      </a:r>
                      <a:r>
                        <a:rPr dirty="0" sz="1300" spc="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et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al.</a:t>
                      </a:r>
                      <a:r>
                        <a:rPr dirty="0" sz="1300" spc="-1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2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[6]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Inception-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feature</a:t>
                      </a:r>
                      <a:r>
                        <a:rPr dirty="0" sz="1300" spc="-3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Fréchet</a:t>
                      </a:r>
                      <a:r>
                        <a:rPr dirty="0" sz="1300" spc="-5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distance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Main</a:t>
                      </a:r>
                      <a:r>
                        <a:rPr dirty="0" sz="1300" spc="-1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quality</a:t>
                      </a:r>
                      <a:r>
                        <a:rPr dirty="0" sz="1300" spc="-2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score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ImageNet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features;</a:t>
                      </a:r>
                      <a:r>
                        <a:rPr dirty="0" sz="1300" spc="-1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small-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n </a:t>
                      </a:r>
                      <a:r>
                        <a:rPr dirty="0" sz="1300" spc="-2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bias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DF1F6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KID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1300" spc="-1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Bińkowski</a:t>
                      </a:r>
                      <a:r>
                        <a:rPr dirty="0" sz="1300" spc="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et</a:t>
                      </a:r>
                      <a:r>
                        <a:rPr dirty="0" sz="1300" spc="-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al.</a:t>
                      </a:r>
                      <a:r>
                        <a:rPr dirty="0" sz="1300" spc="-2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2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[7]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71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Unbiased</a:t>
                      </a:r>
                      <a:r>
                        <a:rPr dirty="0" sz="1300" spc="-1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MMD</a:t>
                      </a:r>
                      <a:r>
                        <a:rPr dirty="0" sz="1300" spc="-2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on</a:t>
                      </a:r>
                      <a:r>
                        <a:rPr dirty="0" sz="1300" spc="-4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Inception</a:t>
                      </a:r>
                      <a:r>
                        <a:rPr dirty="0" sz="1300" spc="-2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features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71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Second</a:t>
                      </a:r>
                      <a:r>
                        <a:rPr dirty="0" sz="1300" spc="-2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quality</a:t>
                      </a:r>
                      <a:r>
                        <a:rPr dirty="0" sz="1300" spc="-2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2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score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71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Same</a:t>
                      </a:r>
                      <a:r>
                        <a:rPr dirty="0" sz="1300" spc="-2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domain</a:t>
                      </a:r>
                      <a:r>
                        <a:rPr dirty="0" sz="1300" spc="-2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gap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71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Projection</a:t>
                      </a:r>
                      <a:r>
                        <a:rPr dirty="0" sz="1300" spc="-2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critic</a:t>
                      </a:r>
                      <a:r>
                        <a:rPr dirty="0" sz="1300" spc="-3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1300" spc="-4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Miyato</a:t>
                      </a:r>
                      <a:r>
                        <a:rPr dirty="0" sz="1300" spc="-2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300" spc="-3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Koyama</a:t>
                      </a:r>
                      <a:r>
                        <a:rPr dirty="0" sz="1300" spc="-2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2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[8]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07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Class</a:t>
                      </a:r>
                      <a:r>
                        <a:rPr dirty="0" sz="1300" spc="-4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embedding</a:t>
                      </a:r>
                      <a:r>
                        <a:rPr dirty="0" sz="1300" spc="-2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projected</a:t>
                      </a:r>
                      <a:r>
                        <a:rPr dirty="0" sz="1300" spc="-3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on</a:t>
                      </a:r>
                      <a:r>
                        <a:rPr dirty="0" sz="1300" spc="-3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features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07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1300" spc="-2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cWGAN-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GP</a:t>
                      </a:r>
                      <a:r>
                        <a:rPr dirty="0" sz="1300" spc="7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critic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07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Needs</a:t>
                      </a:r>
                      <a:r>
                        <a:rPr dirty="0" sz="1300" spc="-3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reliable</a:t>
                      </a:r>
                      <a:r>
                        <a:rPr dirty="0" sz="1300" spc="-4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labels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07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1F6"/>
                    </a:solidFill>
                  </a:tcPr>
                </a:tc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448055" y="5065776"/>
            <a:ext cx="11267440" cy="1209040"/>
            <a:chOff x="448055" y="5065776"/>
            <a:chExt cx="11267440" cy="1209040"/>
          </a:xfrm>
        </p:grpSpPr>
        <p:sp>
          <p:nvSpPr>
            <p:cNvPr id="5" name="object 5"/>
            <p:cNvSpPr/>
            <p:nvPr/>
          </p:nvSpPr>
          <p:spPr>
            <a:xfrm>
              <a:off x="457961" y="5075682"/>
              <a:ext cx="11247120" cy="1188720"/>
            </a:xfrm>
            <a:custGeom>
              <a:avLst/>
              <a:gdLst/>
              <a:ahLst/>
              <a:cxnLst/>
              <a:rect l="l" t="t" r="r" b="b"/>
              <a:pathLst>
                <a:path w="11247120" h="1188720">
                  <a:moveTo>
                    <a:pt x="11199621" y="0"/>
                  </a:moveTo>
                  <a:lnTo>
                    <a:pt x="47548" y="0"/>
                  </a:lnTo>
                  <a:lnTo>
                    <a:pt x="29039" y="3742"/>
                  </a:lnTo>
                  <a:lnTo>
                    <a:pt x="13925" y="13938"/>
                  </a:lnTo>
                  <a:lnTo>
                    <a:pt x="3736" y="29039"/>
                  </a:lnTo>
                  <a:lnTo>
                    <a:pt x="0" y="47498"/>
                  </a:lnTo>
                  <a:lnTo>
                    <a:pt x="0" y="1141171"/>
                  </a:lnTo>
                  <a:lnTo>
                    <a:pt x="3736" y="1159680"/>
                  </a:lnTo>
                  <a:lnTo>
                    <a:pt x="13925" y="1174794"/>
                  </a:lnTo>
                  <a:lnTo>
                    <a:pt x="29039" y="1184983"/>
                  </a:lnTo>
                  <a:lnTo>
                    <a:pt x="47548" y="1188720"/>
                  </a:lnTo>
                  <a:lnTo>
                    <a:pt x="11199621" y="1188720"/>
                  </a:lnTo>
                  <a:lnTo>
                    <a:pt x="11218080" y="1184983"/>
                  </a:lnTo>
                  <a:lnTo>
                    <a:pt x="11233181" y="1174794"/>
                  </a:lnTo>
                  <a:lnTo>
                    <a:pt x="11243377" y="1159680"/>
                  </a:lnTo>
                  <a:lnTo>
                    <a:pt x="11247119" y="1141171"/>
                  </a:lnTo>
                  <a:lnTo>
                    <a:pt x="11247119" y="47498"/>
                  </a:lnTo>
                  <a:lnTo>
                    <a:pt x="11243377" y="29039"/>
                  </a:lnTo>
                  <a:lnTo>
                    <a:pt x="11233181" y="13938"/>
                  </a:lnTo>
                  <a:lnTo>
                    <a:pt x="11218080" y="3742"/>
                  </a:lnTo>
                  <a:lnTo>
                    <a:pt x="11199621" y="0"/>
                  </a:lnTo>
                  <a:close/>
                </a:path>
              </a:pathLst>
            </a:custGeom>
            <a:solidFill>
              <a:srgbClr val="E3F1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57961" y="5075682"/>
              <a:ext cx="11247120" cy="1188720"/>
            </a:xfrm>
            <a:custGeom>
              <a:avLst/>
              <a:gdLst/>
              <a:ahLst/>
              <a:cxnLst/>
              <a:rect l="l" t="t" r="r" b="b"/>
              <a:pathLst>
                <a:path w="11247120" h="1188720">
                  <a:moveTo>
                    <a:pt x="0" y="47498"/>
                  </a:moveTo>
                  <a:lnTo>
                    <a:pt x="3736" y="29039"/>
                  </a:lnTo>
                  <a:lnTo>
                    <a:pt x="13925" y="13938"/>
                  </a:lnTo>
                  <a:lnTo>
                    <a:pt x="29039" y="3742"/>
                  </a:lnTo>
                  <a:lnTo>
                    <a:pt x="47548" y="0"/>
                  </a:lnTo>
                  <a:lnTo>
                    <a:pt x="11199621" y="0"/>
                  </a:lnTo>
                  <a:lnTo>
                    <a:pt x="11218080" y="3742"/>
                  </a:lnTo>
                  <a:lnTo>
                    <a:pt x="11233181" y="13938"/>
                  </a:lnTo>
                  <a:lnTo>
                    <a:pt x="11243377" y="29039"/>
                  </a:lnTo>
                  <a:lnTo>
                    <a:pt x="11247119" y="47498"/>
                  </a:lnTo>
                  <a:lnTo>
                    <a:pt x="11247119" y="1141171"/>
                  </a:lnTo>
                  <a:lnTo>
                    <a:pt x="11243377" y="1159680"/>
                  </a:lnTo>
                  <a:lnTo>
                    <a:pt x="11233181" y="1174794"/>
                  </a:lnTo>
                  <a:lnTo>
                    <a:pt x="11218080" y="1184983"/>
                  </a:lnTo>
                  <a:lnTo>
                    <a:pt x="11199621" y="1188720"/>
                  </a:lnTo>
                  <a:lnTo>
                    <a:pt x="47548" y="1188720"/>
                  </a:lnTo>
                  <a:lnTo>
                    <a:pt x="29039" y="1184983"/>
                  </a:lnTo>
                  <a:lnTo>
                    <a:pt x="13925" y="1174794"/>
                  </a:lnTo>
                  <a:lnTo>
                    <a:pt x="3736" y="1159680"/>
                  </a:lnTo>
                  <a:lnTo>
                    <a:pt x="0" y="1141171"/>
                  </a:lnTo>
                  <a:lnTo>
                    <a:pt x="0" y="47498"/>
                  </a:lnTo>
                  <a:close/>
                </a:path>
              </a:pathLst>
            </a:custGeom>
            <a:ln w="19812">
              <a:solidFill>
                <a:srgbClr val="2A9D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568248" y="5062753"/>
            <a:ext cx="10731500" cy="745490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sz="1400" spc="-10" b="1">
                <a:solidFill>
                  <a:srgbClr val="13203C"/>
                </a:solidFill>
                <a:latin typeface="Calibri"/>
                <a:cs typeface="Calibri"/>
              </a:rPr>
              <a:t>Research </a:t>
            </a:r>
            <a:r>
              <a:rPr dirty="0" sz="1400" spc="-25" b="1">
                <a:solidFill>
                  <a:srgbClr val="13203C"/>
                </a:solidFill>
                <a:latin typeface="Calibri"/>
                <a:cs typeface="Calibri"/>
              </a:rPr>
              <a:t>gap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Are</a:t>
            </a:r>
            <a:r>
              <a:rPr dirty="0" sz="13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3203C"/>
                </a:solidFill>
                <a:latin typeface="Calibri"/>
                <a:cs typeface="Calibri"/>
              </a:rPr>
              <a:t>label-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conditional</a:t>
            </a:r>
            <a:r>
              <a:rPr dirty="0" sz="1300" spc="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13203C"/>
                </a:solidFill>
                <a:latin typeface="Calibri"/>
                <a:cs typeface="Calibri"/>
              </a:rPr>
              <a:t>WGAN-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GP images</a:t>
            </a:r>
            <a:r>
              <a:rPr dirty="0" sz="13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3203C"/>
                </a:solidFill>
                <a:latin typeface="Calibri"/>
                <a:cs typeface="Calibri"/>
              </a:rPr>
              <a:t>class-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faithful</a:t>
            </a:r>
            <a:r>
              <a:rPr dirty="0" sz="1300" spc="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at</a:t>
            </a:r>
            <a:r>
              <a:rPr dirty="0" sz="13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64×64?</a:t>
            </a:r>
            <a:r>
              <a:rPr dirty="0" sz="1300" spc="2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Does</a:t>
            </a:r>
            <a:r>
              <a:rPr dirty="0" sz="1300" spc="-10">
                <a:solidFill>
                  <a:srgbClr val="13203C"/>
                </a:solidFill>
                <a:latin typeface="Calibri"/>
                <a:cs typeface="Calibri"/>
              </a:rPr>
              <a:t> augmentation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 still</a:t>
            </a:r>
            <a:r>
              <a:rPr dirty="0" sz="13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help</a:t>
            </a:r>
            <a:r>
              <a:rPr dirty="0" sz="13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once</a:t>
            </a:r>
            <a:r>
              <a:rPr dirty="0" sz="13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training</a:t>
            </a:r>
            <a:r>
              <a:rPr dirty="0" sz="13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size</a:t>
            </a:r>
            <a:r>
              <a:rPr dirty="0" sz="13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is</a:t>
            </a:r>
            <a:r>
              <a:rPr dirty="0" sz="13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controlled?</a:t>
            </a:r>
            <a:r>
              <a:rPr dirty="0" sz="1300" spc="254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Do</a:t>
            </a:r>
            <a:r>
              <a:rPr dirty="0" sz="13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gains</a:t>
            </a:r>
            <a:r>
              <a:rPr dirty="0" sz="13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survive</a:t>
            </a:r>
            <a:r>
              <a:rPr dirty="0" sz="13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removal</a:t>
            </a:r>
            <a:r>
              <a:rPr dirty="0" sz="13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of</a:t>
            </a:r>
            <a:r>
              <a:rPr dirty="0" sz="13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3203C"/>
                </a:solidFill>
                <a:latin typeface="Calibri"/>
                <a:cs typeface="Calibri"/>
              </a:rPr>
              <a:t>near-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duplicates?</a:t>
            </a:r>
            <a:r>
              <a:rPr dirty="0" sz="1300" spc="254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3203C"/>
                </a:solidFill>
                <a:latin typeface="Calibri"/>
                <a:cs typeface="Calibri"/>
              </a:rPr>
              <a:t>(Foundational</a:t>
            </a:r>
            <a:r>
              <a:rPr dirty="0" sz="1300" spc="-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methods only;</a:t>
            </a:r>
            <a:r>
              <a:rPr dirty="0" sz="13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not</a:t>
            </a:r>
            <a:r>
              <a:rPr dirty="0" sz="13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a</a:t>
            </a:r>
            <a:r>
              <a:rPr dirty="0" sz="13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survey</a:t>
            </a:r>
            <a:r>
              <a:rPr dirty="0" sz="13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of</a:t>
            </a:r>
            <a:r>
              <a:rPr dirty="0" sz="13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medical</a:t>
            </a:r>
            <a:r>
              <a:rPr dirty="0" sz="13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GAN</a:t>
            </a:r>
            <a:r>
              <a:rPr dirty="0" sz="13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3203C"/>
                </a:solidFill>
                <a:latin typeface="Calibri"/>
                <a:cs typeface="Calibri"/>
              </a:rPr>
              <a:t>applications.)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 spc="-10"/>
              <a:t>NeuroVision</a:t>
            </a:r>
            <a:r>
              <a:rPr dirty="0" spc="-20"/>
              <a:t> </a:t>
            </a:r>
            <a:r>
              <a:rPr dirty="0"/>
              <a:t>AI</a:t>
            </a:r>
            <a:r>
              <a:rPr dirty="0" spc="195"/>
              <a:t> </a:t>
            </a:r>
            <a:r>
              <a:rPr dirty="0"/>
              <a:t>|</a:t>
            </a:r>
            <a:r>
              <a:rPr dirty="0" spc="200"/>
              <a:t> </a:t>
            </a:r>
            <a:r>
              <a:rPr dirty="0"/>
              <a:t>Brain</a:t>
            </a:r>
            <a:r>
              <a:rPr dirty="0" spc="-15"/>
              <a:t> </a:t>
            </a:r>
            <a:r>
              <a:rPr dirty="0"/>
              <a:t>Tumor</a:t>
            </a:r>
            <a:r>
              <a:rPr dirty="0" spc="-15"/>
              <a:t> </a:t>
            </a:r>
            <a:r>
              <a:rPr dirty="0"/>
              <a:t>MRI</a:t>
            </a:r>
            <a:r>
              <a:rPr dirty="0" spc="-25"/>
              <a:t> </a:t>
            </a:r>
            <a:r>
              <a:rPr dirty="0"/>
              <a:t>Generation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/>
              <a:t>Classification</a:t>
            </a:r>
            <a:r>
              <a:rPr dirty="0" spc="195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Ajai</a:t>
            </a:r>
            <a:r>
              <a:rPr dirty="0" spc="-30"/>
              <a:t> </a:t>
            </a:r>
            <a:r>
              <a:rPr dirty="0"/>
              <a:t>Kumar N</a:t>
            </a:r>
            <a:r>
              <a:rPr dirty="0" spc="-10"/>
              <a:t> </a:t>
            </a:r>
            <a:r>
              <a:rPr dirty="0"/>
              <a:t>(URK23CS5064)</a:t>
            </a:r>
            <a:r>
              <a:rPr dirty="0" spc="245"/>
              <a:t> </a:t>
            </a:r>
            <a:r>
              <a:rPr dirty="0"/>
              <a:t>|</a:t>
            </a:r>
            <a:r>
              <a:rPr dirty="0" spc="204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Dataset,</a:t>
            </a:r>
            <a:r>
              <a:rPr dirty="0" spc="-70"/>
              <a:t> </a:t>
            </a:r>
            <a:r>
              <a:rPr dirty="0" spc="-25"/>
              <a:t>de-</a:t>
            </a:r>
            <a:r>
              <a:rPr dirty="0"/>
              <a:t>duplication</a:t>
            </a:r>
            <a:r>
              <a:rPr dirty="0" spc="-80"/>
              <a:t> </a:t>
            </a:r>
            <a:r>
              <a:rPr dirty="0"/>
              <a:t>and</a:t>
            </a:r>
            <a:r>
              <a:rPr dirty="0" spc="-100"/>
              <a:t> </a:t>
            </a:r>
            <a:r>
              <a:rPr dirty="0"/>
              <a:t>final</a:t>
            </a:r>
            <a:r>
              <a:rPr dirty="0" spc="-90"/>
              <a:t> </a:t>
            </a:r>
            <a:r>
              <a:rPr dirty="0" spc="-10"/>
              <a:t>split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4227" y="1127506"/>
            <a:ext cx="5807710" cy="1962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169545" indent="165735">
              <a:lnSpc>
                <a:spcPct val="100000"/>
              </a:lnSpc>
              <a:spcBef>
                <a:spcPts val="105"/>
              </a:spcBef>
              <a:buChar char="•"/>
              <a:tabLst>
                <a:tab pos="178435" algn="l"/>
              </a:tabLst>
            </a:pP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Source:</a:t>
            </a:r>
            <a:r>
              <a:rPr dirty="0" sz="14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matches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Kaggle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‘Brain</a:t>
            </a:r>
            <a:r>
              <a:rPr dirty="0" sz="14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Tumor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MRI</a:t>
            </a:r>
            <a:r>
              <a:rPr dirty="0" sz="14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Dataset’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v2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(M.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Nickparvar,</a:t>
            </a:r>
            <a:r>
              <a:rPr dirty="0" sz="14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CC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BY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4.0)</a:t>
            </a:r>
            <a:r>
              <a:rPr dirty="0" sz="14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on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counts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and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size: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7,200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images,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1,400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/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400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per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class.</a:t>
            </a:r>
            <a:r>
              <a:rPr dirty="0" sz="14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Local</a:t>
            </a:r>
            <a:r>
              <a:rPr dirty="0" sz="14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download record</a:t>
            </a:r>
            <a:r>
              <a:rPr dirty="0" sz="1400" spc="-6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UNVERIFIED;</a:t>
            </a:r>
            <a:r>
              <a:rPr dirty="0" sz="1400" spc="-5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upstream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sources</a:t>
            </a:r>
            <a:r>
              <a:rPr dirty="0" sz="1400" spc="-5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may</a:t>
            </a:r>
            <a:r>
              <a:rPr dirty="0" sz="14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carry</a:t>
            </a:r>
            <a:r>
              <a:rPr dirty="0" sz="1400" spc="-6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separate</a:t>
            </a:r>
            <a:r>
              <a:rPr dirty="0" sz="14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terms;</a:t>
            </a:r>
            <a:r>
              <a:rPr dirty="0" sz="1400" spc="-5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not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redistributed.</a:t>
            </a:r>
            <a:endParaRPr sz="1400">
              <a:latin typeface="Calibri"/>
              <a:cs typeface="Calibri"/>
            </a:endParaRPr>
          </a:p>
          <a:p>
            <a:pPr marL="179070" indent="-166370">
              <a:lnSpc>
                <a:spcPct val="100000"/>
              </a:lnSpc>
              <a:spcBef>
                <a:spcPts val="595"/>
              </a:spcBef>
              <a:buChar char="•"/>
              <a:tabLst>
                <a:tab pos="179070" algn="l"/>
              </a:tabLst>
            </a:pP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Audit: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1,076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of</a:t>
            </a:r>
            <a:r>
              <a:rPr dirty="0" sz="14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1,600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original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test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images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had</a:t>
            </a:r>
            <a:r>
              <a:rPr dirty="0" sz="14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a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near-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identical</a:t>
            </a:r>
            <a:r>
              <a:rPr dirty="0" sz="1400" spc="-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training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copy.</a:t>
            </a:r>
            <a:endParaRPr sz="1400">
              <a:latin typeface="Calibri"/>
              <a:cs typeface="Calibri"/>
            </a:endParaRPr>
          </a:p>
          <a:p>
            <a:pPr marL="178435" indent="-165735">
              <a:lnSpc>
                <a:spcPct val="100000"/>
              </a:lnSpc>
              <a:spcBef>
                <a:spcPts val="605"/>
              </a:spcBef>
              <a:buChar char="•"/>
              <a:tabLst>
                <a:tab pos="178435" algn="l"/>
              </a:tabLst>
            </a:pP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Method: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32×32</a:t>
            </a:r>
            <a:r>
              <a:rPr dirty="0" sz="14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cosine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similarity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over</a:t>
            </a:r>
            <a:r>
              <a:rPr dirty="0" sz="1400" spc="-5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8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orientations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(≥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0.98)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→</a:t>
            </a:r>
            <a:r>
              <a:rPr dirty="0" sz="1400" spc="-5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3,479</a:t>
            </a:r>
            <a:r>
              <a:rPr dirty="0" sz="14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clusters.</a:t>
            </a:r>
            <a:endParaRPr sz="1400">
              <a:latin typeface="Calibri"/>
              <a:cs typeface="Calibri"/>
            </a:endParaRPr>
          </a:p>
          <a:p>
            <a:pPr marL="12700" marR="527685" indent="165735">
              <a:lnSpc>
                <a:spcPct val="100000"/>
              </a:lnSpc>
              <a:spcBef>
                <a:spcPts val="600"/>
              </a:spcBef>
              <a:buChar char="•"/>
              <a:tabLst>
                <a:tab pos="178435" algn="l"/>
              </a:tabLst>
            </a:pP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Quarantined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207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images</a:t>
            </a:r>
            <a:r>
              <a:rPr dirty="0" sz="14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(label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conflicts,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augmented-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only</a:t>
            </a:r>
            <a:r>
              <a:rPr dirty="0" sz="1400" spc="-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clusters,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50">
                <a:solidFill>
                  <a:srgbClr val="13203C"/>
                </a:solidFill>
                <a:latin typeface="Calibri"/>
                <a:cs typeface="Calibri"/>
              </a:rPr>
              <a:t>4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refinement</a:t>
            </a:r>
            <a:r>
              <a:rPr dirty="0" sz="14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removals)</a:t>
            </a:r>
            <a:r>
              <a:rPr dirty="0" sz="14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→</a:t>
            </a:r>
            <a:r>
              <a:rPr dirty="0" sz="14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3,295</a:t>
            </a:r>
            <a:r>
              <a:rPr dirty="0" sz="14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unique</a:t>
            </a:r>
            <a:r>
              <a:rPr dirty="0" sz="14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images;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0</a:t>
            </a:r>
            <a:r>
              <a:rPr dirty="0" sz="14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clusters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cross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partitions.</a:t>
            </a:r>
            <a:endParaRPr sz="14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760209" y="1182369"/>
          <a:ext cx="5026660" cy="1534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5840"/>
                <a:gridCol w="777240"/>
                <a:gridCol w="777240"/>
                <a:gridCol w="914400"/>
                <a:gridCol w="731520"/>
                <a:gridCol w="731520"/>
              </a:tblGrid>
              <a:tr h="383540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3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Partition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39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3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Glioma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39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3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Menin.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39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3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</a:t>
                      </a:r>
                      <a:r>
                        <a:rPr dirty="0" sz="13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tumour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39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3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Pituit.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39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3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Total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395F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Train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300" spc="-2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918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300" spc="-2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566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300" spc="-2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227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300" spc="-2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600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300" spc="-2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2,311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EDF1F6"/>
                    </a:solidFill>
                  </a:tcPr>
                </a:tc>
              </a:tr>
              <a:tr h="389890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300" spc="-2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Val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300" spc="-2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196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300" spc="-2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122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300" spc="-2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46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300" spc="-2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128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300" spc="-2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492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300" spc="-2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Test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300" spc="-2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196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300" spc="-2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122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300" spc="-2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46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300" spc="-2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128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300" spc="-2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492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1F6"/>
                    </a:solidFill>
                  </a:tcPr>
                </a:tc>
              </a:tr>
            </a:tbl>
          </a:graphicData>
        </a:graphic>
      </p:graphicFrame>
      <p:pic>
        <p:nvPicPr>
          <p:cNvPr id="5" name="object 5" descr="original_near_duplicate_pairs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66559" y="3227832"/>
            <a:ext cx="4937759" cy="905256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448055" y="4745735"/>
            <a:ext cx="11267440" cy="1529080"/>
            <a:chOff x="448055" y="4745735"/>
            <a:chExt cx="11267440" cy="1529080"/>
          </a:xfrm>
        </p:grpSpPr>
        <p:sp>
          <p:nvSpPr>
            <p:cNvPr id="7" name="object 7"/>
            <p:cNvSpPr/>
            <p:nvPr/>
          </p:nvSpPr>
          <p:spPr>
            <a:xfrm>
              <a:off x="457961" y="4755641"/>
              <a:ext cx="11247120" cy="1508760"/>
            </a:xfrm>
            <a:custGeom>
              <a:avLst/>
              <a:gdLst/>
              <a:ahLst/>
              <a:cxnLst/>
              <a:rect l="l" t="t" r="r" b="b"/>
              <a:pathLst>
                <a:path w="11247120" h="1508760">
                  <a:moveTo>
                    <a:pt x="11186794" y="0"/>
                  </a:moveTo>
                  <a:lnTo>
                    <a:pt x="60350" y="0"/>
                  </a:lnTo>
                  <a:lnTo>
                    <a:pt x="36861" y="4746"/>
                  </a:lnTo>
                  <a:lnTo>
                    <a:pt x="17678" y="17684"/>
                  </a:lnTo>
                  <a:lnTo>
                    <a:pt x="4743" y="36861"/>
                  </a:lnTo>
                  <a:lnTo>
                    <a:pt x="0" y="60324"/>
                  </a:lnTo>
                  <a:lnTo>
                    <a:pt x="0" y="1448409"/>
                  </a:lnTo>
                  <a:lnTo>
                    <a:pt x="4743" y="1471898"/>
                  </a:lnTo>
                  <a:lnTo>
                    <a:pt x="17678" y="1491081"/>
                  </a:lnTo>
                  <a:lnTo>
                    <a:pt x="36861" y="1504016"/>
                  </a:lnTo>
                  <a:lnTo>
                    <a:pt x="60350" y="1508759"/>
                  </a:lnTo>
                  <a:lnTo>
                    <a:pt x="11186794" y="1508759"/>
                  </a:lnTo>
                  <a:lnTo>
                    <a:pt x="11210258" y="1504016"/>
                  </a:lnTo>
                  <a:lnTo>
                    <a:pt x="11229435" y="1491081"/>
                  </a:lnTo>
                  <a:lnTo>
                    <a:pt x="11242373" y="1471898"/>
                  </a:lnTo>
                  <a:lnTo>
                    <a:pt x="11247119" y="1448409"/>
                  </a:lnTo>
                  <a:lnTo>
                    <a:pt x="11247119" y="60324"/>
                  </a:lnTo>
                  <a:lnTo>
                    <a:pt x="11242373" y="36861"/>
                  </a:lnTo>
                  <a:lnTo>
                    <a:pt x="11229435" y="17684"/>
                  </a:lnTo>
                  <a:lnTo>
                    <a:pt x="11210258" y="4746"/>
                  </a:lnTo>
                  <a:lnTo>
                    <a:pt x="11186794" y="0"/>
                  </a:lnTo>
                  <a:close/>
                </a:path>
              </a:pathLst>
            </a:custGeom>
            <a:solidFill>
              <a:srgbClr val="FCF0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57961" y="4755641"/>
              <a:ext cx="11247120" cy="1508760"/>
            </a:xfrm>
            <a:custGeom>
              <a:avLst/>
              <a:gdLst/>
              <a:ahLst/>
              <a:cxnLst/>
              <a:rect l="l" t="t" r="r" b="b"/>
              <a:pathLst>
                <a:path w="11247120" h="1508760">
                  <a:moveTo>
                    <a:pt x="0" y="60324"/>
                  </a:moveTo>
                  <a:lnTo>
                    <a:pt x="4743" y="36861"/>
                  </a:lnTo>
                  <a:lnTo>
                    <a:pt x="17678" y="17684"/>
                  </a:lnTo>
                  <a:lnTo>
                    <a:pt x="36861" y="4746"/>
                  </a:lnTo>
                  <a:lnTo>
                    <a:pt x="60350" y="0"/>
                  </a:lnTo>
                  <a:lnTo>
                    <a:pt x="11186794" y="0"/>
                  </a:lnTo>
                  <a:lnTo>
                    <a:pt x="11210258" y="4746"/>
                  </a:lnTo>
                  <a:lnTo>
                    <a:pt x="11229435" y="17684"/>
                  </a:lnTo>
                  <a:lnTo>
                    <a:pt x="11242373" y="36861"/>
                  </a:lnTo>
                  <a:lnTo>
                    <a:pt x="11247119" y="60324"/>
                  </a:lnTo>
                  <a:lnTo>
                    <a:pt x="11247119" y="1448409"/>
                  </a:lnTo>
                  <a:lnTo>
                    <a:pt x="11242373" y="1471898"/>
                  </a:lnTo>
                  <a:lnTo>
                    <a:pt x="11229435" y="1491081"/>
                  </a:lnTo>
                  <a:lnTo>
                    <a:pt x="11210258" y="1504016"/>
                  </a:lnTo>
                  <a:lnTo>
                    <a:pt x="11186794" y="1508759"/>
                  </a:lnTo>
                  <a:lnTo>
                    <a:pt x="60350" y="1508759"/>
                  </a:lnTo>
                  <a:lnTo>
                    <a:pt x="36861" y="1504016"/>
                  </a:lnTo>
                  <a:lnTo>
                    <a:pt x="17678" y="1491081"/>
                  </a:lnTo>
                  <a:lnTo>
                    <a:pt x="4743" y="1471898"/>
                  </a:lnTo>
                  <a:lnTo>
                    <a:pt x="0" y="1448409"/>
                  </a:lnTo>
                  <a:lnTo>
                    <a:pt x="0" y="60324"/>
                  </a:lnTo>
                  <a:close/>
                </a:path>
              </a:pathLst>
            </a:custGeom>
            <a:ln w="19812">
              <a:solidFill>
                <a:srgbClr val="C889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571906" y="4378833"/>
            <a:ext cx="10955020" cy="13614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304915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545F6F"/>
                </a:solidFill>
                <a:latin typeface="Calibri"/>
                <a:cs typeface="Calibri"/>
              </a:rPr>
              <a:t>Testing</a:t>
            </a:r>
            <a:r>
              <a:rPr dirty="0" sz="1000" spc="-10">
                <a:solidFill>
                  <a:srgbClr val="545F6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45F6F"/>
                </a:solidFill>
                <a:latin typeface="Calibri"/>
                <a:cs typeface="Calibri"/>
              </a:rPr>
              <a:t>images</a:t>
            </a:r>
            <a:r>
              <a:rPr dirty="0" sz="1000" spc="-25">
                <a:solidFill>
                  <a:srgbClr val="545F6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45F6F"/>
                </a:solidFill>
                <a:latin typeface="Calibri"/>
                <a:cs typeface="Calibri"/>
              </a:rPr>
              <a:t>(top)</a:t>
            </a:r>
            <a:r>
              <a:rPr dirty="0" sz="1000" spc="-40">
                <a:solidFill>
                  <a:srgbClr val="545F6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45F6F"/>
                </a:solidFill>
                <a:latin typeface="Calibri"/>
                <a:cs typeface="Calibri"/>
              </a:rPr>
              <a:t>vs</a:t>
            </a:r>
            <a:r>
              <a:rPr dirty="0" sz="1000" spc="-20">
                <a:solidFill>
                  <a:srgbClr val="545F6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45F6F"/>
                </a:solidFill>
                <a:latin typeface="Calibri"/>
                <a:cs typeface="Calibri"/>
              </a:rPr>
              <a:t>their</a:t>
            </a:r>
            <a:r>
              <a:rPr dirty="0" sz="1000" spc="-30">
                <a:solidFill>
                  <a:srgbClr val="545F6F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545F6F"/>
                </a:solidFill>
                <a:latin typeface="Calibri"/>
                <a:cs typeface="Calibri"/>
              </a:rPr>
              <a:t>Training</a:t>
            </a:r>
            <a:r>
              <a:rPr dirty="0" sz="1000" spc="-25">
                <a:solidFill>
                  <a:srgbClr val="545F6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45F6F"/>
                </a:solidFill>
                <a:latin typeface="Calibri"/>
                <a:cs typeface="Calibri"/>
              </a:rPr>
              <a:t>copies</a:t>
            </a:r>
            <a:r>
              <a:rPr dirty="0" sz="1000" spc="-35">
                <a:solidFill>
                  <a:srgbClr val="545F6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45F6F"/>
                </a:solidFill>
                <a:latin typeface="Calibri"/>
                <a:cs typeface="Calibri"/>
              </a:rPr>
              <a:t>(bottom);</a:t>
            </a:r>
            <a:r>
              <a:rPr dirty="0" sz="1000" spc="-35">
                <a:solidFill>
                  <a:srgbClr val="545F6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45F6F"/>
                </a:solidFill>
                <a:latin typeface="Calibri"/>
                <a:cs typeface="Calibri"/>
              </a:rPr>
              <a:t>CC</a:t>
            </a:r>
            <a:r>
              <a:rPr dirty="0" sz="1000" spc="-20">
                <a:solidFill>
                  <a:srgbClr val="545F6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45F6F"/>
                </a:solidFill>
                <a:latin typeface="Calibri"/>
                <a:cs typeface="Calibri"/>
              </a:rPr>
              <a:t>BY</a:t>
            </a:r>
            <a:r>
              <a:rPr dirty="0" sz="1000" spc="-20">
                <a:solidFill>
                  <a:srgbClr val="545F6F"/>
                </a:solidFill>
                <a:latin typeface="Calibri"/>
                <a:cs typeface="Calibri"/>
              </a:rPr>
              <a:t> 4.0.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30"/>
              </a:spcBef>
            </a:pP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solidFill>
                  <a:srgbClr val="13203C"/>
                </a:solidFill>
                <a:latin typeface="Calibri"/>
                <a:cs typeface="Calibri"/>
              </a:rPr>
              <a:t>Residual</a:t>
            </a:r>
            <a:r>
              <a:rPr dirty="0" sz="1400" spc="-75" b="1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13203C"/>
                </a:solidFill>
                <a:latin typeface="Calibri"/>
                <a:cs typeface="Calibri"/>
              </a:rPr>
              <a:t>uncertainty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No</a:t>
            </a:r>
            <a:r>
              <a:rPr dirty="0" sz="13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patient</a:t>
            </a:r>
            <a:r>
              <a:rPr dirty="0" sz="13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identifiers:</a:t>
            </a:r>
            <a:r>
              <a:rPr dirty="0" sz="13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3203C"/>
                </a:solidFill>
                <a:latin typeface="Calibri"/>
                <a:cs typeface="Calibri"/>
              </a:rPr>
              <a:t>different</a:t>
            </a:r>
            <a:r>
              <a:rPr dirty="0" sz="13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slices</a:t>
            </a:r>
            <a:r>
              <a:rPr dirty="0" sz="13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of</a:t>
            </a:r>
            <a:r>
              <a:rPr dirty="0" sz="13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the</a:t>
            </a:r>
            <a:r>
              <a:rPr dirty="0" sz="13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same</a:t>
            </a:r>
            <a:r>
              <a:rPr dirty="0" sz="13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patient</a:t>
            </a:r>
            <a:r>
              <a:rPr dirty="0" sz="13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cannot</a:t>
            </a:r>
            <a:r>
              <a:rPr dirty="0" sz="13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be</a:t>
            </a:r>
            <a:r>
              <a:rPr dirty="0" sz="13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detected,</a:t>
            </a:r>
            <a:r>
              <a:rPr dirty="0" sz="13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so</a:t>
            </a:r>
            <a:r>
              <a:rPr dirty="0" sz="13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3203C"/>
                </a:solidFill>
                <a:latin typeface="Calibri"/>
                <a:cs typeface="Calibri"/>
              </a:rPr>
              <a:t>patient-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level</a:t>
            </a:r>
            <a:r>
              <a:rPr dirty="0" sz="1300" spc="-1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independence</a:t>
            </a:r>
            <a:r>
              <a:rPr dirty="0" sz="13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is</a:t>
            </a:r>
            <a:r>
              <a:rPr dirty="0" sz="13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NOT</a:t>
            </a:r>
            <a:r>
              <a:rPr dirty="0" sz="13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3203C"/>
                </a:solidFill>
                <a:latin typeface="Calibri"/>
                <a:cs typeface="Calibri"/>
              </a:rPr>
              <a:t>proven.</a:t>
            </a:r>
            <a:r>
              <a:rPr dirty="0" sz="13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3203C"/>
                </a:solidFill>
                <a:latin typeface="Calibri"/>
                <a:cs typeface="Calibri"/>
              </a:rPr>
              <a:t>Near-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duplicate</a:t>
            </a:r>
            <a:r>
              <a:rPr dirty="0" sz="13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detection</a:t>
            </a:r>
            <a:r>
              <a:rPr dirty="0" sz="13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is</a:t>
            </a:r>
            <a:r>
              <a:rPr dirty="0" sz="13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a</a:t>
            </a:r>
            <a:r>
              <a:rPr dirty="0" sz="13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3203C"/>
                </a:solidFill>
                <a:latin typeface="Calibri"/>
                <a:cs typeface="Calibri"/>
              </a:rPr>
              <a:t>heuristic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and</a:t>
            </a:r>
            <a:r>
              <a:rPr dirty="0" sz="13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may</a:t>
            </a:r>
            <a:r>
              <a:rPr dirty="0" sz="13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miss</a:t>
            </a:r>
            <a:r>
              <a:rPr dirty="0" sz="13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rescaled</a:t>
            </a:r>
            <a:r>
              <a:rPr dirty="0" sz="13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3203C"/>
                </a:solidFill>
                <a:latin typeface="Calibri"/>
                <a:cs typeface="Calibri"/>
              </a:rPr>
              <a:t>copies.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Cost:</a:t>
            </a:r>
            <a:r>
              <a:rPr dirty="0" sz="13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only</a:t>
            </a:r>
            <a:r>
              <a:rPr dirty="0" sz="13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3,295</a:t>
            </a:r>
            <a:r>
              <a:rPr dirty="0" sz="1300" spc="-1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of</a:t>
            </a:r>
            <a:r>
              <a:rPr dirty="0" sz="13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7,200</a:t>
            </a:r>
            <a:r>
              <a:rPr dirty="0" sz="1300" spc="-1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images</a:t>
            </a:r>
            <a:r>
              <a:rPr dirty="0" sz="13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usable;</a:t>
            </a:r>
            <a:r>
              <a:rPr dirty="0" sz="1300" spc="-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3203C"/>
                </a:solidFill>
                <a:latin typeface="Calibri"/>
                <a:cs typeface="Calibri"/>
              </a:rPr>
              <a:t>no-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tumour has</a:t>
            </a:r>
            <a:r>
              <a:rPr dirty="0" sz="13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227</a:t>
            </a:r>
            <a:r>
              <a:rPr dirty="0" sz="13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training</a:t>
            </a:r>
            <a:r>
              <a:rPr dirty="0" sz="13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and</a:t>
            </a:r>
            <a:r>
              <a:rPr dirty="0" sz="1300" spc="-1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46</a:t>
            </a:r>
            <a:r>
              <a:rPr dirty="0" sz="13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test</a:t>
            </a:r>
            <a:r>
              <a:rPr dirty="0" sz="1300" spc="-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3203C"/>
                </a:solidFill>
                <a:latin typeface="Calibri"/>
                <a:cs typeface="Calibri"/>
              </a:rPr>
              <a:t>images.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 spc="-10"/>
              <a:t>NeuroVision</a:t>
            </a:r>
            <a:r>
              <a:rPr dirty="0" spc="-20"/>
              <a:t> </a:t>
            </a:r>
            <a:r>
              <a:rPr dirty="0"/>
              <a:t>AI</a:t>
            </a:r>
            <a:r>
              <a:rPr dirty="0" spc="195"/>
              <a:t> </a:t>
            </a:r>
            <a:r>
              <a:rPr dirty="0"/>
              <a:t>|</a:t>
            </a:r>
            <a:r>
              <a:rPr dirty="0" spc="200"/>
              <a:t> </a:t>
            </a:r>
            <a:r>
              <a:rPr dirty="0"/>
              <a:t>Brain</a:t>
            </a:r>
            <a:r>
              <a:rPr dirty="0" spc="-15"/>
              <a:t> </a:t>
            </a:r>
            <a:r>
              <a:rPr dirty="0"/>
              <a:t>Tumor</a:t>
            </a:r>
            <a:r>
              <a:rPr dirty="0" spc="-15"/>
              <a:t> </a:t>
            </a:r>
            <a:r>
              <a:rPr dirty="0"/>
              <a:t>MRI</a:t>
            </a:r>
            <a:r>
              <a:rPr dirty="0" spc="-25"/>
              <a:t> </a:t>
            </a:r>
            <a:r>
              <a:rPr dirty="0"/>
              <a:t>Generation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/>
              <a:t>Classification</a:t>
            </a:r>
            <a:r>
              <a:rPr dirty="0" spc="195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Ajai</a:t>
            </a:r>
            <a:r>
              <a:rPr dirty="0" spc="-30"/>
              <a:t> </a:t>
            </a:r>
            <a:r>
              <a:rPr dirty="0"/>
              <a:t>Kumar N</a:t>
            </a:r>
            <a:r>
              <a:rPr dirty="0" spc="-10"/>
              <a:t> </a:t>
            </a:r>
            <a:r>
              <a:rPr dirty="0"/>
              <a:t>(URK23CS5064)</a:t>
            </a:r>
            <a:r>
              <a:rPr dirty="0" spc="245"/>
              <a:t> </a:t>
            </a:r>
            <a:r>
              <a:rPr dirty="0"/>
              <a:t>|</a:t>
            </a:r>
            <a:r>
              <a:rPr dirty="0" spc="204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Proposed</a:t>
            </a:r>
            <a:r>
              <a:rPr dirty="0" spc="-85"/>
              <a:t> </a:t>
            </a:r>
            <a:r>
              <a:rPr dirty="0"/>
              <a:t>methodology</a:t>
            </a:r>
            <a:r>
              <a:rPr dirty="0" spc="-70"/>
              <a:t> </a:t>
            </a:r>
            <a:r>
              <a:rPr dirty="0"/>
              <a:t>and</a:t>
            </a:r>
            <a:r>
              <a:rPr dirty="0" spc="-90"/>
              <a:t> </a:t>
            </a:r>
            <a:r>
              <a:rPr dirty="0" spc="-10"/>
              <a:t>experiment</a:t>
            </a:r>
            <a:r>
              <a:rPr dirty="0" spc="-60"/>
              <a:t> </a:t>
            </a:r>
            <a:r>
              <a:rPr dirty="0" spc="-10"/>
              <a:t>pipeline</a:t>
            </a:r>
          </a:p>
        </p:txBody>
      </p:sp>
      <p:pic>
        <p:nvPicPr>
          <p:cNvPr id="3" name="object 3" descr="fig_research_workflow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2063" y="1051560"/>
            <a:ext cx="5102352" cy="534924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132957" y="1218946"/>
            <a:ext cx="5541645" cy="34093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98120" indent="193040">
              <a:lnSpc>
                <a:spcPct val="100000"/>
              </a:lnSpc>
              <a:spcBef>
                <a:spcPts val="95"/>
              </a:spcBef>
              <a:buChar char="•"/>
              <a:tabLst>
                <a:tab pos="205740" algn="l"/>
              </a:tabLst>
            </a:pP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All</a:t>
            </a:r>
            <a:r>
              <a:rPr dirty="0" sz="16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three</a:t>
            </a:r>
            <a:r>
              <a:rPr dirty="0" sz="16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GANs</a:t>
            </a:r>
            <a:r>
              <a:rPr dirty="0" sz="16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train</a:t>
            </a:r>
            <a:r>
              <a:rPr dirty="0" sz="16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on</a:t>
            </a:r>
            <a:r>
              <a:rPr dirty="0" sz="16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the</a:t>
            </a:r>
            <a:r>
              <a:rPr dirty="0" sz="1600" spc="-20">
                <a:solidFill>
                  <a:srgbClr val="13203C"/>
                </a:solidFill>
                <a:latin typeface="Calibri"/>
                <a:cs typeface="Calibri"/>
              </a:rPr>
              <a:t> 2,311-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image</a:t>
            </a:r>
            <a:r>
              <a:rPr dirty="0" sz="16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training</a:t>
            </a:r>
            <a:r>
              <a:rPr dirty="0" sz="16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partition</a:t>
            </a:r>
            <a:r>
              <a:rPr dirty="0" sz="16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13203C"/>
                </a:solidFill>
                <a:latin typeface="Calibri"/>
                <a:cs typeface="Calibri"/>
              </a:rPr>
              <a:t>only </a:t>
            </a:r>
            <a:r>
              <a:rPr dirty="0" sz="1600" spc="-10">
                <a:solidFill>
                  <a:srgbClr val="13203C"/>
                </a:solidFill>
                <a:latin typeface="Calibri"/>
                <a:cs typeface="Calibri"/>
              </a:rPr>
              <a:t>(hash-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verified):</a:t>
            </a:r>
            <a:r>
              <a:rPr dirty="0" sz="16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64×64</a:t>
            </a:r>
            <a:r>
              <a:rPr dirty="0" sz="1600" spc="-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3203C"/>
                </a:solidFill>
                <a:latin typeface="Calibri"/>
                <a:cs typeface="Calibri"/>
              </a:rPr>
              <a:t>grayscale,</a:t>
            </a:r>
            <a:r>
              <a:rPr dirty="0" sz="1600" spc="-5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batch</a:t>
            </a:r>
            <a:r>
              <a:rPr dirty="0" sz="1600" spc="-5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16,</a:t>
            </a:r>
            <a:r>
              <a:rPr dirty="0" sz="16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seed</a:t>
            </a:r>
            <a:r>
              <a:rPr dirty="0" sz="16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42,</a:t>
            </a:r>
            <a:r>
              <a:rPr dirty="0" sz="16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3203C"/>
                </a:solidFill>
                <a:latin typeface="Calibri"/>
                <a:cs typeface="Calibri"/>
              </a:rPr>
              <a:t>3,000 generator</a:t>
            </a:r>
            <a:r>
              <a:rPr dirty="0" sz="16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3203C"/>
                </a:solidFill>
                <a:latin typeface="Calibri"/>
                <a:cs typeface="Calibri"/>
              </a:rPr>
              <a:t>updates.</a:t>
            </a:r>
            <a:endParaRPr sz="1600">
              <a:latin typeface="Calibri"/>
              <a:cs typeface="Calibri"/>
            </a:endParaRPr>
          </a:p>
          <a:p>
            <a:pPr marL="12700" marR="332740" indent="193040">
              <a:lnSpc>
                <a:spcPct val="100000"/>
              </a:lnSpc>
              <a:spcBef>
                <a:spcPts val="900"/>
              </a:spcBef>
              <a:buChar char="•"/>
              <a:tabLst>
                <a:tab pos="205740" algn="l"/>
              </a:tabLst>
            </a:pP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FID</a:t>
            </a:r>
            <a:r>
              <a:rPr dirty="0" sz="16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/</a:t>
            </a:r>
            <a:r>
              <a:rPr dirty="0" sz="16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KID:</a:t>
            </a:r>
            <a:r>
              <a:rPr dirty="0" sz="16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13203C"/>
                </a:solidFill>
                <a:latin typeface="Calibri"/>
                <a:cs typeface="Calibri"/>
              </a:rPr>
              <a:t>torch-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fidelity</a:t>
            </a:r>
            <a:r>
              <a:rPr dirty="0" sz="16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3203C"/>
                </a:solidFill>
                <a:latin typeface="Calibri"/>
                <a:cs typeface="Calibri"/>
              </a:rPr>
              <a:t>Inception-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v3</a:t>
            </a:r>
            <a:r>
              <a:rPr dirty="0" sz="16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pool3,</a:t>
            </a:r>
            <a:r>
              <a:rPr dirty="0" sz="16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492</a:t>
            </a:r>
            <a:r>
              <a:rPr dirty="0" sz="1600" spc="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3203C"/>
                </a:solidFill>
                <a:latin typeface="Calibri"/>
                <a:cs typeface="Calibri"/>
              </a:rPr>
              <a:t>generated</a:t>
            </a:r>
            <a:r>
              <a:rPr dirty="0" sz="16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13203C"/>
                </a:solidFill>
                <a:latin typeface="Calibri"/>
                <a:cs typeface="Calibri"/>
              </a:rPr>
              <a:t>vs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492</a:t>
            </a:r>
            <a:r>
              <a:rPr dirty="0" sz="16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real</a:t>
            </a:r>
            <a:r>
              <a:rPr dirty="0" sz="16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test</a:t>
            </a:r>
            <a:r>
              <a:rPr dirty="0" sz="16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images</a:t>
            </a:r>
            <a:r>
              <a:rPr dirty="0" sz="16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per</a:t>
            </a:r>
            <a:r>
              <a:rPr dirty="0" sz="16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seed,</a:t>
            </a:r>
            <a:r>
              <a:rPr dirty="0" sz="16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3</a:t>
            </a:r>
            <a:r>
              <a:rPr dirty="0" sz="16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3203C"/>
                </a:solidFill>
                <a:latin typeface="Calibri"/>
                <a:cs typeface="Calibri"/>
              </a:rPr>
              <a:t>generation</a:t>
            </a:r>
            <a:r>
              <a:rPr dirty="0" sz="16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seeds,</a:t>
            </a:r>
            <a:r>
              <a:rPr dirty="0" sz="16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KID</a:t>
            </a:r>
            <a:r>
              <a:rPr dirty="0" sz="16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=</a:t>
            </a:r>
            <a:r>
              <a:rPr dirty="0" sz="16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13203C"/>
                </a:solidFill>
                <a:latin typeface="Calibri"/>
                <a:cs typeface="Calibri"/>
              </a:rPr>
              <a:t>100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subsets</a:t>
            </a:r>
            <a:r>
              <a:rPr dirty="0" sz="16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of</a:t>
            </a:r>
            <a:r>
              <a:rPr dirty="0" sz="1600" spc="-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300,</a:t>
            </a:r>
            <a:r>
              <a:rPr dirty="0" sz="1600" spc="-1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plus</a:t>
            </a:r>
            <a:r>
              <a:rPr dirty="0" sz="16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a</a:t>
            </a:r>
            <a:r>
              <a:rPr dirty="0" sz="16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13203C"/>
                </a:solidFill>
                <a:latin typeface="Calibri"/>
                <a:cs typeface="Calibri"/>
              </a:rPr>
              <a:t>real-</a:t>
            </a:r>
            <a:r>
              <a:rPr dirty="0" sz="1600" spc="-10">
                <a:solidFill>
                  <a:srgbClr val="13203C"/>
                </a:solidFill>
                <a:latin typeface="Calibri"/>
                <a:cs typeface="Calibri"/>
              </a:rPr>
              <a:t>vs-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real</a:t>
            </a:r>
            <a:r>
              <a:rPr dirty="0" sz="1600" spc="-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3203C"/>
                </a:solidFill>
                <a:latin typeface="Calibri"/>
                <a:cs typeface="Calibri"/>
              </a:rPr>
              <a:t>floor.</a:t>
            </a:r>
            <a:endParaRPr sz="1600">
              <a:latin typeface="Calibri"/>
              <a:cs typeface="Calibri"/>
            </a:endParaRPr>
          </a:p>
          <a:p>
            <a:pPr marL="12700" marR="5080" indent="193040">
              <a:lnSpc>
                <a:spcPct val="100000"/>
              </a:lnSpc>
              <a:spcBef>
                <a:spcPts val="905"/>
              </a:spcBef>
              <a:buChar char="•"/>
              <a:tabLst>
                <a:tab pos="205740" algn="l"/>
              </a:tabLst>
            </a:pPr>
            <a:r>
              <a:rPr dirty="0" sz="1600" spc="-10">
                <a:solidFill>
                  <a:srgbClr val="13203C"/>
                </a:solidFill>
                <a:latin typeface="Calibri"/>
                <a:cs typeface="Calibri"/>
              </a:rPr>
              <a:t>Downstream</a:t>
            </a:r>
            <a:r>
              <a:rPr dirty="0" sz="16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CNN</a:t>
            </a:r>
            <a:r>
              <a:rPr dirty="0" sz="16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(4</a:t>
            </a:r>
            <a:r>
              <a:rPr dirty="0" sz="16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conv</a:t>
            </a:r>
            <a:r>
              <a:rPr dirty="0" sz="16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blocks,</a:t>
            </a:r>
            <a:r>
              <a:rPr dirty="0" sz="16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15</a:t>
            </a:r>
            <a:r>
              <a:rPr dirty="0" sz="16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epochs,</a:t>
            </a:r>
            <a:r>
              <a:rPr dirty="0" sz="16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3</a:t>
            </a:r>
            <a:r>
              <a:rPr dirty="0" sz="16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seeds):</a:t>
            </a:r>
            <a:r>
              <a:rPr dirty="0" sz="16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A</a:t>
            </a:r>
            <a:r>
              <a:rPr dirty="0" sz="16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13203C"/>
                </a:solidFill>
                <a:latin typeface="Calibri"/>
                <a:cs typeface="Calibri"/>
              </a:rPr>
              <a:t>real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only;</a:t>
            </a:r>
            <a:r>
              <a:rPr dirty="0" sz="16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B</a:t>
            </a:r>
            <a:r>
              <a:rPr dirty="0" sz="16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real</a:t>
            </a:r>
            <a:r>
              <a:rPr dirty="0" sz="16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+</a:t>
            </a:r>
            <a:r>
              <a:rPr dirty="0" sz="16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2,888</a:t>
            </a:r>
            <a:r>
              <a:rPr dirty="0" sz="1600" spc="-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13203C"/>
                </a:solidFill>
                <a:latin typeface="Calibri"/>
                <a:cs typeface="Calibri"/>
              </a:rPr>
              <a:t>cWGAN-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GP</a:t>
            </a:r>
            <a:r>
              <a:rPr dirty="0" sz="16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images;</a:t>
            </a:r>
            <a:r>
              <a:rPr dirty="0" sz="16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C</a:t>
            </a:r>
            <a:r>
              <a:rPr dirty="0" sz="16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real</a:t>
            </a:r>
            <a:r>
              <a:rPr dirty="0" sz="16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3203C"/>
                </a:solidFill>
                <a:latin typeface="Calibri"/>
                <a:cs typeface="Calibri"/>
              </a:rPr>
              <a:t>resampled</a:t>
            </a:r>
            <a:r>
              <a:rPr dirty="0" sz="16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to</a:t>
            </a:r>
            <a:r>
              <a:rPr dirty="0" sz="16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3203C"/>
                </a:solidFill>
                <a:latin typeface="Calibri"/>
                <a:cs typeface="Calibri"/>
              </a:rPr>
              <a:t>B’s</a:t>
            </a:r>
            <a:r>
              <a:rPr dirty="0" sz="16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13203C"/>
                </a:solidFill>
                <a:latin typeface="Calibri"/>
                <a:cs typeface="Calibri"/>
              </a:rPr>
              <a:t>size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and</a:t>
            </a:r>
            <a:r>
              <a:rPr dirty="0" sz="16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class</a:t>
            </a:r>
            <a:r>
              <a:rPr dirty="0" sz="16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13203C"/>
                </a:solidFill>
                <a:latin typeface="Calibri"/>
                <a:cs typeface="Calibri"/>
              </a:rPr>
              <a:t>mix.</a:t>
            </a:r>
            <a:endParaRPr sz="1600">
              <a:latin typeface="Calibri"/>
              <a:cs typeface="Calibri"/>
            </a:endParaRPr>
          </a:p>
          <a:p>
            <a:pPr marL="12700" marR="152400" indent="193040">
              <a:lnSpc>
                <a:spcPct val="100000"/>
              </a:lnSpc>
              <a:spcBef>
                <a:spcPts val="900"/>
              </a:spcBef>
              <a:buChar char="•"/>
              <a:tabLst>
                <a:tab pos="205740" algn="l"/>
              </a:tabLst>
            </a:pP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Why</a:t>
            </a:r>
            <a:r>
              <a:rPr dirty="0" sz="16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C</a:t>
            </a:r>
            <a:r>
              <a:rPr dirty="0" sz="16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3203C"/>
                </a:solidFill>
                <a:latin typeface="Calibri"/>
                <a:cs typeface="Calibri"/>
              </a:rPr>
              <a:t>matters:</a:t>
            </a:r>
            <a:r>
              <a:rPr dirty="0" sz="16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it</a:t>
            </a:r>
            <a:r>
              <a:rPr dirty="0" sz="16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3203C"/>
                </a:solidFill>
                <a:latin typeface="Calibri"/>
                <a:cs typeface="Calibri"/>
              </a:rPr>
              <a:t>controls training-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set</a:t>
            </a:r>
            <a:r>
              <a:rPr dirty="0" sz="16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size,</a:t>
            </a:r>
            <a:r>
              <a:rPr dirty="0" sz="16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so</a:t>
            </a:r>
            <a:r>
              <a:rPr dirty="0" sz="1600" spc="-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only</a:t>
            </a:r>
            <a:r>
              <a:rPr dirty="0" sz="16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B</a:t>
            </a:r>
            <a:r>
              <a:rPr dirty="0" sz="16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&gt;</a:t>
            </a:r>
            <a:r>
              <a:rPr dirty="0" sz="16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C</a:t>
            </a:r>
            <a:r>
              <a:rPr dirty="0" sz="16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3203C"/>
                </a:solidFill>
                <a:latin typeface="Calibri"/>
                <a:cs typeface="Calibri"/>
              </a:rPr>
              <a:t>would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indicate</a:t>
            </a:r>
            <a:r>
              <a:rPr dirty="0" sz="1600" spc="-6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a</a:t>
            </a:r>
            <a:r>
              <a:rPr dirty="0" sz="1600" spc="-5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benefit</a:t>
            </a:r>
            <a:r>
              <a:rPr dirty="0" sz="16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specific</a:t>
            </a:r>
            <a:r>
              <a:rPr dirty="0" sz="1600" spc="-5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to</a:t>
            </a:r>
            <a:r>
              <a:rPr dirty="0" sz="16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3203C"/>
                </a:solidFill>
                <a:latin typeface="Calibri"/>
                <a:cs typeface="Calibri"/>
              </a:rPr>
              <a:t>synthetic</a:t>
            </a:r>
            <a:r>
              <a:rPr dirty="0" sz="1600" spc="-5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3203C"/>
                </a:solidFill>
                <a:latin typeface="Calibri"/>
                <a:cs typeface="Calibri"/>
              </a:rPr>
              <a:t>images.</a:t>
            </a:r>
            <a:endParaRPr sz="1600">
              <a:latin typeface="Calibri"/>
              <a:cs typeface="Calibri"/>
            </a:endParaRPr>
          </a:p>
          <a:p>
            <a:pPr marL="205740" indent="-193040">
              <a:lnSpc>
                <a:spcPct val="100000"/>
              </a:lnSpc>
              <a:spcBef>
                <a:spcPts val="900"/>
              </a:spcBef>
              <a:buChar char="•"/>
              <a:tabLst>
                <a:tab pos="205740" algn="l"/>
              </a:tabLst>
            </a:pPr>
            <a:r>
              <a:rPr dirty="0" sz="1600" spc="-10">
                <a:solidFill>
                  <a:srgbClr val="13203C"/>
                </a:solidFill>
                <a:latin typeface="Calibri"/>
                <a:cs typeface="Calibri"/>
              </a:rPr>
              <a:t>Hardware:</a:t>
            </a:r>
            <a:r>
              <a:rPr dirty="0" sz="16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Apple</a:t>
            </a:r>
            <a:r>
              <a:rPr dirty="0" sz="16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M4</a:t>
            </a:r>
            <a:r>
              <a:rPr dirty="0" sz="16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MacBook</a:t>
            </a:r>
            <a:r>
              <a:rPr dirty="0" sz="1600" spc="-1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13203C"/>
                </a:solidFill>
                <a:latin typeface="Calibri"/>
                <a:cs typeface="Calibri"/>
              </a:rPr>
              <a:t>Air,</a:t>
            </a:r>
            <a:r>
              <a:rPr dirty="0" sz="16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13203C"/>
                </a:solidFill>
                <a:latin typeface="Calibri"/>
                <a:cs typeface="Calibri"/>
              </a:rPr>
              <a:t>PyTorch</a:t>
            </a:r>
            <a:r>
              <a:rPr dirty="0" sz="16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3203C"/>
                </a:solidFill>
                <a:latin typeface="Calibri"/>
                <a:cs typeface="Calibri"/>
              </a:rPr>
              <a:t>on</a:t>
            </a:r>
            <a:r>
              <a:rPr dirty="0" sz="16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13203C"/>
                </a:solidFill>
                <a:latin typeface="Calibri"/>
                <a:cs typeface="Calibri"/>
              </a:rPr>
              <a:t>MPS.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 spc="-10"/>
              <a:t>NeuroVision</a:t>
            </a:r>
            <a:r>
              <a:rPr dirty="0" spc="-20"/>
              <a:t> </a:t>
            </a:r>
            <a:r>
              <a:rPr dirty="0"/>
              <a:t>AI</a:t>
            </a:r>
            <a:r>
              <a:rPr dirty="0" spc="195"/>
              <a:t> </a:t>
            </a:r>
            <a:r>
              <a:rPr dirty="0"/>
              <a:t>|</a:t>
            </a:r>
            <a:r>
              <a:rPr dirty="0" spc="200"/>
              <a:t> </a:t>
            </a:r>
            <a:r>
              <a:rPr dirty="0"/>
              <a:t>Brain</a:t>
            </a:r>
            <a:r>
              <a:rPr dirty="0" spc="-15"/>
              <a:t> </a:t>
            </a:r>
            <a:r>
              <a:rPr dirty="0"/>
              <a:t>Tumor</a:t>
            </a:r>
            <a:r>
              <a:rPr dirty="0" spc="-15"/>
              <a:t> </a:t>
            </a:r>
            <a:r>
              <a:rPr dirty="0"/>
              <a:t>MRI</a:t>
            </a:r>
            <a:r>
              <a:rPr dirty="0" spc="-25"/>
              <a:t> </a:t>
            </a:r>
            <a:r>
              <a:rPr dirty="0"/>
              <a:t>Generation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/>
              <a:t>Classification</a:t>
            </a:r>
            <a:r>
              <a:rPr dirty="0" spc="195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Ajai</a:t>
            </a:r>
            <a:r>
              <a:rPr dirty="0" spc="-30"/>
              <a:t> </a:t>
            </a:r>
            <a:r>
              <a:rPr dirty="0"/>
              <a:t>Kumar N</a:t>
            </a:r>
            <a:r>
              <a:rPr dirty="0" spc="-10"/>
              <a:t> </a:t>
            </a:r>
            <a:r>
              <a:rPr dirty="0"/>
              <a:t>(URK23CS5064)</a:t>
            </a:r>
            <a:r>
              <a:rPr dirty="0" spc="245"/>
              <a:t> </a:t>
            </a:r>
            <a:r>
              <a:rPr dirty="0"/>
              <a:t>|</a:t>
            </a:r>
            <a:r>
              <a:rPr dirty="0" spc="204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DCGAN</a:t>
            </a:r>
            <a:r>
              <a:rPr dirty="0" spc="-20"/>
              <a:t> </a:t>
            </a:r>
            <a:r>
              <a:rPr dirty="0"/>
              <a:t>vs</a:t>
            </a:r>
            <a:r>
              <a:rPr dirty="0" spc="-50"/>
              <a:t> </a:t>
            </a:r>
            <a:r>
              <a:rPr dirty="0" spc="-35"/>
              <a:t>WGAN-</a:t>
            </a:r>
            <a:r>
              <a:rPr dirty="0"/>
              <a:t>GP</a:t>
            </a:r>
            <a:r>
              <a:rPr dirty="0" spc="-10"/>
              <a:t> </a:t>
            </a:r>
            <a:r>
              <a:rPr dirty="0"/>
              <a:t>vs</a:t>
            </a:r>
            <a:r>
              <a:rPr dirty="0" spc="-50"/>
              <a:t> </a:t>
            </a:r>
            <a:r>
              <a:rPr dirty="0"/>
              <a:t>conditional</a:t>
            </a:r>
            <a:r>
              <a:rPr dirty="0" spc="-50"/>
              <a:t> </a:t>
            </a:r>
            <a:r>
              <a:rPr dirty="0" spc="-35"/>
              <a:t>WGAN-GP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50850" y="1136650"/>
          <a:ext cx="11336020" cy="3657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03120"/>
                <a:gridCol w="2926080"/>
                <a:gridCol w="2926079"/>
                <a:gridCol w="3291839"/>
              </a:tblGrid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395F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3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DCGAN</a:t>
                      </a:r>
                      <a:r>
                        <a:rPr dirty="0" sz="1300" spc="-4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[3]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395F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3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WGAN-</a:t>
                      </a:r>
                      <a:r>
                        <a:rPr dirty="0" sz="13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GP</a:t>
                      </a:r>
                      <a:r>
                        <a:rPr dirty="0" sz="1300" spc="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[4,</a:t>
                      </a:r>
                      <a:r>
                        <a:rPr dirty="0" sz="1300" spc="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5]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395F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3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cWGAN-</a:t>
                      </a:r>
                      <a:r>
                        <a:rPr dirty="0" sz="13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GP</a:t>
                      </a:r>
                      <a:r>
                        <a:rPr dirty="0" sz="1300" spc="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(proposed)</a:t>
                      </a:r>
                      <a:r>
                        <a:rPr dirty="0" sz="1300" spc="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[2,</a:t>
                      </a:r>
                      <a:r>
                        <a:rPr dirty="0" sz="1300" spc="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5,</a:t>
                      </a:r>
                      <a:r>
                        <a:rPr dirty="0" sz="1300" spc="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8]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395F"/>
                    </a:solidFill>
                  </a:tcPr>
                </a:tc>
              </a:tr>
              <a:tr h="502284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Generator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marL="64135" marR="826769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z</a:t>
                      </a:r>
                      <a:r>
                        <a:rPr dirty="0" sz="1300" spc="-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(100-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d)</a:t>
                      </a:r>
                      <a:r>
                        <a:rPr dirty="0" sz="1300" spc="2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1300" spc="-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transposed</a:t>
                      </a:r>
                      <a:r>
                        <a:rPr dirty="0" sz="1300" spc="2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convs,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BatchNorm,</a:t>
                      </a:r>
                      <a:r>
                        <a:rPr dirty="0" sz="1300" spc="-7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2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Tanh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300" spc="-2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Same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Label</a:t>
                      </a:r>
                      <a:r>
                        <a:rPr dirty="0" sz="1300" spc="-1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embedding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(50-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d)</a:t>
                      </a:r>
                      <a:r>
                        <a:rPr dirty="0" sz="1300" spc="-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concatenated</a:t>
                      </a:r>
                      <a:r>
                        <a:rPr dirty="0" sz="1300" spc="-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300" spc="-2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5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z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EDF1F6"/>
                    </a:solidFill>
                  </a:tcPr>
                </a:tc>
              </a:tr>
              <a:tr h="502284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Discriminator</a:t>
                      </a:r>
                      <a:r>
                        <a:rPr dirty="0" sz="1300" spc="3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/ 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critic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Conv</a:t>
                      </a:r>
                      <a:r>
                        <a:rPr dirty="0" sz="1300" spc="-4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dirty="0" sz="1300" spc="-4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BatchNorm,</a:t>
                      </a:r>
                      <a:r>
                        <a:rPr dirty="0" sz="1300" spc="-3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2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logit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300" spc="-2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Conv,</a:t>
                      </a:r>
                      <a:r>
                        <a:rPr dirty="0" sz="1300" spc="-5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no</a:t>
                      </a:r>
                      <a:r>
                        <a:rPr dirty="0" sz="1300" spc="-4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BatchNorm,</a:t>
                      </a:r>
                      <a:r>
                        <a:rPr dirty="0" sz="1300" spc="-4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scalar</a:t>
                      </a:r>
                      <a:r>
                        <a:rPr dirty="0" sz="1300" spc="-4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2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score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4769" marR="63436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Projection</a:t>
                      </a:r>
                      <a:r>
                        <a:rPr dirty="0" sz="1300" spc="-3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critic:</a:t>
                      </a:r>
                      <a:r>
                        <a:rPr dirty="0" sz="1300" spc="-5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ψ(h(x))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dirty="0" sz="1300" spc="-4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E(y)·h(x),</a:t>
                      </a:r>
                      <a:r>
                        <a:rPr dirty="0" sz="1300" spc="-3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2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no 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BatchNorm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Objective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Non-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saturating</a:t>
                      </a:r>
                      <a:r>
                        <a:rPr dirty="0" sz="1300" spc="-6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2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BCE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Wasserstein</a:t>
                      </a:r>
                      <a:r>
                        <a:rPr dirty="0" sz="1300" spc="1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dirty="0" sz="1300" spc="-2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gradient</a:t>
                      </a:r>
                      <a:r>
                        <a:rPr dirty="0" sz="1300" spc="-2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penalty</a:t>
                      </a:r>
                      <a:r>
                        <a:rPr dirty="0" sz="1300" spc="-2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(λ</a:t>
                      </a:r>
                      <a:r>
                        <a:rPr dirty="0" sz="1300" spc="-2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dirty="0" sz="1300" spc="-2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10)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Same</a:t>
                      </a:r>
                      <a:r>
                        <a:rPr dirty="0" sz="1300" spc="-1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loss;</a:t>
                      </a:r>
                      <a:r>
                        <a:rPr dirty="0" sz="1300" spc="-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real</a:t>
                      </a:r>
                      <a:r>
                        <a:rPr dirty="0" sz="1300" spc="-3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fake</a:t>
                      </a:r>
                      <a:r>
                        <a:rPr dirty="0" sz="1300" spc="-2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share</a:t>
                      </a:r>
                      <a:r>
                        <a:rPr dirty="0" sz="1300" spc="-2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2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label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DF1F6"/>
                    </a:solidFill>
                  </a:tcPr>
                </a:tc>
              </a:tr>
              <a:tr h="50927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Optimiser</a:t>
                      </a:r>
                      <a:r>
                        <a:rPr dirty="0" sz="1300" spc="-3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(Adam)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2e-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4,</a:t>
                      </a:r>
                      <a:r>
                        <a:rPr dirty="0" sz="1300" spc="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β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(0.5,</a:t>
                      </a:r>
                      <a:r>
                        <a:rPr dirty="0" sz="1300" spc="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0.999)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1e-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4, β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(0.5,</a:t>
                      </a:r>
                      <a:r>
                        <a:rPr dirty="0" sz="1300" spc="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2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0.9)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1e-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4,</a:t>
                      </a:r>
                      <a:r>
                        <a:rPr dirty="0" sz="1300" spc="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β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(0.5,</a:t>
                      </a:r>
                      <a:r>
                        <a:rPr dirty="0" sz="1300" spc="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2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0.9)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49657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Updates</a:t>
                      </a:r>
                      <a:r>
                        <a:rPr dirty="0" sz="1300" spc="-2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1300" spc="-5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3,000</a:t>
                      </a:r>
                      <a:r>
                        <a:rPr dirty="0" sz="1300" spc="-3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2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steps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3,000</a:t>
                      </a:r>
                      <a:r>
                        <a:rPr dirty="0" sz="1300" spc="-1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discriminator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15,000</a:t>
                      </a:r>
                      <a:r>
                        <a:rPr dirty="0" sz="1300" spc="-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critic</a:t>
                      </a:r>
                      <a:r>
                        <a:rPr dirty="0" sz="1300" spc="-2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(5</a:t>
                      </a:r>
                      <a:r>
                        <a:rPr dirty="0" sz="1300" spc="-1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per</a:t>
                      </a:r>
                      <a:r>
                        <a:rPr dirty="0" sz="1300" spc="-1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step)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15,000</a:t>
                      </a:r>
                      <a:r>
                        <a:rPr dirty="0" sz="1300" spc="-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critic</a:t>
                      </a:r>
                      <a:r>
                        <a:rPr dirty="0" sz="1300" spc="-2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(5</a:t>
                      </a:r>
                      <a:r>
                        <a:rPr dirty="0" sz="1300" spc="-1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per</a:t>
                      </a:r>
                      <a:r>
                        <a:rPr dirty="0" sz="1300" spc="-1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step)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DF1F6"/>
                    </a:solidFill>
                  </a:tcPr>
                </a:tc>
              </a:tr>
              <a:tr h="508634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Conditioning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71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300" spc="-2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None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71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300" spc="-2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None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71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Requested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class;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no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classifier</a:t>
                      </a:r>
                      <a:r>
                        <a:rPr dirty="0" sz="1300" spc="-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guidance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71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448055" y="4882896"/>
            <a:ext cx="11267440" cy="1391920"/>
            <a:chOff x="448055" y="4882896"/>
            <a:chExt cx="11267440" cy="1391920"/>
          </a:xfrm>
        </p:grpSpPr>
        <p:sp>
          <p:nvSpPr>
            <p:cNvPr id="5" name="object 5"/>
            <p:cNvSpPr/>
            <p:nvPr/>
          </p:nvSpPr>
          <p:spPr>
            <a:xfrm>
              <a:off x="457961" y="4892802"/>
              <a:ext cx="11247120" cy="1371600"/>
            </a:xfrm>
            <a:custGeom>
              <a:avLst/>
              <a:gdLst/>
              <a:ahLst/>
              <a:cxnLst/>
              <a:rect l="l" t="t" r="r" b="b"/>
              <a:pathLst>
                <a:path w="11247120" h="1371600">
                  <a:moveTo>
                    <a:pt x="11192256" y="0"/>
                  </a:moveTo>
                  <a:lnTo>
                    <a:pt x="54864" y="0"/>
                  </a:lnTo>
                  <a:lnTo>
                    <a:pt x="33507" y="4304"/>
                  </a:lnTo>
                  <a:lnTo>
                    <a:pt x="16068" y="16049"/>
                  </a:lnTo>
                  <a:lnTo>
                    <a:pt x="4311" y="33486"/>
                  </a:lnTo>
                  <a:lnTo>
                    <a:pt x="0" y="54864"/>
                  </a:lnTo>
                  <a:lnTo>
                    <a:pt x="0" y="1316736"/>
                  </a:lnTo>
                  <a:lnTo>
                    <a:pt x="4311" y="1338092"/>
                  </a:lnTo>
                  <a:lnTo>
                    <a:pt x="16068" y="1355531"/>
                  </a:lnTo>
                  <a:lnTo>
                    <a:pt x="33507" y="1367288"/>
                  </a:lnTo>
                  <a:lnTo>
                    <a:pt x="54864" y="1371600"/>
                  </a:lnTo>
                  <a:lnTo>
                    <a:pt x="11192256" y="1371600"/>
                  </a:lnTo>
                  <a:lnTo>
                    <a:pt x="11213633" y="1367288"/>
                  </a:lnTo>
                  <a:lnTo>
                    <a:pt x="11231070" y="1355531"/>
                  </a:lnTo>
                  <a:lnTo>
                    <a:pt x="11242815" y="1338092"/>
                  </a:lnTo>
                  <a:lnTo>
                    <a:pt x="11247119" y="1316736"/>
                  </a:lnTo>
                  <a:lnTo>
                    <a:pt x="11247119" y="54864"/>
                  </a:lnTo>
                  <a:lnTo>
                    <a:pt x="11242815" y="33486"/>
                  </a:lnTo>
                  <a:lnTo>
                    <a:pt x="11231070" y="16049"/>
                  </a:lnTo>
                  <a:lnTo>
                    <a:pt x="11213633" y="4304"/>
                  </a:lnTo>
                  <a:lnTo>
                    <a:pt x="11192256" y="0"/>
                  </a:lnTo>
                  <a:close/>
                </a:path>
              </a:pathLst>
            </a:custGeom>
            <a:solidFill>
              <a:srgbClr val="E3F1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57961" y="4892802"/>
              <a:ext cx="11247120" cy="1371600"/>
            </a:xfrm>
            <a:custGeom>
              <a:avLst/>
              <a:gdLst/>
              <a:ahLst/>
              <a:cxnLst/>
              <a:rect l="l" t="t" r="r" b="b"/>
              <a:pathLst>
                <a:path w="11247120" h="1371600">
                  <a:moveTo>
                    <a:pt x="0" y="54864"/>
                  </a:moveTo>
                  <a:lnTo>
                    <a:pt x="4311" y="33486"/>
                  </a:lnTo>
                  <a:lnTo>
                    <a:pt x="16068" y="16049"/>
                  </a:lnTo>
                  <a:lnTo>
                    <a:pt x="33507" y="4304"/>
                  </a:lnTo>
                  <a:lnTo>
                    <a:pt x="54864" y="0"/>
                  </a:lnTo>
                  <a:lnTo>
                    <a:pt x="11192256" y="0"/>
                  </a:lnTo>
                  <a:lnTo>
                    <a:pt x="11213633" y="4304"/>
                  </a:lnTo>
                  <a:lnTo>
                    <a:pt x="11231070" y="16049"/>
                  </a:lnTo>
                  <a:lnTo>
                    <a:pt x="11242815" y="33486"/>
                  </a:lnTo>
                  <a:lnTo>
                    <a:pt x="11247119" y="54864"/>
                  </a:lnTo>
                  <a:lnTo>
                    <a:pt x="11247119" y="1316736"/>
                  </a:lnTo>
                  <a:lnTo>
                    <a:pt x="11242815" y="1338092"/>
                  </a:lnTo>
                  <a:lnTo>
                    <a:pt x="11231070" y="1355531"/>
                  </a:lnTo>
                  <a:lnTo>
                    <a:pt x="11213633" y="1367288"/>
                  </a:lnTo>
                  <a:lnTo>
                    <a:pt x="11192256" y="1371600"/>
                  </a:lnTo>
                  <a:lnTo>
                    <a:pt x="54864" y="1371600"/>
                  </a:lnTo>
                  <a:lnTo>
                    <a:pt x="33507" y="1367288"/>
                  </a:lnTo>
                  <a:lnTo>
                    <a:pt x="16068" y="1355531"/>
                  </a:lnTo>
                  <a:lnTo>
                    <a:pt x="4311" y="1338092"/>
                  </a:lnTo>
                  <a:lnTo>
                    <a:pt x="0" y="1316736"/>
                  </a:lnTo>
                  <a:lnTo>
                    <a:pt x="0" y="54864"/>
                  </a:lnTo>
                  <a:close/>
                </a:path>
              </a:pathLst>
            </a:custGeom>
            <a:ln w="19812">
              <a:solidFill>
                <a:srgbClr val="2A9D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570382" y="4883670"/>
            <a:ext cx="10523220" cy="1052830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dirty="0" sz="1500" b="1">
                <a:solidFill>
                  <a:srgbClr val="13203C"/>
                </a:solidFill>
                <a:latin typeface="Calibri"/>
                <a:cs typeface="Calibri"/>
              </a:rPr>
              <a:t>Reading</a:t>
            </a:r>
            <a:r>
              <a:rPr dirty="0" sz="1500" spc="-55" b="1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3203C"/>
                </a:solidFill>
                <a:latin typeface="Calibri"/>
                <a:cs typeface="Calibri"/>
              </a:rPr>
              <a:t>the</a:t>
            </a:r>
            <a:r>
              <a:rPr dirty="0" sz="1500" spc="-40" b="1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13203C"/>
                </a:solidFill>
                <a:latin typeface="Calibri"/>
                <a:cs typeface="Calibri"/>
              </a:rPr>
              <a:t>comparison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Only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the</a:t>
            </a:r>
            <a:r>
              <a:rPr dirty="0" sz="14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cWGAN-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GP</a:t>
            </a:r>
            <a:r>
              <a:rPr dirty="0" sz="1400" spc="-5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receives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the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class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label;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all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three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share</a:t>
            </a:r>
            <a:r>
              <a:rPr dirty="0" sz="14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the</a:t>
            </a:r>
            <a:r>
              <a:rPr dirty="0" sz="14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generator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stack</a:t>
            </a:r>
            <a:r>
              <a:rPr dirty="0" sz="14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and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the</a:t>
            </a:r>
            <a:r>
              <a:rPr dirty="0" sz="14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same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data,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seed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and</a:t>
            </a:r>
            <a:r>
              <a:rPr dirty="0" sz="14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batch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size.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The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WGAN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variants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use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5x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more</a:t>
            </a:r>
            <a:r>
              <a:rPr dirty="0" sz="14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critic</a:t>
            </a:r>
            <a:r>
              <a:rPr dirty="0" sz="14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updates</a:t>
            </a:r>
            <a:r>
              <a:rPr dirty="0" sz="14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than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DCGAN's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discriminator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updates,</a:t>
            </a:r>
            <a:r>
              <a:rPr dirty="0" sz="14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so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the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comparison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is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not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compute-matched;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the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architecture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diagram</a:t>
            </a:r>
            <a:r>
              <a:rPr dirty="0" sz="1400" spc="-5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is</a:t>
            </a:r>
            <a:r>
              <a:rPr dirty="0" sz="14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in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the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report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(Figure</a:t>
            </a:r>
            <a:r>
              <a:rPr dirty="0" sz="14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3.4).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 spc="-10"/>
              <a:t>NeuroVision</a:t>
            </a:r>
            <a:r>
              <a:rPr dirty="0" spc="-20"/>
              <a:t> </a:t>
            </a:r>
            <a:r>
              <a:rPr dirty="0"/>
              <a:t>AI</a:t>
            </a:r>
            <a:r>
              <a:rPr dirty="0" spc="195"/>
              <a:t> </a:t>
            </a:r>
            <a:r>
              <a:rPr dirty="0"/>
              <a:t>|</a:t>
            </a:r>
            <a:r>
              <a:rPr dirty="0" spc="200"/>
              <a:t> </a:t>
            </a:r>
            <a:r>
              <a:rPr dirty="0"/>
              <a:t>Brain</a:t>
            </a:r>
            <a:r>
              <a:rPr dirty="0" spc="-15"/>
              <a:t> </a:t>
            </a:r>
            <a:r>
              <a:rPr dirty="0"/>
              <a:t>Tumor</a:t>
            </a:r>
            <a:r>
              <a:rPr dirty="0" spc="-15"/>
              <a:t> </a:t>
            </a:r>
            <a:r>
              <a:rPr dirty="0"/>
              <a:t>MRI</a:t>
            </a:r>
            <a:r>
              <a:rPr dirty="0" spc="-25"/>
              <a:t> </a:t>
            </a:r>
            <a:r>
              <a:rPr dirty="0"/>
              <a:t>Generation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/>
              <a:t>Classification</a:t>
            </a:r>
            <a:r>
              <a:rPr dirty="0" spc="195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Ajai</a:t>
            </a:r>
            <a:r>
              <a:rPr dirty="0" spc="-30"/>
              <a:t> </a:t>
            </a:r>
            <a:r>
              <a:rPr dirty="0"/>
              <a:t>Kumar N</a:t>
            </a:r>
            <a:r>
              <a:rPr dirty="0" spc="-10"/>
              <a:t> </a:t>
            </a:r>
            <a:r>
              <a:rPr dirty="0"/>
              <a:t>(URK23CS5064)</a:t>
            </a:r>
            <a:r>
              <a:rPr dirty="0" spc="245"/>
              <a:t> </a:t>
            </a:r>
            <a:r>
              <a:rPr dirty="0"/>
              <a:t>|</a:t>
            </a:r>
            <a:r>
              <a:rPr dirty="0" spc="204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NeuroVision</a:t>
            </a:r>
            <a:r>
              <a:rPr dirty="0" spc="-80"/>
              <a:t> </a:t>
            </a:r>
            <a:r>
              <a:rPr dirty="0"/>
              <a:t>AI:</a:t>
            </a:r>
            <a:r>
              <a:rPr dirty="0" spc="-85"/>
              <a:t> </a:t>
            </a:r>
            <a:r>
              <a:rPr dirty="0" spc="-10"/>
              <a:t>architecture</a:t>
            </a:r>
            <a:r>
              <a:rPr dirty="0" spc="-55"/>
              <a:t> </a:t>
            </a:r>
            <a:r>
              <a:rPr dirty="0"/>
              <a:t>and</a:t>
            </a:r>
            <a:r>
              <a:rPr dirty="0" spc="-95"/>
              <a:t> </a:t>
            </a:r>
            <a:r>
              <a:rPr dirty="0" spc="-10"/>
              <a:t>interface</a:t>
            </a:r>
          </a:p>
        </p:txBody>
      </p:sp>
      <p:pic>
        <p:nvPicPr>
          <p:cNvPr id="3" name="object 3" descr="fig_app_architecture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040" y="1072896"/>
            <a:ext cx="5212080" cy="4895088"/>
          </a:xfrm>
          <a:prstGeom prst="rect">
            <a:avLst/>
          </a:prstGeom>
        </p:spPr>
      </p:pic>
      <p:pic>
        <p:nvPicPr>
          <p:cNvPr id="4" name="object 4" descr="app_dashboar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70803" y="1097280"/>
            <a:ext cx="3014472" cy="2377440"/>
          </a:xfrm>
          <a:prstGeom prst="rect">
            <a:avLst/>
          </a:prstGeom>
        </p:spPr>
      </p:pic>
      <p:pic>
        <p:nvPicPr>
          <p:cNvPr id="5" name="object 5" descr="app_generate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78240" y="1114044"/>
            <a:ext cx="3017520" cy="2343912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5660135" y="4700015"/>
            <a:ext cx="6146800" cy="1117600"/>
            <a:chOff x="5660135" y="4700015"/>
            <a:chExt cx="6146800" cy="1117600"/>
          </a:xfrm>
        </p:grpSpPr>
        <p:sp>
          <p:nvSpPr>
            <p:cNvPr id="7" name="object 7"/>
            <p:cNvSpPr/>
            <p:nvPr/>
          </p:nvSpPr>
          <p:spPr>
            <a:xfrm>
              <a:off x="5670041" y="4709921"/>
              <a:ext cx="6126480" cy="1097280"/>
            </a:xfrm>
            <a:custGeom>
              <a:avLst/>
              <a:gdLst/>
              <a:ahLst/>
              <a:cxnLst/>
              <a:rect l="l" t="t" r="r" b="b"/>
              <a:pathLst>
                <a:path w="6126480" h="1097279">
                  <a:moveTo>
                    <a:pt x="6082538" y="0"/>
                  </a:moveTo>
                  <a:lnTo>
                    <a:pt x="43942" y="0"/>
                  </a:lnTo>
                  <a:lnTo>
                    <a:pt x="26842" y="3454"/>
                  </a:lnTo>
                  <a:lnTo>
                    <a:pt x="12874" y="12874"/>
                  </a:lnTo>
                  <a:lnTo>
                    <a:pt x="3454" y="26842"/>
                  </a:lnTo>
                  <a:lnTo>
                    <a:pt x="0" y="43941"/>
                  </a:lnTo>
                  <a:lnTo>
                    <a:pt x="0" y="1053388"/>
                  </a:lnTo>
                  <a:lnTo>
                    <a:pt x="3454" y="1070474"/>
                  </a:lnTo>
                  <a:lnTo>
                    <a:pt x="12874" y="1084426"/>
                  </a:lnTo>
                  <a:lnTo>
                    <a:pt x="26842" y="1093831"/>
                  </a:lnTo>
                  <a:lnTo>
                    <a:pt x="43942" y="1097280"/>
                  </a:lnTo>
                  <a:lnTo>
                    <a:pt x="6082538" y="1097280"/>
                  </a:lnTo>
                  <a:lnTo>
                    <a:pt x="6099637" y="1093831"/>
                  </a:lnTo>
                  <a:lnTo>
                    <a:pt x="6113605" y="1084426"/>
                  </a:lnTo>
                  <a:lnTo>
                    <a:pt x="6123025" y="1070474"/>
                  </a:lnTo>
                  <a:lnTo>
                    <a:pt x="6126480" y="1053388"/>
                  </a:lnTo>
                  <a:lnTo>
                    <a:pt x="6126480" y="43941"/>
                  </a:lnTo>
                  <a:lnTo>
                    <a:pt x="6123025" y="26842"/>
                  </a:lnTo>
                  <a:lnTo>
                    <a:pt x="6113605" y="12874"/>
                  </a:lnTo>
                  <a:lnTo>
                    <a:pt x="6099637" y="3454"/>
                  </a:lnTo>
                  <a:lnTo>
                    <a:pt x="6082538" y="0"/>
                  </a:lnTo>
                  <a:close/>
                </a:path>
              </a:pathLst>
            </a:custGeom>
            <a:solidFill>
              <a:srgbClr val="FCF0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670041" y="4709921"/>
              <a:ext cx="6126480" cy="1097280"/>
            </a:xfrm>
            <a:custGeom>
              <a:avLst/>
              <a:gdLst/>
              <a:ahLst/>
              <a:cxnLst/>
              <a:rect l="l" t="t" r="r" b="b"/>
              <a:pathLst>
                <a:path w="6126480" h="1097279">
                  <a:moveTo>
                    <a:pt x="0" y="43941"/>
                  </a:moveTo>
                  <a:lnTo>
                    <a:pt x="3454" y="26842"/>
                  </a:lnTo>
                  <a:lnTo>
                    <a:pt x="12874" y="12874"/>
                  </a:lnTo>
                  <a:lnTo>
                    <a:pt x="26842" y="3454"/>
                  </a:lnTo>
                  <a:lnTo>
                    <a:pt x="43942" y="0"/>
                  </a:lnTo>
                  <a:lnTo>
                    <a:pt x="6082538" y="0"/>
                  </a:lnTo>
                  <a:lnTo>
                    <a:pt x="6099637" y="3454"/>
                  </a:lnTo>
                  <a:lnTo>
                    <a:pt x="6113605" y="12874"/>
                  </a:lnTo>
                  <a:lnTo>
                    <a:pt x="6123025" y="26842"/>
                  </a:lnTo>
                  <a:lnTo>
                    <a:pt x="6126480" y="43941"/>
                  </a:lnTo>
                  <a:lnTo>
                    <a:pt x="6126480" y="1053388"/>
                  </a:lnTo>
                  <a:lnTo>
                    <a:pt x="6123025" y="1070474"/>
                  </a:lnTo>
                  <a:lnTo>
                    <a:pt x="6113605" y="1084426"/>
                  </a:lnTo>
                  <a:lnTo>
                    <a:pt x="6099637" y="1093831"/>
                  </a:lnTo>
                  <a:lnTo>
                    <a:pt x="6082538" y="1097280"/>
                  </a:lnTo>
                  <a:lnTo>
                    <a:pt x="43942" y="1097280"/>
                  </a:lnTo>
                  <a:lnTo>
                    <a:pt x="26842" y="1093831"/>
                  </a:lnTo>
                  <a:lnTo>
                    <a:pt x="12874" y="1084426"/>
                  </a:lnTo>
                  <a:lnTo>
                    <a:pt x="3454" y="1070474"/>
                  </a:lnTo>
                  <a:lnTo>
                    <a:pt x="0" y="1053388"/>
                  </a:lnTo>
                  <a:lnTo>
                    <a:pt x="0" y="43941"/>
                  </a:lnTo>
                  <a:close/>
                </a:path>
              </a:pathLst>
            </a:custGeom>
            <a:ln w="19812">
              <a:solidFill>
                <a:srgbClr val="C889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5766942" y="3508375"/>
            <a:ext cx="5918835" cy="18878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545F6F"/>
                </a:solidFill>
                <a:latin typeface="Calibri"/>
                <a:cs typeface="Calibri"/>
              </a:rPr>
              <a:t>Genuine</a:t>
            </a:r>
            <a:r>
              <a:rPr dirty="0" sz="1050" spc="-35">
                <a:solidFill>
                  <a:srgbClr val="545F6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545F6F"/>
                </a:solidFill>
                <a:latin typeface="Calibri"/>
                <a:cs typeface="Calibri"/>
              </a:rPr>
              <a:t>screenshots</a:t>
            </a:r>
            <a:r>
              <a:rPr dirty="0" sz="1050" spc="-15">
                <a:solidFill>
                  <a:srgbClr val="545F6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545F6F"/>
                </a:solidFill>
                <a:latin typeface="Calibri"/>
                <a:cs typeface="Calibri"/>
              </a:rPr>
              <a:t>of</a:t>
            </a:r>
            <a:r>
              <a:rPr dirty="0" sz="1050" spc="-20">
                <a:solidFill>
                  <a:srgbClr val="545F6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545F6F"/>
                </a:solidFill>
                <a:latin typeface="Calibri"/>
                <a:cs typeface="Calibri"/>
              </a:rPr>
              <a:t>the</a:t>
            </a:r>
            <a:r>
              <a:rPr dirty="0" sz="1050" spc="-10">
                <a:solidFill>
                  <a:srgbClr val="545F6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545F6F"/>
                </a:solidFill>
                <a:latin typeface="Calibri"/>
                <a:cs typeface="Calibri"/>
              </a:rPr>
              <a:t>running</a:t>
            </a:r>
            <a:r>
              <a:rPr dirty="0" sz="1050" spc="-25">
                <a:solidFill>
                  <a:srgbClr val="545F6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545F6F"/>
                </a:solidFill>
                <a:latin typeface="Calibri"/>
                <a:cs typeface="Calibri"/>
              </a:rPr>
              <a:t>application:</a:t>
            </a:r>
            <a:r>
              <a:rPr dirty="0" sz="1050" spc="-40">
                <a:solidFill>
                  <a:srgbClr val="545F6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545F6F"/>
                </a:solidFill>
                <a:latin typeface="Calibri"/>
                <a:cs typeface="Calibri"/>
              </a:rPr>
              <a:t>dashboard</a:t>
            </a:r>
            <a:r>
              <a:rPr dirty="0" sz="1050" spc="-30">
                <a:solidFill>
                  <a:srgbClr val="545F6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545F6F"/>
                </a:solidFill>
                <a:latin typeface="Calibri"/>
                <a:cs typeface="Calibri"/>
              </a:rPr>
              <a:t>(left)</a:t>
            </a:r>
            <a:r>
              <a:rPr dirty="0" sz="1050" spc="-30">
                <a:solidFill>
                  <a:srgbClr val="545F6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545F6F"/>
                </a:solidFill>
                <a:latin typeface="Calibri"/>
                <a:cs typeface="Calibri"/>
              </a:rPr>
              <a:t>and</a:t>
            </a:r>
            <a:r>
              <a:rPr dirty="0" sz="1050" spc="-20">
                <a:solidFill>
                  <a:srgbClr val="545F6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545F6F"/>
                </a:solidFill>
                <a:latin typeface="Calibri"/>
                <a:cs typeface="Calibri"/>
              </a:rPr>
              <a:t>generator</a:t>
            </a:r>
            <a:r>
              <a:rPr dirty="0" sz="1050" spc="-30">
                <a:solidFill>
                  <a:srgbClr val="545F6F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545F6F"/>
                </a:solidFill>
                <a:latin typeface="Calibri"/>
                <a:cs typeface="Calibri"/>
              </a:rPr>
              <a:t>(right).</a:t>
            </a:r>
            <a:endParaRPr sz="10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255"/>
              </a:spcBef>
            </a:pP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Endpoints:</a:t>
            </a:r>
            <a:r>
              <a:rPr dirty="0" sz="125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3203C"/>
                </a:solidFill>
                <a:latin typeface="Calibri"/>
                <a:cs typeface="Calibri"/>
              </a:rPr>
              <a:t>/api/health,</a:t>
            </a:r>
            <a:r>
              <a:rPr dirty="0" sz="1250" spc="-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3203C"/>
                </a:solidFill>
                <a:latin typeface="Calibri"/>
                <a:cs typeface="Calibri"/>
              </a:rPr>
              <a:t>/models/status,</a:t>
            </a:r>
            <a:r>
              <a:rPr dirty="0" sz="125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3203C"/>
                </a:solidFill>
                <a:latin typeface="Calibri"/>
                <a:cs typeface="Calibri"/>
              </a:rPr>
              <a:t>/classify,</a:t>
            </a:r>
            <a:r>
              <a:rPr dirty="0" sz="125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3203C"/>
                </a:solidFill>
                <a:latin typeface="Calibri"/>
                <a:cs typeface="Calibri"/>
              </a:rPr>
              <a:t>/generate,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/metrics,</a:t>
            </a:r>
            <a:r>
              <a:rPr dirty="0" sz="1250" spc="-10">
                <a:solidFill>
                  <a:srgbClr val="13203C"/>
                </a:solidFill>
                <a:latin typeface="Calibri"/>
                <a:cs typeface="Calibri"/>
              </a:rPr>
              <a:t> /experiment,</a:t>
            </a:r>
            <a:r>
              <a:rPr dirty="0" sz="125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3203C"/>
                </a:solidFill>
                <a:latin typeface="Calibri"/>
                <a:cs typeface="Calibri"/>
              </a:rPr>
              <a:t>/gallery.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Models</a:t>
            </a:r>
            <a:r>
              <a:rPr dirty="0" sz="125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load</a:t>
            </a:r>
            <a:r>
              <a:rPr dirty="0" sz="125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once</a:t>
            </a:r>
            <a:r>
              <a:rPr dirty="0" sz="125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with</a:t>
            </a:r>
            <a:r>
              <a:rPr dirty="0" sz="125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strict</a:t>
            </a:r>
            <a:r>
              <a:rPr dirty="0" sz="125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checkpoint</a:t>
            </a:r>
            <a:r>
              <a:rPr dirty="0" sz="125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loading;</a:t>
            </a:r>
            <a:r>
              <a:rPr dirty="0" sz="125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an</a:t>
            </a:r>
            <a:r>
              <a:rPr dirty="0" sz="125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3203C"/>
                </a:solidFill>
                <a:latin typeface="Calibri"/>
                <a:cs typeface="Calibri"/>
              </a:rPr>
              <a:t>unavailable</a:t>
            </a:r>
            <a:r>
              <a:rPr dirty="0" sz="1250" spc="-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model</a:t>
            </a:r>
            <a:r>
              <a:rPr dirty="0" sz="1250" spc="-1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gives</a:t>
            </a:r>
            <a:r>
              <a:rPr dirty="0" sz="125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an</a:t>
            </a:r>
            <a:r>
              <a:rPr dirty="0" sz="125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3203C"/>
                </a:solidFill>
                <a:latin typeface="Calibri"/>
                <a:cs typeface="Calibri"/>
              </a:rPr>
              <a:t>honest </a:t>
            </a:r>
            <a:r>
              <a:rPr dirty="0" sz="1250" spc="-20">
                <a:solidFill>
                  <a:srgbClr val="13203C"/>
                </a:solidFill>
                <a:latin typeface="Calibri"/>
                <a:cs typeface="Calibri"/>
              </a:rPr>
              <a:t>error,</a:t>
            </a:r>
            <a:r>
              <a:rPr dirty="0" sz="125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never</a:t>
            </a:r>
            <a:r>
              <a:rPr dirty="0" sz="125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a</a:t>
            </a:r>
            <a:r>
              <a:rPr dirty="0" sz="125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3203C"/>
                </a:solidFill>
                <a:latin typeface="Calibri"/>
                <a:cs typeface="Calibri"/>
              </a:rPr>
              <a:t>substitute.</a:t>
            </a: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1250">
              <a:latin typeface="Calibri"/>
              <a:cs typeface="Calibri"/>
            </a:endParaRPr>
          </a:p>
          <a:p>
            <a:pPr marL="25400">
              <a:lnSpc>
                <a:spcPct val="100000"/>
              </a:lnSpc>
            </a:pPr>
            <a:r>
              <a:rPr dirty="0" sz="1300" b="1">
                <a:solidFill>
                  <a:srgbClr val="13203C"/>
                </a:solidFill>
                <a:latin typeface="Calibri"/>
                <a:cs typeface="Calibri"/>
              </a:rPr>
              <a:t>Critical</a:t>
            </a:r>
            <a:r>
              <a:rPr dirty="0" sz="1300" spc="-45" b="1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13203C"/>
                </a:solidFill>
                <a:latin typeface="Calibri"/>
                <a:cs typeface="Calibri"/>
              </a:rPr>
              <a:t>distinction</a:t>
            </a:r>
            <a:endParaRPr sz="1300">
              <a:latin typeface="Calibri"/>
              <a:cs typeface="Calibri"/>
            </a:endParaRPr>
          </a:p>
          <a:p>
            <a:pPr marL="25400" marR="636270">
              <a:lnSpc>
                <a:spcPct val="100000"/>
              </a:lnSpc>
              <a:spcBef>
                <a:spcPts val="415"/>
              </a:spcBef>
            </a:pPr>
            <a:r>
              <a:rPr dirty="0" sz="1200">
                <a:solidFill>
                  <a:srgbClr val="13203C"/>
                </a:solidFill>
                <a:latin typeface="Calibri"/>
                <a:cs typeface="Calibri"/>
              </a:rPr>
              <a:t>Classify</a:t>
            </a:r>
            <a:r>
              <a:rPr dirty="0" sz="1200" spc="-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3203C"/>
                </a:solidFill>
                <a:latin typeface="Calibri"/>
                <a:cs typeface="Calibri"/>
              </a:rPr>
              <a:t>MRI</a:t>
            </a:r>
            <a:r>
              <a:rPr dirty="0" sz="1200" spc="-1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3203C"/>
                </a:solidFill>
                <a:latin typeface="Calibri"/>
                <a:cs typeface="Calibri"/>
              </a:rPr>
              <a:t>uses a</a:t>
            </a:r>
            <a:r>
              <a:rPr dirty="0" sz="1200" spc="-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3203C"/>
                </a:solidFill>
                <a:latin typeface="Calibri"/>
                <a:cs typeface="Calibri"/>
              </a:rPr>
              <a:t>third-</a:t>
            </a:r>
            <a:r>
              <a:rPr dirty="0" sz="1200">
                <a:solidFill>
                  <a:srgbClr val="13203C"/>
                </a:solidFill>
                <a:latin typeface="Calibri"/>
                <a:cs typeface="Calibri"/>
              </a:rPr>
              <a:t>party</a:t>
            </a:r>
            <a:r>
              <a:rPr dirty="0" sz="12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3203C"/>
                </a:solidFill>
                <a:latin typeface="Calibri"/>
                <a:cs typeface="Calibri"/>
              </a:rPr>
              <a:t>pretrained</a:t>
            </a:r>
            <a:r>
              <a:rPr dirty="0" sz="12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3203C"/>
                </a:solidFill>
                <a:latin typeface="Calibri"/>
                <a:cs typeface="Calibri"/>
              </a:rPr>
              <a:t>EfficientNet-</a:t>
            </a:r>
            <a:r>
              <a:rPr dirty="0" sz="1200">
                <a:solidFill>
                  <a:srgbClr val="13203C"/>
                </a:solidFill>
                <a:latin typeface="Calibri"/>
                <a:cs typeface="Calibri"/>
              </a:rPr>
              <a:t>B3</a:t>
            </a:r>
            <a:r>
              <a:rPr dirty="0" sz="12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3203C"/>
                </a:solidFill>
                <a:latin typeface="Calibri"/>
                <a:cs typeface="Calibri"/>
              </a:rPr>
              <a:t>[14,</a:t>
            </a:r>
            <a:r>
              <a:rPr dirty="0" sz="1200" spc="-1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3203C"/>
                </a:solidFill>
                <a:latin typeface="Calibri"/>
                <a:cs typeface="Calibri"/>
              </a:rPr>
              <a:t>15].</a:t>
            </a:r>
            <a:r>
              <a:rPr dirty="0" sz="1200" spc="-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3203C"/>
                </a:solidFill>
                <a:latin typeface="Calibri"/>
                <a:cs typeface="Calibri"/>
              </a:rPr>
              <a:t>A/B/C</a:t>
            </a:r>
            <a:r>
              <a:rPr dirty="0" sz="12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3203C"/>
                </a:solidFill>
                <a:latin typeface="Calibri"/>
                <a:cs typeface="Calibri"/>
              </a:rPr>
              <a:t>did</a:t>
            </a:r>
            <a:r>
              <a:rPr dirty="0" sz="12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3203C"/>
                </a:solidFill>
                <a:latin typeface="Calibri"/>
                <a:cs typeface="Calibri"/>
              </a:rPr>
              <a:t>not </a:t>
            </a:r>
            <a:r>
              <a:rPr dirty="0" sz="1200" spc="-20">
                <a:solidFill>
                  <a:srgbClr val="13203C"/>
                </a:solidFill>
                <a:latin typeface="Calibri"/>
                <a:cs typeface="Calibri"/>
              </a:rPr>
              <a:t>save </a:t>
            </a:r>
            <a:r>
              <a:rPr dirty="0" sz="1200" spc="-10">
                <a:solidFill>
                  <a:srgbClr val="13203C"/>
                </a:solidFill>
                <a:latin typeface="Calibri"/>
                <a:cs typeface="Calibri"/>
              </a:rPr>
              <a:t>checkpoints. </a:t>
            </a:r>
            <a:r>
              <a:rPr dirty="0" sz="1200">
                <a:solidFill>
                  <a:srgbClr val="13203C"/>
                </a:solidFill>
                <a:latin typeface="Calibri"/>
                <a:cs typeface="Calibri"/>
              </a:rPr>
              <a:t>Its accuracy on</a:t>
            </a:r>
            <a:r>
              <a:rPr dirty="0" sz="1200" spc="1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3203C"/>
                </a:solidFill>
                <a:latin typeface="Calibri"/>
                <a:cs typeface="Calibri"/>
              </a:rPr>
              <a:t>our</a:t>
            </a:r>
            <a:r>
              <a:rPr dirty="0" sz="12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3203C"/>
                </a:solidFill>
                <a:latin typeface="Calibri"/>
                <a:cs typeface="Calibri"/>
              </a:rPr>
              <a:t>test set</a:t>
            </a:r>
            <a:r>
              <a:rPr dirty="0" sz="1200" spc="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3203C"/>
                </a:solidFill>
                <a:latin typeface="Calibri"/>
                <a:cs typeface="Calibri"/>
              </a:rPr>
              <a:t>is</a:t>
            </a:r>
            <a:r>
              <a:rPr dirty="0" sz="1200" spc="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3203C"/>
                </a:solidFill>
                <a:latin typeface="Calibri"/>
                <a:cs typeface="Calibri"/>
              </a:rPr>
              <a:t>unknown;</a:t>
            </a:r>
            <a:r>
              <a:rPr dirty="0" sz="12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3203C"/>
                </a:solidFill>
                <a:latin typeface="Calibri"/>
                <a:cs typeface="Calibri"/>
              </a:rPr>
              <a:t>no</a:t>
            </a:r>
            <a:r>
              <a:rPr dirty="0" sz="1200" spc="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3203C"/>
                </a:solidFill>
                <a:latin typeface="Calibri"/>
                <a:cs typeface="Calibri"/>
              </a:rPr>
              <a:t>out-</a:t>
            </a:r>
            <a:r>
              <a:rPr dirty="0" sz="1200" spc="-10">
                <a:solidFill>
                  <a:srgbClr val="13203C"/>
                </a:solidFill>
                <a:latin typeface="Calibri"/>
                <a:cs typeface="Calibri"/>
              </a:rPr>
              <a:t>of-distribution</a:t>
            </a:r>
            <a:r>
              <a:rPr dirty="0" sz="12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3203C"/>
                </a:solidFill>
                <a:latin typeface="Calibri"/>
                <a:cs typeface="Calibri"/>
              </a:rPr>
              <a:t>check.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66942" y="5886399"/>
            <a:ext cx="5784215" cy="361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545F6F"/>
                </a:solidFill>
                <a:latin typeface="Calibri"/>
                <a:cs typeface="Calibri"/>
              </a:rPr>
              <a:t>Tests:</a:t>
            </a:r>
            <a:r>
              <a:rPr dirty="0" sz="1100" spc="-25">
                <a:solidFill>
                  <a:srgbClr val="545F6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45F6F"/>
                </a:solidFill>
                <a:latin typeface="Calibri"/>
                <a:cs typeface="Calibri"/>
              </a:rPr>
              <a:t>16</a:t>
            </a:r>
            <a:r>
              <a:rPr dirty="0" sz="1100" spc="10">
                <a:solidFill>
                  <a:srgbClr val="545F6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45F6F"/>
                </a:solidFill>
                <a:latin typeface="Calibri"/>
                <a:cs typeface="Calibri"/>
              </a:rPr>
              <a:t>backend</a:t>
            </a:r>
            <a:r>
              <a:rPr dirty="0" sz="1100" spc="-25">
                <a:solidFill>
                  <a:srgbClr val="545F6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45F6F"/>
                </a:solidFill>
                <a:latin typeface="Calibri"/>
                <a:cs typeface="Calibri"/>
              </a:rPr>
              <a:t>pytest,</a:t>
            </a:r>
            <a:r>
              <a:rPr dirty="0" sz="1100" spc="-30">
                <a:solidFill>
                  <a:srgbClr val="545F6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45F6F"/>
                </a:solidFill>
                <a:latin typeface="Calibri"/>
                <a:cs typeface="Calibri"/>
              </a:rPr>
              <a:t>6/6</a:t>
            </a:r>
            <a:r>
              <a:rPr dirty="0" sz="1100" spc="-5">
                <a:solidFill>
                  <a:srgbClr val="545F6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45F6F"/>
                </a:solidFill>
                <a:latin typeface="Calibri"/>
                <a:cs typeface="Calibri"/>
              </a:rPr>
              <a:t>smoke</a:t>
            </a:r>
            <a:r>
              <a:rPr dirty="0" sz="1100" spc="-25">
                <a:solidFill>
                  <a:srgbClr val="545F6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45F6F"/>
                </a:solidFill>
                <a:latin typeface="Calibri"/>
                <a:cs typeface="Calibri"/>
              </a:rPr>
              <a:t>checks,</a:t>
            </a:r>
            <a:r>
              <a:rPr dirty="0" sz="1100" spc="-20">
                <a:solidFill>
                  <a:srgbClr val="545F6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545F6F"/>
                </a:solidFill>
                <a:latin typeface="Calibri"/>
                <a:cs typeface="Calibri"/>
              </a:rPr>
              <a:t>production</a:t>
            </a:r>
            <a:r>
              <a:rPr dirty="0" sz="1100" spc="-35">
                <a:solidFill>
                  <a:srgbClr val="545F6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45F6F"/>
                </a:solidFill>
                <a:latin typeface="Calibri"/>
                <a:cs typeface="Calibri"/>
              </a:rPr>
              <a:t>build;</a:t>
            </a:r>
            <a:r>
              <a:rPr dirty="0" sz="1100" spc="-10">
                <a:solidFill>
                  <a:srgbClr val="545F6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45F6F"/>
                </a:solidFill>
                <a:latin typeface="Calibri"/>
                <a:cs typeface="Calibri"/>
              </a:rPr>
              <a:t>manual</a:t>
            </a:r>
            <a:r>
              <a:rPr dirty="0" sz="1100" spc="-20">
                <a:solidFill>
                  <a:srgbClr val="545F6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45F6F"/>
                </a:solidFill>
                <a:latin typeface="Calibri"/>
                <a:cs typeface="Calibri"/>
              </a:rPr>
              <a:t>browser</a:t>
            </a:r>
            <a:r>
              <a:rPr dirty="0" sz="1100" spc="-25">
                <a:solidFill>
                  <a:srgbClr val="545F6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45F6F"/>
                </a:solidFill>
                <a:latin typeface="Calibri"/>
                <a:cs typeface="Calibri"/>
              </a:rPr>
              <a:t>checks;</a:t>
            </a:r>
            <a:r>
              <a:rPr dirty="0" sz="1100" spc="-10">
                <a:solidFill>
                  <a:srgbClr val="545F6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45F6F"/>
                </a:solidFill>
                <a:latin typeface="Calibri"/>
                <a:cs typeface="Calibri"/>
              </a:rPr>
              <a:t>no</a:t>
            </a:r>
            <a:r>
              <a:rPr dirty="0" sz="1100" spc="-5">
                <a:solidFill>
                  <a:srgbClr val="545F6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545F6F"/>
                </a:solidFill>
                <a:latin typeface="Calibri"/>
                <a:cs typeface="Calibri"/>
              </a:rPr>
              <a:t>automated browser-</a:t>
            </a:r>
            <a:r>
              <a:rPr dirty="0" sz="1100">
                <a:solidFill>
                  <a:srgbClr val="545F6F"/>
                </a:solidFill>
                <a:latin typeface="Calibri"/>
                <a:cs typeface="Calibri"/>
              </a:rPr>
              <a:t>level</a:t>
            </a:r>
            <a:r>
              <a:rPr dirty="0" sz="1100" spc="35">
                <a:solidFill>
                  <a:srgbClr val="545F6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545F6F"/>
                </a:solidFill>
                <a:latin typeface="Calibri"/>
                <a:cs typeface="Calibri"/>
              </a:rPr>
              <a:t>suite.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 spc="-10"/>
              <a:t>NeuroVision</a:t>
            </a:r>
            <a:r>
              <a:rPr dirty="0" spc="-20"/>
              <a:t> </a:t>
            </a:r>
            <a:r>
              <a:rPr dirty="0"/>
              <a:t>AI</a:t>
            </a:r>
            <a:r>
              <a:rPr dirty="0" spc="195"/>
              <a:t> </a:t>
            </a:r>
            <a:r>
              <a:rPr dirty="0"/>
              <a:t>|</a:t>
            </a:r>
            <a:r>
              <a:rPr dirty="0" spc="200"/>
              <a:t> </a:t>
            </a:r>
            <a:r>
              <a:rPr dirty="0"/>
              <a:t>Brain</a:t>
            </a:r>
            <a:r>
              <a:rPr dirty="0" spc="-15"/>
              <a:t> </a:t>
            </a:r>
            <a:r>
              <a:rPr dirty="0"/>
              <a:t>Tumor</a:t>
            </a:r>
            <a:r>
              <a:rPr dirty="0" spc="-15"/>
              <a:t> </a:t>
            </a:r>
            <a:r>
              <a:rPr dirty="0"/>
              <a:t>MRI</a:t>
            </a:r>
            <a:r>
              <a:rPr dirty="0" spc="-25"/>
              <a:t> </a:t>
            </a:r>
            <a:r>
              <a:rPr dirty="0"/>
              <a:t>Generation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/>
              <a:t>Classification</a:t>
            </a:r>
            <a:r>
              <a:rPr dirty="0" spc="195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Ajai</a:t>
            </a:r>
            <a:r>
              <a:rPr dirty="0" spc="-30"/>
              <a:t> </a:t>
            </a:r>
            <a:r>
              <a:rPr dirty="0"/>
              <a:t>Kumar N</a:t>
            </a:r>
            <a:r>
              <a:rPr dirty="0" spc="-10"/>
              <a:t> </a:t>
            </a:r>
            <a:r>
              <a:rPr dirty="0"/>
              <a:t>(URK23CS5064)</a:t>
            </a:r>
            <a:r>
              <a:rPr dirty="0" spc="245"/>
              <a:t> </a:t>
            </a:r>
            <a:r>
              <a:rPr dirty="0"/>
              <a:t>|</a:t>
            </a:r>
            <a:r>
              <a:rPr dirty="0" spc="204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Generated</a:t>
            </a:r>
            <a:r>
              <a:rPr dirty="0" spc="-65"/>
              <a:t> </a:t>
            </a:r>
            <a:r>
              <a:rPr dirty="0"/>
              <a:t>samples</a:t>
            </a:r>
            <a:r>
              <a:rPr dirty="0" spc="-75"/>
              <a:t> </a:t>
            </a:r>
            <a:r>
              <a:rPr dirty="0"/>
              <a:t>and</a:t>
            </a:r>
            <a:r>
              <a:rPr dirty="0" spc="-85"/>
              <a:t> </a:t>
            </a:r>
            <a:r>
              <a:rPr dirty="0"/>
              <a:t>conditioning</a:t>
            </a:r>
            <a:r>
              <a:rPr dirty="0" spc="-85"/>
              <a:t> </a:t>
            </a:r>
            <a:r>
              <a:rPr dirty="0" spc="-10"/>
              <a:t>findings</a:t>
            </a:r>
          </a:p>
        </p:txBody>
      </p:sp>
      <p:pic>
        <p:nvPicPr>
          <p:cNvPr id="3" name="object 3" descr="sample_grids_real_vs_generat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759" y="1380744"/>
            <a:ext cx="5669280" cy="3227831"/>
          </a:xfrm>
          <a:prstGeom prst="rect">
            <a:avLst/>
          </a:prstGeom>
        </p:spPr>
      </p:pic>
      <p:pic>
        <p:nvPicPr>
          <p:cNvPr id="4" name="object 4" descr="cwgangp_samples_by_class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46976" y="1097280"/>
            <a:ext cx="3919728" cy="219456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48055" y="5065776"/>
            <a:ext cx="11267440" cy="1209040"/>
            <a:chOff x="448055" y="5065776"/>
            <a:chExt cx="11267440" cy="1209040"/>
          </a:xfrm>
        </p:grpSpPr>
        <p:sp>
          <p:nvSpPr>
            <p:cNvPr id="6" name="object 6"/>
            <p:cNvSpPr/>
            <p:nvPr/>
          </p:nvSpPr>
          <p:spPr>
            <a:xfrm>
              <a:off x="457961" y="5075682"/>
              <a:ext cx="11247120" cy="1188720"/>
            </a:xfrm>
            <a:custGeom>
              <a:avLst/>
              <a:gdLst/>
              <a:ahLst/>
              <a:cxnLst/>
              <a:rect l="l" t="t" r="r" b="b"/>
              <a:pathLst>
                <a:path w="11247120" h="1188720">
                  <a:moveTo>
                    <a:pt x="11199621" y="0"/>
                  </a:moveTo>
                  <a:lnTo>
                    <a:pt x="47548" y="0"/>
                  </a:lnTo>
                  <a:lnTo>
                    <a:pt x="29039" y="3742"/>
                  </a:lnTo>
                  <a:lnTo>
                    <a:pt x="13925" y="13938"/>
                  </a:lnTo>
                  <a:lnTo>
                    <a:pt x="3736" y="29039"/>
                  </a:lnTo>
                  <a:lnTo>
                    <a:pt x="0" y="47498"/>
                  </a:lnTo>
                  <a:lnTo>
                    <a:pt x="0" y="1141171"/>
                  </a:lnTo>
                  <a:lnTo>
                    <a:pt x="3736" y="1159680"/>
                  </a:lnTo>
                  <a:lnTo>
                    <a:pt x="13925" y="1174794"/>
                  </a:lnTo>
                  <a:lnTo>
                    <a:pt x="29039" y="1184983"/>
                  </a:lnTo>
                  <a:lnTo>
                    <a:pt x="47548" y="1188720"/>
                  </a:lnTo>
                  <a:lnTo>
                    <a:pt x="11199621" y="1188720"/>
                  </a:lnTo>
                  <a:lnTo>
                    <a:pt x="11218080" y="1184983"/>
                  </a:lnTo>
                  <a:lnTo>
                    <a:pt x="11233181" y="1174794"/>
                  </a:lnTo>
                  <a:lnTo>
                    <a:pt x="11243377" y="1159680"/>
                  </a:lnTo>
                  <a:lnTo>
                    <a:pt x="11247119" y="1141171"/>
                  </a:lnTo>
                  <a:lnTo>
                    <a:pt x="11247119" y="47498"/>
                  </a:lnTo>
                  <a:lnTo>
                    <a:pt x="11243377" y="29039"/>
                  </a:lnTo>
                  <a:lnTo>
                    <a:pt x="11233181" y="13938"/>
                  </a:lnTo>
                  <a:lnTo>
                    <a:pt x="11218080" y="3742"/>
                  </a:lnTo>
                  <a:lnTo>
                    <a:pt x="11199621" y="0"/>
                  </a:lnTo>
                  <a:close/>
                </a:path>
              </a:pathLst>
            </a:custGeom>
            <a:solidFill>
              <a:srgbClr val="FCF0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57961" y="5075682"/>
              <a:ext cx="11247120" cy="1188720"/>
            </a:xfrm>
            <a:custGeom>
              <a:avLst/>
              <a:gdLst/>
              <a:ahLst/>
              <a:cxnLst/>
              <a:rect l="l" t="t" r="r" b="b"/>
              <a:pathLst>
                <a:path w="11247120" h="1188720">
                  <a:moveTo>
                    <a:pt x="0" y="47498"/>
                  </a:moveTo>
                  <a:lnTo>
                    <a:pt x="3736" y="29039"/>
                  </a:lnTo>
                  <a:lnTo>
                    <a:pt x="13925" y="13938"/>
                  </a:lnTo>
                  <a:lnTo>
                    <a:pt x="29039" y="3742"/>
                  </a:lnTo>
                  <a:lnTo>
                    <a:pt x="47548" y="0"/>
                  </a:lnTo>
                  <a:lnTo>
                    <a:pt x="11199621" y="0"/>
                  </a:lnTo>
                  <a:lnTo>
                    <a:pt x="11218080" y="3742"/>
                  </a:lnTo>
                  <a:lnTo>
                    <a:pt x="11233181" y="13938"/>
                  </a:lnTo>
                  <a:lnTo>
                    <a:pt x="11243377" y="29039"/>
                  </a:lnTo>
                  <a:lnTo>
                    <a:pt x="11247119" y="47498"/>
                  </a:lnTo>
                  <a:lnTo>
                    <a:pt x="11247119" y="1141171"/>
                  </a:lnTo>
                  <a:lnTo>
                    <a:pt x="11243377" y="1159680"/>
                  </a:lnTo>
                  <a:lnTo>
                    <a:pt x="11233181" y="1174794"/>
                  </a:lnTo>
                  <a:lnTo>
                    <a:pt x="11218080" y="1184983"/>
                  </a:lnTo>
                  <a:lnTo>
                    <a:pt x="11199621" y="1188720"/>
                  </a:lnTo>
                  <a:lnTo>
                    <a:pt x="47548" y="1188720"/>
                  </a:lnTo>
                  <a:lnTo>
                    <a:pt x="29039" y="1184983"/>
                  </a:lnTo>
                  <a:lnTo>
                    <a:pt x="13925" y="1174794"/>
                  </a:lnTo>
                  <a:lnTo>
                    <a:pt x="3736" y="1159680"/>
                  </a:lnTo>
                  <a:lnTo>
                    <a:pt x="0" y="1141171"/>
                  </a:lnTo>
                  <a:lnTo>
                    <a:pt x="0" y="47498"/>
                  </a:lnTo>
                  <a:close/>
                </a:path>
              </a:pathLst>
            </a:custGeom>
            <a:ln w="19812">
              <a:solidFill>
                <a:srgbClr val="C889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68248" y="3368166"/>
            <a:ext cx="11011535" cy="2485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925820" indent="-165735">
              <a:lnSpc>
                <a:spcPct val="100000"/>
              </a:lnSpc>
              <a:spcBef>
                <a:spcPts val="105"/>
              </a:spcBef>
              <a:buChar char="•"/>
              <a:tabLst>
                <a:tab pos="5925820" algn="l"/>
              </a:tabLst>
            </a:pP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All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three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GANs</a:t>
            </a:r>
            <a:r>
              <a:rPr dirty="0" sz="1400" spc="-5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make</a:t>
            </a:r>
            <a:r>
              <a:rPr dirty="0" sz="14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head-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shaped,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MRI-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like</a:t>
            </a:r>
            <a:r>
              <a:rPr dirty="0" sz="14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images</a:t>
            </a:r>
            <a:r>
              <a:rPr dirty="0" sz="14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with</a:t>
            </a:r>
            <a:r>
              <a:rPr dirty="0" sz="14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soft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interiors;</a:t>
            </a:r>
            <a:endParaRPr sz="1400">
              <a:latin typeface="Calibri"/>
              <a:cs typeface="Calibri"/>
            </a:endParaRPr>
          </a:p>
          <a:p>
            <a:pPr marL="5760085">
              <a:lnSpc>
                <a:spcPct val="100000"/>
              </a:lnSpc>
            </a:pP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none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shows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an</a:t>
            </a:r>
            <a:r>
              <a:rPr dirty="0" sz="14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identifiable</a:t>
            </a:r>
            <a:r>
              <a:rPr dirty="0" sz="1400" spc="1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tumour.</a:t>
            </a:r>
            <a:endParaRPr sz="1400">
              <a:latin typeface="Calibri"/>
              <a:cs typeface="Calibri"/>
            </a:endParaRPr>
          </a:p>
          <a:p>
            <a:pPr marL="5760085" marR="222885" indent="165735">
              <a:lnSpc>
                <a:spcPct val="100000"/>
              </a:lnSpc>
              <a:spcBef>
                <a:spcPts val="405"/>
              </a:spcBef>
              <a:buChar char="•"/>
              <a:tabLst>
                <a:tab pos="5925820" algn="l"/>
              </a:tabLst>
            </a:pP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cWGAN-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GP:</a:t>
            </a:r>
            <a:r>
              <a:rPr dirty="0" sz="1400" spc="-5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the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no-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tumour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row</a:t>
            </a:r>
            <a:r>
              <a:rPr dirty="0" sz="14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is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visibly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brighter;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other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labels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 look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alike.</a:t>
            </a:r>
            <a:endParaRPr sz="1400">
              <a:latin typeface="Calibri"/>
              <a:cs typeface="Calibri"/>
            </a:endParaRPr>
          </a:p>
          <a:p>
            <a:pPr marL="5760085" marR="135255" indent="165735">
              <a:lnSpc>
                <a:spcPct val="100000"/>
              </a:lnSpc>
              <a:spcBef>
                <a:spcPts val="400"/>
              </a:spcBef>
              <a:buChar char="•"/>
              <a:tabLst>
                <a:tab pos="5925820" algn="l"/>
              </a:tabLst>
            </a:pP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Per-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class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KID: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only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meningioma</a:t>
            </a:r>
            <a:r>
              <a:rPr dirty="0" sz="14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is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closest</a:t>
            </a:r>
            <a:r>
              <a:rPr dirty="0" sz="14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to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its</a:t>
            </a:r>
            <a:r>
              <a:rPr dirty="0" sz="14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own</a:t>
            </a:r>
            <a:r>
              <a:rPr dirty="0" sz="1400" spc="-5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class;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pituitary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is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not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separated.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500" b="1">
                <a:solidFill>
                  <a:srgbClr val="13203C"/>
                </a:solidFill>
                <a:latin typeface="Calibri"/>
                <a:cs typeface="Calibri"/>
              </a:rPr>
              <a:t>Conclusion</a:t>
            </a:r>
            <a:r>
              <a:rPr dirty="0" sz="1500" spc="-30" b="1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3203C"/>
                </a:solidFill>
                <a:latin typeface="Calibri"/>
                <a:cs typeface="Calibri"/>
              </a:rPr>
              <a:t>on</a:t>
            </a:r>
            <a:r>
              <a:rPr dirty="0" sz="1500" spc="-30" b="1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13203C"/>
                </a:solidFill>
                <a:latin typeface="Calibri"/>
                <a:cs typeface="Calibri"/>
              </a:rPr>
              <a:t>conditioning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The</a:t>
            </a:r>
            <a:r>
              <a:rPr dirty="0" sz="14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generator</a:t>
            </a:r>
            <a:r>
              <a:rPr dirty="0" sz="14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did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NOT</a:t>
            </a:r>
            <a:r>
              <a:rPr dirty="0" sz="1400" spc="-5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demonstrate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reliable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tumour-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specific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anatomy.</a:t>
            </a:r>
            <a:r>
              <a:rPr dirty="0" sz="14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Synthetic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labels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are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requested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conditions,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not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expert-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verified</a:t>
            </a:r>
            <a:r>
              <a:rPr dirty="0" sz="14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diagnoses.</a:t>
            </a:r>
            <a:r>
              <a:rPr dirty="0" sz="14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Per-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class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FID/KID</a:t>
            </a:r>
            <a:r>
              <a:rPr dirty="0" sz="1400" spc="-5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rest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on</a:t>
            </a:r>
            <a:r>
              <a:rPr dirty="0" sz="14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only</a:t>
            </a:r>
            <a:r>
              <a:rPr dirty="0" sz="14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46–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196</a:t>
            </a:r>
            <a:r>
              <a:rPr dirty="0" sz="14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images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(indicative).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 spc="-10"/>
              <a:t>NeuroVision</a:t>
            </a:r>
            <a:r>
              <a:rPr dirty="0" spc="-20"/>
              <a:t> </a:t>
            </a:r>
            <a:r>
              <a:rPr dirty="0"/>
              <a:t>AI</a:t>
            </a:r>
            <a:r>
              <a:rPr dirty="0" spc="195"/>
              <a:t> </a:t>
            </a:r>
            <a:r>
              <a:rPr dirty="0"/>
              <a:t>|</a:t>
            </a:r>
            <a:r>
              <a:rPr dirty="0" spc="200"/>
              <a:t> </a:t>
            </a:r>
            <a:r>
              <a:rPr dirty="0"/>
              <a:t>Brain</a:t>
            </a:r>
            <a:r>
              <a:rPr dirty="0" spc="-15"/>
              <a:t> </a:t>
            </a:r>
            <a:r>
              <a:rPr dirty="0"/>
              <a:t>Tumor</a:t>
            </a:r>
            <a:r>
              <a:rPr dirty="0" spc="-15"/>
              <a:t> </a:t>
            </a:r>
            <a:r>
              <a:rPr dirty="0"/>
              <a:t>MRI</a:t>
            </a:r>
            <a:r>
              <a:rPr dirty="0" spc="-25"/>
              <a:t> </a:t>
            </a:r>
            <a:r>
              <a:rPr dirty="0"/>
              <a:t>Generation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/>
              <a:t>Classification</a:t>
            </a:r>
            <a:r>
              <a:rPr dirty="0" spc="195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Ajai</a:t>
            </a:r>
            <a:r>
              <a:rPr dirty="0" spc="-30"/>
              <a:t> </a:t>
            </a:r>
            <a:r>
              <a:rPr dirty="0"/>
              <a:t>Kumar N</a:t>
            </a:r>
            <a:r>
              <a:rPr dirty="0" spc="-10"/>
              <a:t> </a:t>
            </a:r>
            <a:r>
              <a:rPr dirty="0"/>
              <a:t>(URK23CS5064)</a:t>
            </a:r>
            <a:r>
              <a:rPr dirty="0" spc="245"/>
              <a:t> </a:t>
            </a:r>
            <a:r>
              <a:rPr dirty="0"/>
              <a:t>|</a:t>
            </a:r>
            <a:r>
              <a:rPr dirty="0" spc="204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FID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35"/>
              <a:t> </a:t>
            </a:r>
            <a:r>
              <a:rPr dirty="0"/>
              <a:t>KID</a:t>
            </a:r>
            <a:r>
              <a:rPr dirty="0" spc="-20"/>
              <a:t> </a:t>
            </a:r>
            <a:r>
              <a:rPr dirty="0"/>
              <a:t>comparison</a:t>
            </a:r>
            <a:r>
              <a:rPr dirty="0" spc="-50"/>
              <a:t> </a:t>
            </a:r>
            <a:r>
              <a:rPr dirty="0"/>
              <a:t>(lower</a:t>
            </a:r>
            <a:r>
              <a:rPr dirty="0" spc="-30"/>
              <a:t> </a:t>
            </a:r>
            <a:r>
              <a:rPr dirty="0"/>
              <a:t>is</a:t>
            </a:r>
            <a:r>
              <a:rPr dirty="0" spc="-45"/>
              <a:t> </a:t>
            </a:r>
            <a:r>
              <a:rPr dirty="0" spc="-10"/>
              <a:t>better)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50850" y="1182369"/>
          <a:ext cx="5483860" cy="2292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0"/>
                <a:gridCol w="1554479"/>
                <a:gridCol w="1554479"/>
              </a:tblGrid>
              <a:tr h="45720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5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Model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39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5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FID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39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5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KID</a:t>
                      </a:r>
                      <a:r>
                        <a:rPr dirty="0" sz="15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×</a:t>
                      </a:r>
                      <a:r>
                        <a:rPr dirty="0" sz="15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1000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39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500" spc="-2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Real-</a:t>
                      </a:r>
                      <a:r>
                        <a:rPr dirty="0" sz="15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vs-</a:t>
                      </a:r>
                      <a:r>
                        <a:rPr dirty="0" sz="15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real</a:t>
                      </a:r>
                      <a:r>
                        <a:rPr dirty="0" sz="1500" spc="2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2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floor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marL="39687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5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34.2</a:t>
                      </a:r>
                      <a:r>
                        <a:rPr dirty="0" sz="1500" spc="-2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±</a:t>
                      </a:r>
                      <a:r>
                        <a:rPr dirty="0" sz="1500" spc="-1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2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0.3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5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−0.3</a:t>
                      </a:r>
                      <a:r>
                        <a:rPr dirty="0" sz="1500" spc="-2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±</a:t>
                      </a:r>
                      <a:r>
                        <a:rPr dirty="0" sz="15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2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0.1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EDF1F6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500" b="1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DCGAN</a:t>
                      </a:r>
                      <a:r>
                        <a:rPr dirty="0" sz="1500" spc="-55" b="1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 b="1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(best)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671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500" b="1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154.7</a:t>
                      </a:r>
                      <a:r>
                        <a:rPr dirty="0" sz="1500" spc="-10" b="1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b="1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±</a:t>
                      </a:r>
                      <a:r>
                        <a:rPr dirty="0" sz="1500" spc="-40" b="1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25" b="1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1.9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671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500" b="1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129.4</a:t>
                      </a:r>
                      <a:r>
                        <a:rPr dirty="0" sz="1500" spc="-15" b="1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b="1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±</a:t>
                      </a:r>
                      <a:r>
                        <a:rPr dirty="0" sz="1500" spc="-35" b="1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25" b="1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2.4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5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cWGAN-</a:t>
                      </a:r>
                      <a:r>
                        <a:rPr dirty="0" sz="1500" spc="-2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GP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marL="34798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5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177.8</a:t>
                      </a:r>
                      <a:r>
                        <a:rPr dirty="0" sz="1500" spc="-1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±</a:t>
                      </a:r>
                      <a:r>
                        <a:rPr dirty="0" sz="1500" spc="-3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2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1.8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marL="34798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5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157.6</a:t>
                      </a:r>
                      <a:r>
                        <a:rPr dirty="0" sz="1500" spc="-1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±</a:t>
                      </a:r>
                      <a:r>
                        <a:rPr dirty="0" sz="1500" spc="-3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2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2.4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DF1F6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5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WGAN-</a:t>
                      </a:r>
                      <a:r>
                        <a:rPr dirty="0" sz="1500" spc="-2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GP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798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5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182.1</a:t>
                      </a:r>
                      <a:r>
                        <a:rPr dirty="0" sz="1500" spc="-1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±</a:t>
                      </a:r>
                      <a:r>
                        <a:rPr dirty="0" sz="1500" spc="-3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2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1.5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798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5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163.5</a:t>
                      </a:r>
                      <a:r>
                        <a:rPr dirty="0" sz="1500" spc="-1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±</a:t>
                      </a:r>
                      <a:r>
                        <a:rPr dirty="0" sz="1500" spc="-3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2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2.0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" name="object 4" descr="fid_kid_bar_chart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35040" y="1356360"/>
            <a:ext cx="5760720" cy="240792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54227" y="3612870"/>
            <a:ext cx="5106035" cy="89408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78435" indent="-165735">
              <a:lnSpc>
                <a:spcPct val="100000"/>
              </a:lnSpc>
              <a:spcBef>
                <a:spcPts val="700"/>
              </a:spcBef>
              <a:buChar char="•"/>
              <a:tabLst>
                <a:tab pos="178435" algn="l"/>
              </a:tabLst>
            </a:pP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n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=</a:t>
            </a:r>
            <a:r>
              <a:rPr dirty="0" sz="14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492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test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images;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mean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±</a:t>
            </a:r>
            <a:r>
              <a:rPr dirty="0" sz="14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sd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over</a:t>
            </a:r>
            <a:r>
              <a:rPr dirty="0" sz="14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3</a:t>
            </a:r>
            <a:r>
              <a:rPr dirty="0" sz="14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generation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seeds.</a:t>
            </a:r>
            <a:endParaRPr sz="1400">
              <a:latin typeface="Calibri"/>
              <a:cs typeface="Calibri"/>
            </a:endParaRPr>
          </a:p>
          <a:p>
            <a:pPr marL="178435" indent="-165735">
              <a:lnSpc>
                <a:spcPct val="100000"/>
              </a:lnSpc>
              <a:spcBef>
                <a:spcPts val="600"/>
              </a:spcBef>
              <a:buChar char="•"/>
              <a:tabLst>
                <a:tab pos="178435" algn="l"/>
              </a:tabLst>
            </a:pP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Each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GAN</a:t>
            </a:r>
            <a:r>
              <a:rPr dirty="0" sz="14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trained</a:t>
            </a:r>
            <a:r>
              <a:rPr dirty="0" sz="14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once,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so</a:t>
            </a:r>
            <a:r>
              <a:rPr dirty="0" sz="14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training-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run</a:t>
            </a:r>
            <a:r>
              <a:rPr dirty="0" sz="14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variance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is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unmeasured.</a:t>
            </a:r>
            <a:endParaRPr sz="1400">
              <a:latin typeface="Calibri"/>
              <a:cs typeface="Calibri"/>
            </a:endParaRPr>
          </a:p>
          <a:p>
            <a:pPr marL="178435" indent="-165735">
              <a:lnSpc>
                <a:spcPct val="100000"/>
              </a:lnSpc>
              <a:spcBef>
                <a:spcPts val="600"/>
              </a:spcBef>
              <a:buChar char="•"/>
              <a:tabLst>
                <a:tab pos="178435" algn="l"/>
              </a:tabLst>
            </a:pP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Not</a:t>
            </a:r>
            <a:r>
              <a:rPr dirty="0" sz="1400" spc="-6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compute-matched: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3,000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discriminator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vs</a:t>
            </a:r>
            <a:r>
              <a:rPr dirty="0" sz="1400" spc="-5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15,000</a:t>
            </a:r>
            <a:r>
              <a:rPr dirty="0" sz="14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critic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updates.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025896" y="4151376"/>
            <a:ext cx="5781040" cy="2123440"/>
            <a:chOff x="6025896" y="4151376"/>
            <a:chExt cx="5781040" cy="2123440"/>
          </a:xfrm>
        </p:grpSpPr>
        <p:sp>
          <p:nvSpPr>
            <p:cNvPr id="7" name="object 7"/>
            <p:cNvSpPr/>
            <p:nvPr/>
          </p:nvSpPr>
          <p:spPr>
            <a:xfrm>
              <a:off x="6035802" y="4161282"/>
              <a:ext cx="5760720" cy="2103120"/>
            </a:xfrm>
            <a:custGeom>
              <a:avLst/>
              <a:gdLst/>
              <a:ahLst/>
              <a:cxnLst/>
              <a:rect l="l" t="t" r="r" b="b"/>
              <a:pathLst>
                <a:path w="5760720" h="2103120">
                  <a:moveTo>
                    <a:pt x="5676646" y="0"/>
                  </a:moveTo>
                  <a:lnTo>
                    <a:pt x="84074" y="0"/>
                  </a:lnTo>
                  <a:lnTo>
                    <a:pt x="51381" y="6617"/>
                  </a:lnTo>
                  <a:lnTo>
                    <a:pt x="24653" y="24653"/>
                  </a:lnTo>
                  <a:lnTo>
                    <a:pt x="6617" y="51381"/>
                  </a:lnTo>
                  <a:lnTo>
                    <a:pt x="0" y="84074"/>
                  </a:lnTo>
                  <a:lnTo>
                    <a:pt x="0" y="2018995"/>
                  </a:lnTo>
                  <a:lnTo>
                    <a:pt x="6617" y="2051738"/>
                  </a:lnTo>
                  <a:lnTo>
                    <a:pt x="24653" y="2078478"/>
                  </a:lnTo>
                  <a:lnTo>
                    <a:pt x="51381" y="2096508"/>
                  </a:lnTo>
                  <a:lnTo>
                    <a:pt x="84074" y="2103120"/>
                  </a:lnTo>
                  <a:lnTo>
                    <a:pt x="5676646" y="2103120"/>
                  </a:lnTo>
                  <a:lnTo>
                    <a:pt x="5709338" y="2096508"/>
                  </a:lnTo>
                  <a:lnTo>
                    <a:pt x="5736066" y="2078478"/>
                  </a:lnTo>
                  <a:lnTo>
                    <a:pt x="5754102" y="2051738"/>
                  </a:lnTo>
                  <a:lnTo>
                    <a:pt x="5760720" y="2018995"/>
                  </a:lnTo>
                  <a:lnTo>
                    <a:pt x="5760720" y="84074"/>
                  </a:lnTo>
                  <a:lnTo>
                    <a:pt x="5754102" y="51381"/>
                  </a:lnTo>
                  <a:lnTo>
                    <a:pt x="5736066" y="24653"/>
                  </a:lnTo>
                  <a:lnTo>
                    <a:pt x="5709338" y="6617"/>
                  </a:lnTo>
                  <a:lnTo>
                    <a:pt x="5676646" y="0"/>
                  </a:lnTo>
                  <a:close/>
                </a:path>
              </a:pathLst>
            </a:custGeom>
            <a:solidFill>
              <a:srgbClr val="FCF0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035802" y="4161282"/>
              <a:ext cx="5760720" cy="2103120"/>
            </a:xfrm>
            <a:custGeom>
              <a:avLst/>
              <a:gdLst/>
              <a:ahLst/>
              <a:cxnLst/>
              <a:rect l="l" t="t" r="r" b="b"/>
              <a:pathLst>
                <a:path w="5760720" h="2103120">
                  <a:moveTo>
                    <a:pt x="0" y="84074"/>
                  </a:moveTo>
                  <a:lnTo>
                    <a:pt x="6617" y="51381"/>
                  </a:lnTo>
                  <a:lnTo>
                    <a:pt x="24653" y="24653"/>
                  </a:lnTo>
                  <a:lnTo>
                    <a:pt x="51381" y="6617"/>
                  </a:lnTo>
                  <a:lnTo>
                    <a:pt x="84074" y="0"/>
                  </a:lnTo>
                  <a:lnTo>
                    <a:pt x="5676646" y="0"/>
                  </a:lnTo>
                  <a:lnTo>
                    <a:pt x="5709338" y="6617"/>
                  </a:lnTo>
                  <a:lnTo>
                    <a:pt x="5736066" y="24653"/>
                  </a:lnTo>
                  <a:lnTo>
                    <a:pt x="5754102" y="51381"/>
                  </a:lnTo>
                  <a:lnTo>
                    <a:pt x="5760720" y="84074"/>
                  </a:lnTo>
                  <a:lnTo>
                    <a:pt x="5760720" y="2018995"/>
                  </a:lnTo>
                  <a:lnTo>
                    <a:pt x="5754102" y="2051738"/>
                  </a:lnTo>
                  <a:lnTo>
                    <a:pt x="5736066" y="2078478"/>
                  </a:lnTo>
                  <a:lnTo>
                    <a:pt x="5709338" y="2096508"/>
                  </a:lnTo>
                  <a:lnTo>
                    <a:pt x="5676646" y="2103120"/>
                  </a:lnTo>
                  <a:lnTo>
                    <a:pt x="84074" y="2103120"/>
                  </a:lnTo>
                  <a:lnTo>
                    <a:pt x="51381" y="2096508"/>
                  </a:lnTo>
                  <a:lnTo>
                    <a:pt x="24653" y="2078478"/>
                  </a:lnTo>
                  <a:lnTo>
                    <a:pt x="6617" y="2051738"/>
                  </a:lnTo>
                  <a:lnTo>
                    <a:pt x="0" y="2018995"/>
                  </a:lnTo>
                  <a:lnTo>
                    <a:pt x="0" y="84074"/>
                  </a:lnTo>
                  <a:close/>
                </a:path>
              </a:pathLst>
            </a:custGeom>
            <a:ln w="19812">
              <a:solidFill>
                <a:srgbClr val="C889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6157340" y="4160786"/>
            <a:ext cx="5479415" cy="1052195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dirty="0" sz="1500" b="1">
                <a:solidFill>
                  <a:srgbClr val="13203C"/>
                </a:solidFill>
                <a:latin typeface="Calibri"/>
                <a:cs typeface="Calibri"/>
              </a:rPr>
              <a:t>How</a:t>
            </a:r>
            <a:r>
              <a:rPr dirty="0" sz="1500" spc="-35" b="1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3203C"/>
                </a:solidFill>
                <a:latin typeface="Calibri"/>
                <a:cs typeface="Calibri"/>
              </a:rPr>
              <a:t>to</a:t>
            </a:r>
            <a:r>
              <a:rPr dirty="0" sz="1500" spc="-10" b="1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3203C"/>
                </a:solidFill>
                <a:latin typeface="Calibri"/>
                <a:cs typeface="Calibri"/>
              </a:rPr>
              <a:t>read</a:t>
            </a:r>
            <a:r>
              <a:rPr dirty="0" sz="1500" spc="-40" b="1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3203C"/>
                </a:solidFill>
                <a:latin typeface="Calibri"/>
                <a:cs typeface="Calibri"/>
              </a:rPr>
              <a:t>these</a:t>
            </a:r>
            <a:r>
              <a:rPr dirty="0" sz="1500" spc="-35" b="1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13203C"/>
                </a:solidFill>
                <a:latin typeface="Calibri"/>
                <a:cs typeface="Calibri"/>
              </a:rPr>
              <a:t>metrics</a:t>
            </a:r>
            <a:endParaRPr sz="15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409"/>
              </a:spcBef>
            </a:pP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Inception-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v3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features</a:t>
            </a:r>
            <a:r>
              <a:rPr dirty="0" sz="1400" spc="-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were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learned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on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colour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photographs;</a:t>
            </a:r>
            <a:r>
              <a:rPr dirty="0" sz="14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FID</a:t>
            </a:r>
            <a:r>
              <a:rPr dirty="0" sz="14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is</a:t>
            </a:r>
            <a:r>
              <a:rPr dirty="0" sz="14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biased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for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small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samples.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They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do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not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establish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anatomical</a:t>
            </a:r>
            <a:r>
              <a:rPr dirty="0" sz="14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or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clinical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validity.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 spc="-10"/>
              <a:t>NeuroVision</a:t>
            </a:r>
            <a:r>
              <a:rPr dirty="0" spc="-20"/>
              <a:t> </a:t>
            </a:r>
            <a:r>
              <a:rPr dirty="0"/>
              <a:t>AI</a:t>
            </a:r>
            <a:r>
              <a:rPr dirty="0" spc="195"/>
              <a:t> </a:t>
            </a:r>
            <a:r>
              <a:rPr dirty="0"/>
              <a:t>|</a:t>
            </a:r>
            <a:r>
              <a:rPr dirty="0" spc="200"/>
              <a:t> </a:t>
            </a:r>
            <a:r>
              <a:rPr dirty="0"/>
              <a:t>Brain</a:t>
            </a:r>
            <a:r>
              <a:rPr dirty="0" spc="-15"/>
              <a:t> </a:t>
            </a:r>
            <a:r>
              <a:rPr dirty="0"/>
              <a:t>Tumor</a:t>
            </a:r>
            <a:r>
              <a:rPr dirty="0" spc="-15"/>
              <a:t> </a:t>
            </a:r>
            <a:r>
              <a:rPr dirty="0"/>
              <a:t>MRI</a:t>
            </a:r>
            <a:r>
              <a:rPr dirty="0" spc="-25"/>
              <a:t> </a:t>
            </a:r>
            <a:r>
              <a:rPr dirty="0"/>
              <a:t>Generation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/>
              <a:t>Classification</a:t>
            </a:r>
            <a:r>
              <a:rPr dirty="0" spc="195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Ajai</a:t>
            </a:r>
            <a:r>
              <a:rPr dirty="0" spc="-30"/>
              <a:t> </a:t>
            </a:r>
            <a:r>
              <a:rPr dirty="0"/>
              <a:t>Kumar N</a:t>
            </a:r>
            <a:r>
              <a:rPr dirty="0" spc="-10"/>
              <a:t> </a:t>
            </a:r>
            <a:r>
              <a:rPr dirty="0"/>
              <a:t>(URK23CS5064)</a:t>
            </a:r>
            <a:r>
              <a:rPr dirty="0" spc="245"/>
              <a:t> </a:t>
            </a:r>
            <a:r>
              <a:rPr dirty="0"/>
              <a:t>|</a:t>
            </a:r>
            <a:r>
              <a:rPr dirty="0" spc="204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Downstream</a:t>
            </a:r>
            <a:r>
              <a:rPr dirty="0" spc="-45"/>
              <a:t> </a:t>
            </a:r>
            <a:r>
              <a:rPr dirty="0" spc="-10"/>
              <a:t>classification:</a:t>
            </a:r>
            <a:r>
              <a:rPr dirty="0" spc="-20"/>
              <a:t> </a:t>
            </a:r>
            <a:r>
              <a:rPr dirty="0"/>
              <a:t>conditions</a:t>
            </a:r>
            <a:r>
              <a:rPr dirty="0" spc="-50"/>
              <a:t> </a:t>
            </a:r>
            <a:r>
              <a:rPr dirty="0"/>
              <a:t>A,</a:t>
            </a:r>
            <a:r>
              <a:rPr dirty="0" spc="-40"/>
              <a:t> </a:t>
            </a:r>
            <a:r>
              <a:rPr dirty="0"/>
              <a:t>B</a:t>
            </a:r>
            <a:r>
              <a:rPr dirty="0" spc="-50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 spc="-50"/>
              <a:t>C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50850" y="1182369"/>
          <a:ext cx="6672580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03120"/>
                <a:gridCol w="822959"/>
                <a:gridCol w="1463039"/>
                <a:gridCol w="1371600"/>
                <a:gridCol w="822960"/>
              </a:tblGrid>
              <a:tr h="45720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Condition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39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Train</a:t>
                      </a:r>
                      <a:r>
                        <a:rPr dirty="0" sz="1400" spc="-4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39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40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Test</a:t>
                      </a:r>
                      <a:r>
                        <a:rPr dirty="0" sz="1400" spc="-4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accuracy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39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Macro-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39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Val.</a:t>
                      </a:r>
                      <a:r>
                        <a:rPr dirty="0" sz="1400" spc="-6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acc.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39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4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A:</a:t>
                      </a:r>
                      <a:r>
                        <a:rPr dirty="0" sz="1400" spc="-3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real</a:t>
                      </a:r>
                      <a:r>
                        <a:rPr dirty="0" sz="1400" spc="-2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only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4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2,311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4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0.817</a:t>
                      </a:r>
                      <a:r>
                        <a:rPr dirty="0" sz="1400" spc="-1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±</a:t>
                      </a:r>
                      <a:r>
                        <a:rPr dirty="0" sz="1400" spc="-2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0.027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4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0.786</a:t>
                      </a:r>
                      <a:r>
                        <a:rPr dirty="0" sz="1400" spc="-1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±</a:t>
                      </a:r>
                      <a:r>
                        <a:rPr dirty="0" sz="1400" spc="-2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0.010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4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0.812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EDF1F6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4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B:</a:t>
                      </a:r>
                      <a:r>
                        <a:rPr dirty="0" sz="1400" spc="-3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real</a:t>
                      </a:r>
                      <a:r>
                        <a:rPr dirty="0" sz="1400" spc="-1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dirty="0" sz="1400" spc="-2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synthetic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4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5,199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4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0.839</a:t>
                      </a:r>
                      <a:r>
                        <a:rPr dirty="0" sz="1400" spc="-1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±</a:t>
                      </a:r>
                      <a:r>
                        <a:rPr dirty="0" sz="1400" spc="-2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0.020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4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0.821</a:t>
                      </a:r>
                      <a:r>
                        <a:rPr dirty="0" sz="1400" spc="-15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±</a:t>
                      </a:r>
                      <a:r>
                        <a:rPr dirty="0" sz="1400" spc="-2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0.025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400" spc="-10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0.827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400" b="1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C:</a:t>
                      </a:r>
                      <a:r>
                        <a:rPr dirty="0" sz="1400" spc="-15" b="1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matched</a:t>
                      </a:r>
                      <a:r>
                        <a:rPr dirty="0" sz="1400" spc="-40" b="1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real</a:t>
                      </a:r>
                      <a:r>
                        <a:rPr dirty="0" sz="1400" spc="-30" b="1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 b="1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only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400" spc="-10" b="1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5,199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400" b="1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0.869</a:t>
                      </a:r>
                      <a:r>
                        <a:rPr dirty="0" sz="1400" spc="-20" b="1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±</a:t>
                      </a:r>
                      <a:r>
                        <a:rPr dirty="0" sz="1400" spc="-35" b="1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0.021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400" b="1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0.853</a:t>
                      </a:r>
                      <a:r>
                        <a:rPr dirty="0" sz="1400" spc="-20" b="1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±</a:t>
                      </a:r>
                      <a:r>
                        <a:rPr dirty="0" sz="1400" spc="-35" b="1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0.024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400" spc="-10" b="1">
                          <a:solidFill>
                            <a:srgbClr val="13203C"/>
                          </a:solidFill>
                          <a:latin typeface="Calibri"/>
                          <a:cs typeface="Calibri"/>
                        </a:rPr>
                        <a:t>0.877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1F6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7413117" y="1130554"/>
            <a:ext cx="4089400" cy="1752600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193040" indent="-180340">
              <a:lnSpc>
                <a:spcPct val="100000"/>
              </a:lnSpc>
              <a:spcBef>
                <a:spcPts val="795"/>
              </a:spcBef>
              <a:buChar char="•"/>
              <a:tabLst>
                <a:tab pos="193040" algn="l"/>
              </a:tabLst>
            </a:pPr>
            <a:r>
              <a:rPr dirty="0" sz="1500" spc="-40">
                <a:solidFill>
                  <a:srgbClr val="13203C"/>
                </a:solidFill>
                <a:latin typeface="Calibri"/>
                <a:cs typeface="Calibri"/>
              </a:rPr>
              <a:t>Test</a:t>
            </a:r>
            <a:r>
              <a:rPr dirty="0" sz="15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set:</a:t>
            </a:r>
            <a:r>
              <a:rPr dirty="0" sz="15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492</a:t>
            </a:r>
            <a:r>
              <a:rPr dirty="0" sz="15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images,</a:t>
            </a:r>
            <a:r>
              <a:rPr dirty="0" sz="15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3</a:t>
            </a:r>
            <a:r>
              <a:rPr dirty="0" sz="15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training</a:t>
            </a:r>
            <a:r>
              <a:rPr dirty="0" sz="1500" spc="-5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3203C"/>
                </a:solidFill>
                <a:latin typeface="Calibri"/>
                <a:cs typeface="Calibri"/>
              </a:rPr>
              <a:t>seeds.</a:t>
            </a:r>
            <a:endParaRPr sz="1500">
              <a:latin typeface="Calibri"/>
              <a:cs typeface="Calibri"/>
            </a:endParaRPr>
          </a:p>
          <a:p>
            <a:pPr marL="12700" marR="5080" indent="180340">
              <a:lnSpc>
                <a:spcPct val="100000"/>
              </a:lnSpc>
              <a:spcBef>
                <a:spcPts val="695"/>
              </a:spcBef>
              <a:buChar char="•"/>
              <a:tabLst>
                <a:tab pos="193040" algn="l"/>
              </a:tabLst>
            </a:pP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Adding</a:t>
            </a:r>
            <a:r>
              <a:rPr dirty="0" sz="15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3203C"/>
                </a:solidFill>
                <a:latin typeface="Calibri"/>
                <a:cs typeface="Calibri"/>
              </a:rPr>
              <a:t>cWGAN-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GP</a:t>
            </a:r>
            <a:r>
              <a:rPr dirty="0" sz="1500" spc="-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images</a:t>
            </a:r>
            <a:r>
              <a:rPr dirty="0" sz="15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(B)</a:t>
            </a:r>
            <a:r>
              <a:rPr dirty="0" sz="15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beat</a:t>
            </a:r>
            <a:r>
              <a:rPr dirty="0" sz="15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3203C"/>
                </a:solidFill>
                <a:latin typeface="Calibri"/>
                <a:cs typeface="Calibri"/>
              </a:rPr>
              <a:t>real-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only</a:t>
            </a:r>
            <a:r>
              <a:rPr dirty="0" sz="1500" spc="-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(A)</a:t>
            </a:r>
            <a:r>
              <a:rPr dirty="0" sz="15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13203C"/>
                </a:solidFill>
                <a:latin typeface="Calibri"/>
                <a:cs typeface="Calibri"/>
              </a:rPr>
              <a:t>in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all</a:t>
            </a:r>
            <a:r>
              <a:rPr dirty="0" sz="15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3</a:t>
            </a:r>
            <a:r>
              <a:rPr dirty="0" sz="15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seeds</a:t>
            </a:r>
            <a:r>
              <a:rPr dirty="0" sz="15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(+0.022</a:t>
            </a:r>
            <a:r>
              <a:rPr dirty="0" sz="15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3203C"/>
                </a:solidFill>
                <a:latin typeface="Calibri"/>
                <a:cs typeface="Calibri"/>
              </a:rPr>
              <a:t>accuracy).</a:t>
            </a:r>
            <a:endParaRPr sz="1500">
              <a:latin typeface="Calibri"/>
              <a:cs typeface="Calibri"/>
            </a:endParaRPr>
          </a:p>
          <a:p>
            <a:pPr marL="12700" marR="121285" indent="180340">
              <a:lnSpc>
                <a:spcPct val="100000"/>
              </a:lnSpc>
              <a:spcBef>
                <a:spcPts val="710"/>
              </a:spcBef>
              <a:buChar char="•"/>
              <a:tabLst>
                <a:tab pos="193040" algn="l"/>
              </a:tabLst>
            </a:pP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But</a:t>
            </a:r>
            <a:r>
              <a:rPr dirty="0" sz="15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the</a:t>
            </a:r>
            <a:r>
              <a:rPr dirty="0" sz="15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20">
                <a:solidFill>
                  <a:srgbClr val="13203C"/>
                </a:solidFill>
                <a:latin typeface="Calibri"/>
                <a:cs typeface="Calibri"/>
              </a:rPr>
              <a:t>size-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matched</a:t>
            </a:r>
            <a:r>
              <a:rPr dirty="0" sz="1500" spc="-1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20">
                <a:solidFill>
                  <a:srgbClr val="13203C"/>
                </a:solidFill>
                <a:latin typeface="Calibri"/>
                <a:cs typeface="Calibri"/>
              </a:rPr>
              <a:t>real-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only </a:t>
            </a:r>
            <a:r>
              <a:rPr dirty="0" sz="1500" spc="-10">
                <a:solidFill>
                  <a:srgbClr val="13203C"/>
                </a:solidFill>
                <a:latin typeface="Calibri"/>
                <a:cs typeface="Calibri"/>
              </a:rPr>
              <a:t>control</a:t>
            </a:r>
            <a:r>
              <a:rPr dirty="0" sz="15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(C)</a:t>
            </a:r>
            <a:r>
              <a:rPr dirty="0" sz="15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3203C"/>
                </a:solidFill>
                <a:latin typeface="Calibri"/>
                <a:cs typeface="Calibri"/>
              </a:rPr>
              <a:t>scored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highest:</a:t>
            </a:r>
            <a:r>
              <a:rPr dirty="0" sz="15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0.869</a:t>
            </a:r>
            <a:r>
              <a:rPr dirty="0" sz="15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20">
                <a:solidFill>
                  <a:srgbClr val="13203C"/>
                </a:solidFill>
                <a:latin typeface="Calibri"/>
                <a:cs typeface="Calibri"/>
              </a:rPr>
              <a:t>accuracy,</a:t>
            </a:r>
            <a:r>
              <a:rPr dirty="0" sz="15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0.853 </a:t>
            </a:r>
            <a:r>
              <a:rPr dirty="0" sz="1500" spc="-10">
                <a:solidFill>
                  <a:srgbClr val="13203C"/>
                </a:solidFill>
                <a:latin typeface="Calibri"/>
                <a:cs typeface="Calibri"/>
              </a:rPr>
              <a:t>macro-</a:t>
            </a:r>
            <a:r>
              <a:rPr dirty="0" sz="1500" spc="-25">
                <a:solidFill>
                  <a:srgbClr val="13203C"/>
                </a:solidFill>
                <a:latin typeface="Calibri"/>
                <a:cs typeface="Calibri"/>
              </a:rPr>
              <a:t>F1.</a:t>
            </a:r>
            <a:endParaRPr sz="1500">
              <a:latin typeface="Calibri"/>
              <a:cs typeface="Calibri"/>
            </a:endParaRPr>
          </a:p>
          <a:p>
            <a:pPr marL="193040" indent="-180340">
              <a:lnSpc>
                <a:spcPct val="100000"/>
              </a:lnSpc>
              <a:spcBef>
                <a:spcPts val="695"/>
              </a:spcBef>
              <a:buChar char="•"/>
              <a:tabLst>
                <a:tab pos="193040" algn="l"/>
              </a:tabLst>
            </a:pP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Mean</a:t>
            </a:r>
            <a:r>
              <a:rPr dirty="0" sz="15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B</a:t>
            </a:r>
            <a:r>
              <a:rPr dirty="0" sz="15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−</a:t>
            </a:r>
            <a:r>
              <a:rPr dirty="0" sz="15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C</a:t>
            </a:r>
            <a:r>
              <a:rPr dirty="0" sz="15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accuracy:</a:t>
            </a:r>
            <a:r>
              <a:rPr dirty="0" sz="15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3203C"/>
                </a:solidFill>
                <a:latin typeface="Calibri"/>
                <a:cs typeface="Calibri"/>
              </a:rPr>
              <a:t>−0.030.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4" name="object 4" descr="accuracy_A_B_C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759" y="3694176"/>
            <a:ext cx="6766559" cy="2029968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7306056" y="4151376"/>
            <a:ext cx="4500880" cy="2123440"/>
            <a:chOff x="7306056" y="4151376"/>
            <a:chExt cx="4500880" cy="2123440"/>
          </a:xfrm>
        </p:grpSpPr>
        <p:sp>
          <p:nvSpPr>
            <p:cNvPr id="7" name="object 7"/>
            <p:cNvSpPr/>
            <p:nvPr/>
          </p:nvSpPr>
          <p:spPr>
            <a:xfrm>
              <a:off x="7315962" y="4161282"/>
              <a:ext cx="4480560" cy="2103120"/>
            </a:xfrm>
            <a:custGeom>
              <a:avLst/>
              <a:gdLst/>
              <a:ahLst/>
              <a:cxnLst/>
              <a:rect l="l" t="t" r="r" b="b"/>
              <a:pathLst>
                <a:path w="4480559" h="2103120">
                  <a:moveTo>
                    <a:pt x="4396486" y="0"/>
                  </a:moveTo>
                  <a:lnTo>
                    <a:pt x="84074" y="0"/>
                  </a:lnTo>
                  <a:lnTo>
                    <a:pt x="51381" y="6617"/>
                  </a:lnTo>
                  <a:lnTo>
                    <a:pt x="24653" y="24653"/>
                  </a:lnTo>
                  <a:lnTo>
                    <a:pt x="6617" y="51381"/>
                  </a:lnTo>
                  <a:lnTo>
                    <a:pt x="0" y="84074"/>
                  </a:lnTo>
                  <a:lnTo>
                    <a:pt x="0" y="2018995"/>
                  </a:lnTo>
                  <a:lnTo>
                    <a:pt x="6617" y="2051738"/>
                  </a:lnTo>
                  <a:lnTo>
                    <a:pt x="24653" y="2078478"/>
                  </a:lnTo>
                  <a:lnTo>
                    <a:pt x="51381" y="2096508"/>
                  </a:lnTo>
                  <a:lnTo>
                    <a:pt x="84074" y="2103120"/>
                  </a:lnTo>
                  <a:lnTo>
                    <a:pt x="4396486" y="2103120"/>
                  </a:lnTo>
                  <a:lnTo>
                    <a:pt x="4429178" y="2096508"/>
                  </a:lnTo>
                  <a:lnTo>
                    <a:pt x="4455906" y="2078478"/>
                  </a:lnTo>
                  <a:lnTo>
                    <a:pt x="4473942" y="2051738"/>
                  </a:lnTo>
                  <a:lnTo>
                    <a:pt x="4480560" y="2018995"/>
                  </a:lnTo>
                  <a:lnTo>
                    <a:pt x="4480560" y="84074"/>
                  </a:lnTo>
                  <a:lnTo>
                    <a:pt x="4473942" y="51381"/>
                  </a:lnTo>
                  <a:lnTo>
                    <a:pt x="4455906" y="24653"/>
                  </a:lnTo>
                  <a:lnTo>
                    <a:pt x="4429178" y="6617"/>
                  </a:lnTo>
                  <a:lnTo>
                    <a:pt x="4396486" y="0"/>
                  </a:lnTo>
                  <a:close/>
                </a:path>
              </a:pathLst>
            </a:custGeom>
            <a:solidFill>
              <a:srgbClr val="E3F1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315962" y="4161282"/>
              <a:ext cx="4480560" cy="2103120"/>
            </a:xfrm>
            <a:custGeom>
              <a:avLst/>
              <a:gdLst/>
              <a:ahLst/>
              <a:cxnLst/>
              <a:rect l="l" t="t" r="r" b="b"/>
              <a:pathLst>
                <a:path w="4480559" h="2103120">
                  <a:moveTo>
                    <a:pt x="0" y="84074"/>
                  </a:moveTo>
                  <a:lnTo>
                    <a:pt x="6617" y="51381"/>
                  </a:lnTo>
                  <a:lnTo>
                    <a:pt x="24653" y="24653"/>
                  </a:lnTo>
                  <a:lnTo>
                    <a:pt x="51381" y="6617"/>
                  </a:lnTo>
                  <a:lnTo>
                    <a:pt x="84074" y="0"/>
                  </a:lnTo>
                  <a:lnTo>
                    <a:pt x="4396486" y="0"/>
                  </a:lnTo>
                  <a:lnTo>
                    <a:pt x="4429178" y="6617"/>
                  </a:lnTo>
                  <a:lnTo>
                    <a:pt x="4455906" y="24653"/>
                  </a:lnTo>
                  <a:lnTo>
                    <a:pt x="4473942" y="51381"/>
                  </a:lnTo>
                  <a:lnTo>
                    <a:pt x="4480560" y="84074"/>
                  </a:lnTo>
                  <a:lnTo>
                    <a:pt x="4480560" y="2018995"/>
                  </a:lnTo>
                  <a:lnTo>
                    <a:pt x="4473942" y="2051738"/>
                  </a:lnTo>
                  <a:lnTo>
                    <a:pt x="4455906" y="2078478"/>
                  </a:lnTo>
                  <a:lnTo>
                    <a:pt x="4429178" y="2096508"/>
                  </a:lnTo>
                  <a:lnTo>
                    <a:pt x="4396486" y="2103120"/>
                  </a:lnTo>
                  <a:lnTo>
                    <a:pt x="84074" y="2103120"/>
                  </a:lnTo>
                  <a:lnTo>
                    <a:pt x="51381" y="2096508"/>
                  </a:lnTo>
                  <a:lnTo>
                    <a:pt x="24653" y="2078478"/>
                  </a:lnTo>
                  <a:lnTo>
                    <a:pt x="6617" y="2051738"/>
                  </a:lnTo>
                  <a:lnTo>
                    <a:pt x="0" y="2018995"/>
                  </a:lnTo>
                  <a:lnTo>
                    <a:pt x="0" y="84074"/>
                  </a:lnTo>
                  <a:close/>
                </a:path>
              </a:pathLst>
            </a:custGeom>
            <a:ln w="19812">
              <a:solidFill>
                <a:srgbClr val="2A9D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7437881" y="4160786"/>
            <a:ext cx="4111625" cy="1215390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dirty="0" sz="1500" spc="-10" b="1">
                <a:solidFill>
                  <a:srgbClr val="13203C"/>
                </a:solidFill>
                <a:latin typeface="Calibri"/>
                <a:cs typeface="Calibri"/>
              </a:rPr>
              <a:t>Conclusion</a:t>
            </a:r>
            <a:endParaRPr sz="15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409"/>
              </a:spcBef>
            </a:pP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No</a:t>
            </a:r>
            <a:r>
              <a:rPr dirty="0" sz="1400" spc="-6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benefit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of</a:t>
            </a:r>
            <a:r>
              <a:rPr dirty="0" sz="14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synthetic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augmentation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beyond</a:t>
            </a:r>
            <a:r>
              <a:rPr dirty="0" sz="14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added training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volume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is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demonstrated;</a:t>
            </a:r>
            <a:r>
              <a:rPr dirty="0" sz="14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the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point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estimates favour</a:t>
            </a:r>
            <a:r>
              <a:rPr dirty="0" sz="1400" spc="-5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the</a:t>
            </a:r>
            <a:r>
              <a:rPr dirty="0" sz="14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control.</a:t>
            </a:r>
            <a:r>
              <a:rPr dirty="0" sz="14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A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single</a:t>
            </a:r>
            <a:r>
              <a:rPr dirty="0" sz="14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run</a:t>
            </a:r>
            <a:r>
              <a:rPr dirty="0" sz="14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has</a:t>
            </a:r>
            <a:r>
              <a:rPr dirty="0" sz="14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±3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accuracy</a:t>
            </a:r>
            <a:r>
              <a:rPr dirty="0" sz="14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points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of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sampling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error;</a:t>
            </a:r>
            <a:r>
              <a:rPr dirty="0" sz="14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no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significance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test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was</a:t>
            </a:r>
            <a:r>
              <a:rPr dirty="0" sz="14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run.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 spc="-10"/>
              <a:t>NeuroVision</a:t>
            </a:r>
            <a:r>
              <a:rPr dirty="0" spc="-20"/>
              <a:t> </a:t>
            </a:r>
            <a:r>
              <a:rPr dirty="0"/>
              <a:t>AI</a:t>
            </a:r>
            <a:r>
              <a:rPr dirty="0" spc="195"/>
              <a:t> </a:t>
            </a:r>
            <a:r>
              <a:rPr dirty="0"/>
              <a:t>|</a:t>
            </a:r>
            <a:r>
              <a:rPr dirty="0" spc="200"/>
              <a:t> </a:t>
            </a:r>
            <a:r>
              <a:rPr dirty="0"/>
              <a:t>Brain</a:t>
            </a:r>
            <a:r>
              <a:rPr dirty="0" spc="-15"/>
              <a:t> </a:t>
            </a:r>
            <a:r>
              <a:rPr dirty="0"/>
              <a:t>Tumor</a:t>
            </a:r>
            <a:r>
              <a:rPr dirty="0" spc="-15"/>
              <a:t> </a:t>
            </a:r>
            <a:r>
              <a:rPr dirty="0"/>
              <a:t>MRI</a:t>
            </a:r>
            <a:r>
              <a:rPr dirty="0" spc="-25"/>
              <a:t> </a:t>
            </a:r>
            <a:r>
              <a:rPr dirty="0"/>
              <a:t>Generation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/>
              <a:t>Classification</a:t>
            </a:r>
            <a:r>
              <a:rPr dirty="0" spc="195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Ajai</a:t>
            </a:r>
            <a:r>
              <a:rPr dirty="0" spc="-30"/>
              <a:t> </a:t>
            </a:r>
            <a:r>
              <a:rPr dirty="0"/>
              <a:t>Kumar N</a:t>
            </a:r>
            <a:r>
              <a:rPr dirty="0" spc="-10"/>
              <a:t> </a:t>
            </a:r>
            <a:r>
              <a:rPr dirty="0"/>
              <a:t>(URK23CS5064)</a:t>
            </a:r>
            <a:r>
              <a:rPr dirty="0" spc="245"/>
              <a:t> </a:t>
            </a:r>
            <a:r>
              <a:rPr dirty="0"/>
              <a:t>|</a:t>
            </a:r>
            <a:r>
              <a:rPr dirty="0" spc="204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Class-</a:t>
            </a:r>
            <a:r>
              <a:rPr dirty="0"/>
              <a:t>wise</a:t>
            </a:r>
            <a:r>
              <a:rPr dirty="0" spc="-50"/>
              <a:t> </a:t>
            </a:r>
            <a:r>
              <a:rPr dirty="0"/>
              <a:t>findings,</a:t>
            </a:r>
            <a:r>
              <a:rPr dirty="0" spc="-55"/>
              <a:t> </a:t>
            </a:r>
            <a:r>
              <a:rPr dirty="0"/>
              <a:t>ethics</a:t>
            </a:r>
            <a:r>
              <a:rPr dirty="0" spc="-50"/>
              <a:t> </a:t>
            </a:r>
            <a:r>
              <a:rPr dirty="0"/>
              <a:t>and</a:t>
            </a:r>
            <a:r>
              <a:rPr dirty="0" spc="-70"/>
              <a:t> </a:t>
            </a:r>
            <a:r>
              <a:rPr dirty="0" spc="-25"/>
              <a:t>patient-</a:t>
            </a:r>
            <a:r>
              <a:rPr dirty="0"/>
              <a:t>safety</a:t>
            </a:r>
            <a:r>
              <a:rPr dirty="0" spc="-15"/>
              <a:t> </a:t>
            </a:r>
            <a:r>
              <a:rPr dirty="0" spc="-10"/>
              <a:t>limits</a:t>
            </a:r>
          </a:p>
        </p:txBody>
      </p:sp>
      <p:pic>
        <p:nvPicPr>
          <p:cNvPr id="3" name="object 3" descr="fig_sens_spec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7763" y="1097280"/>
            <a:ext cx="5879592" cy="283464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6483096" y="1133855"/>
            <a:ext cx="5323840" cy="5140960"/>
            <a:chOff x="6483096" y="1133855"/>
            <a:chExt cx="5323840" cy="5140960"/>
          </a:xfrm>
        </p:grpSpPr>
        <p:sp>
          <p:nvSpPr>
            <p:cNvPr id="5" name="object 5"/>
            <p:cNvSpPr/>
            <p:nvPr/>
          </p:nvSpPr>
          <p:spPr>
            <a:xfrm>
              <a:off x="6493002" y="1143761"/>
              <a:ext cx="5303520" cy="5120640"/>
            </a:xfrm>
            <a:custGeom>
              <a:avLst/>
              <a:gdLst/>
              <a:ahLst/>
              <a:cxnLst/>
              <a:rect l="l" t="t" r="r" b="b"/>
              <a:pathLst>
                <a:path w="5303520" h="5120640">
                  <a:moveTo>
                    <a:pt x="5098669" y="0"/>
                  </a:moveTo>
                  <a:lnTo>
                    <a:pt x="204850" y="0"/>
                  </a:lnTo>
                  <a:lnTo>
                    <a:pt x="157873" y="5409"/>
                  </a:lnTo>
                  <a:lnTo>
                    <a:pt x="114753" y="20817"/>
                  </a:lnTo>
                  <a:lnTo>
                    <a:pt x="76718" y="44996"/>
                  </a:lnTo>
                  <a:lnTo>
                    <a:pt x="44996" y="76718"/>
                  </a:lnTo>
                  <a:lnTo>
                    <a:pt x="20817" y="114753"/>
                  </a:lnTo>
                  <a:lnTo>
                    <a:pt x="5409" y="157873"/>
                  </a:lnTo>
                  <a:lnTo>
                    <a:pt x="0" y="204850"/>
                  </a:lnTo>
                  <a:lnTo>
                    <a:pt x="0" y="4915814"/>
                  </a:lnTo>
                  <a:lnTo>
                    <a:pt x="5409" y="4962778"/>
                  </a:lnTo>
                  <a:lnTo>
                    <a:pt x="20817" y="5005890"/>
                  </a:lnTo>
                  <a:lnTo>
                    <a:pt x="44996" y="5043921"/>
                  </a:lnTo>
                  <a:lnTo>
                    <a:pt x="76718" y="5075641"/>
                  </a:lnTo>
                  <a:lnTo>
                    <a:pt x="114753" y="5099820"/>
                  </a:lnTo>
                  <a:lnTo>
                    <a:pt x="157873" y="5115230"/>
                  </a:lnTo>
                  <a:lnTo>
                    <a:pt x="204850" y="5120640"/>
                  </a:lnTo>
                  <a:lnTo>
                    <a:pt x="5098669" y="5120640"/>
                  </a:lnTo>
                  <a:lnTo>
                    <a:pt x="5145646" y="5115230"/>
                  </a:lnTo>
                  <a:lnTo>
                    <a:pt x="5188766" y="5099820"/>
                  </a:lnTo>
                  <a:lnTo>
                    <a:pt x="5226801" y="5075641"/>
                  </a:lnTo>
                  <a:lnTo>
                    <a:pt x="5258523" y="5043921"/>
                  </a:lnTo>
                  <a:lnTo>
                    <a:pt x="5282702" y="5005890"/>
                  </a:lnTo>
                  <a:lnTo>
                    <a:pt x="5298110" y="4962778"/>
                  </a:lnTo>
                  <a:lnTo>
                    <a:pt x="5303520" y="4915814"/>
                  </a:lnTo>
                  <a:lnTo>
                    <a:pt x="5303520" y="204850"/>
                  </a:lnTo>
                  <a:lnTo>
                    <a:pt x="5298110" y="157873"/>
                  </a:lnTo>
                  <a:lnTo>
                    <a:pt x="5282702" y="114753"/>
                  </a:lnTo>
                  <a:lnTo>
                    <a:pt x="5258523" y="76718"/>
                  </a:lnTo>
                  <a:lnTo>
                    <a:pt x="5226801" y="44996"/>
                  </a:lnTo>
                  <a:lnTo>
                    <a:pt x="5188766" y="20817"/>
                  </a:lnTo>
                  <a:lnTo>
                    <a:pt x="5145646" y="5409"/>
                  </a:lnTo>
                  <a:lnTo>
                    <a:pt x="5098669" y="0"/>
                  </a:lnTo>
                  <a:close/>
                </a:path>
              </a:pathLst>
            </a:custGeom>
            <a:solidFill>
              <a:srgbClr val="FCF0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493002" y="1143761"/>
              <a:ext cx="5303520" cy="5120640"/>
            </a:xfrm>
            <a:custGeom>
              <a:avLst/>
              <a:gdLst/>
              <a:ahLst/>
              <a:cxnLst/>
              <a:rect l="l" t="t" r="r" b="b"/>
              <a:pathLst>
                <a:path w="5303520" h="5120640">
                  <a:moveTo>
                    <a:pt x="0" y="204850"/>
                  </a:moveTo>
                  <a:lnTo>
                    <a:pt x="5409" y="157873"/>
                  </a:lnTo>
                  <a:lnTo>
                    <a:pt x="20817" y="114753"/>
                  </a:lnTo>
                  <a:lnTo>
                    <a:pt x="44996" y="76718"/>
                  </a:lnTo>
                  <a:lnTo>
                    <a:pt x="76718" y="44996"/>
                  </a:lnTo>
                  <a:lnTo>
                    <a:pt x="114753" y="20817"/>
                  </a:lnTo>
                  <a:lnTo>
                    <a:pt x="157873" y="5409"/>
                  </a:lnTo>
                  <a:lnTo>
                    <a:pt x="204850" y="0"/>
                  </a:lnTo>
                  <a:lnTo>
                    <a:pt x="5098669" y="0"/>
                  </a:lnTo>
                  <a:lnTo>
                    <a:pt x="5145646" y="5409"/>
                  </a:lnTo>
                  <a:lnTo>
                    <a:pt x="5188766" y="20817"/>
                  </a:lnTo>
                  <a:lnTo>
                    <a:pt x="5226801" y="44996"/>
                  </a:lnTo>
                  <a:lnTo>
                    <a:pt x="5258523" y="76718"/>
                  </a:lnTo>
                  <a:lnTo>
                    <a:pt x="5282702" y="114753"/>
                  </a:lnTo>
                  <a:lnTo>
                    <a:pt x="5298110" y="157873"/>
                  </a:lnTo>
                  <a:lnTo>
                    <a:pt x="5303520" y="204850"/>
                  </a:lnTo>
                  <a:lnTo>
                    <a:pt x="5303520" y="4915814"/>
                  </a:lnTo>
                  <a:lnTo>
                    <a:pt x="5298110" y="4962778"/>
                  </a:lnTo>
                  <a:lnTo>
                    <a:pt x="5282702" y="5005890"/>
                  </a:lnTo>
                  <a:lnTo>
                    <a:pt x="5258523" y="5043921"/>
                  </a:lnTo>
                  <a:lnTo>
                    <a:pt x="5226801" y="5075641"/>
                  </a:lnTo>
                  <a:lnTo>
                    <a:pt x="5188766" y="5099820"/>
                  </a:lnTo>
                  <a:lnTo>
                    <a:pt x="5145646" y="5115230"/>
                  </a:lnTo>
                  <a:lnTo>
                    <a:pt x="5098669" y="5120640"/>
                  </a:lnTo>
                  <a:lnTo>
                    <a:pt x="204850" y="5120640"/>
                  </a:lnTo>
                  <a:lnTo>
                    <a:pt x="157873" y="5115230"/>
                  </a:lnTo>
                  <a:lnTo>
                    <a:pt x="114753" y="5099820"/>
                  </a:lnTo>
                  <a:lnTo>
                    <a:pt x="76718" y="5075641"/>
                  </a:lnTo>
                  <a:lnTo>
                    <a:pt x="44996" y="5043921"/>
                  </a:lnTo>
                  <a:lnTo>
                    <a:pt x="20817" y="5005890"/>
                  </a:lnTo>
                  <a:lnTo>
                    <a:pt x="5409" y="4962778"/>
                  </a:lnTo>
                  <a:lnTo>
                    <a:pt x="0" y="4915814"/>
                  </a:lnTo>
                  <a:lnTo>
                    <a:pt x="0" y="204850"/>
                  </a:lnTo>
                  <a:close/>
                </a:path>
              </a:pathLst>
            </a:custGeom>
            <a:ln w="19812">
              <a:solidFill>
                <a:srgbClr val="C889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554227" y="1176172"/>
            <a:ext cx="11046460" cy="4077970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marL="6108700">
              <a:lnSpc>
                <a:spcPct val="100000"/>
              </a:lnSpc>
              <a:spcBef>
                <a:spcPts val="550"/>
              </a:spcBef>
            </a:pPr>
            <a:r>
              <a:rPr dirty="0" sz="1400" b="1">
                <a:solidFill>
                  <a:srgbClr val="13203C"/>
                </a:solidFill>
                <a:latin typeface="Calibri"/>
                <a:cs typeface="Calibri"/>
              </a:rPr>
              <a:t>Ethics,</a:t>
            </a:r>
            <a:r>
              <a:rPr dirty="0" sz="1400" spc="-30" b="1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13203C"/>
                </a:solidFill>
                <a:latin typeface="Calibri"/>
                <a:cs typeface="Calibri"/>
              </a:rPr>
              <a:t>safety</a:t>
            </a:r>
            <a:r>
              <a:rPr dirty="0" sz="1400" spc="-55" b="1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13203C"/>
                </a:solidFill>
                <a:latin typeface="Calibri"/>
                <a:cs typeface="Calibri"/>
              </a:rPr>
              <a:t>and</a:t>
            </a:r>
            <a:r>
              <a:rPr dirty="0" sz="1400" spc="-30" b="1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13203C"/>
                </a:solidFill>
                <a:latin typeface="Calibri"/>
                <a:cs typeface="Calibri"/>
              </a:rPr>
              <a:t>limitations</a:t>
            </a:r>
            <a:endParaRPr sz="1400">
              <a:latin typeface="Calibri"/>
              <a:cs typeface="Calibri"/>
            </a:endParaRPr>
          </a:p>
          <a:p>
            <a:pPr marL="6108700">
              <a:lnSpc>
                <a:spcPct val="100000"/>
              </a:lnSpc>
              <a:spcBef>
                <a:spcPts val="415"/>
              </a:spcBef>
            </a:pP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Not</a:t>
            </a:r>
            <a:r>
              <a:rPr dirty="0" sz="13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a</a:t>
            </a:r>
            <a:r>
              <a:rPr dirty="0" sz="13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medical</a:t>
            </a:r>
            <a:r>
              <a:rPr dirty="0" sz="13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device;</a:t>
            </a:r>
            <a:r>
              <a:rPr dirty="0" sz="13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never</a:t>
            </a:r>
            <a:r>
              <a:rPr dirty="0" sz="13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for</a:t>
            </a:r>
            <a:r>
              <a:rPr dirty="0" sz="13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diagnosis</a:t>
            </a:r>
            <a:r>
              <a:rPr dirty="0" sz="13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or</a:t>
            </a:r>
            <a:r>
              <a:rPr dirty="0" sz="13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3203C"/>
                </a:solidFill>
                <a:latin typeface="Calibri"/>
                <a:cs typeface="Calibri"/>
              </a:rPr>
              <a:t>treatment.</a:t>
            </a:r>
            <a:endParaRPr sz="1300">
              <a:latin typeface="Calibri"/>
              <a:cs typeface="Calibri"/>
            </a:endParaRPr>
          </a:p>
          <a:p>
            <a:pPr marL="6108700" marR="5080">
              <a:lnSpc>
                <a:spcPct val="125400"/>
              </a:lnSpc>
            </a:pP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Synthetic</a:t>
            </a:r>
            <a:r>
              <a:rPr dirty="0" sz="13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images</a:t>
            </a:r>
            <a:r>
              <a:rPr dirty="0" sz="13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are</a:t>
            </a:r>
            <a:r>
              <a:rPr dirty="0" sz="13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not</a:t>
            </a:r>
            <a:r>
              <a:rPr dirty="0" sz="13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patient</a:t>
            </a:r>
            <a:r>
              <a:rPr dirty="0" sz="13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scans;</a:t>
            </a:r>
            <a:r>
              <a:rPr dirty="0" sz="13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labels</a:t>
            </a:r>
            <a:r>
              <a:rPr dirty="0" sz="13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are</a:t>
            </a:r>
            <a:r>
              <a:rPr dirty="0" sz="13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3203C"/>
                </a:solidFill>
                <a:latin typeface="Calibri"/>
                <a:cs typeface="Calibri"/>
              </a:rPr>
              <a:t>requested,</a:t>
            </a:r>
            <a:r>
              <a:rPr dirty="0" sz="13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not</a:t>
            </a:r>
            <a:r>
              <a:rPr dirty="0" sz="13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3203C"/>
                </a:solidFill>
                <a:latin typeface="Calibri"/>
                <a:cs typeface="Calibri"/>
              </a:rPr>
              <a:t>verified.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Small</a:t>
            </a:r>
            <a:r>
              <a:rPr dirty="0" sz="1300" spc="-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test</a:t>
            </a:r>
            <a:r>
              <a:rPr dirty="0" sz="13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set</a:t>
            </a:r>
            <a:r>
              <a:rPr dirty="0" sz="1300" spc="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(492;</a:t>
            </a:r>
            <a:r>
              <a:rPr dirty="0" sz="1300" spc="-1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46</a:t>
            </a:r>
            <a:r>
              <a:rPr dirty="0" sz="13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3203C"/>
                </a:solidFill>
                <a:latin typeface="Calibri"/>
                <a:cs typeface="Calibri"/>
              </a:rPr>
              <a:t>no-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tumour);</a:t>
            </a:r>
            <a:r>
              <a:rPr dirty="0" sz="1300" spc="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13203C"/>
                </a:solidFill>
                <a:latin typeface="Calibri"/>
                <a:cs typeface="Calibri"/>
              </a:rPr>
              <a:t>patient-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level</a:t>
            </a:r>
            <a:r>
              <a:rPr dirty="0" sz="1300" spc="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3203C"/>
                </a:solidFill>
                <a:latin typeface="Calibri"/>
                <a:cs typeface="Calibri"/>
              </a:rPr>
              <a:t>independence</a:t>
            </a:r>
            <a:endParaRPr sz="1300">
              <a:latin typeface="Calibri"/>
              <a:cs typeface="Calibri"/>
            </a:endParaRPr>
          </a:p>
          <a:p>
            <a:pPr marL="6108700">
              <a:lnSpc>
                <a:spcPct val="100000"/>
              </a:lnSpc>
            </a:pP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unproven;</a:t>
            </a:r>
            <a:r>
              <a:rPr dirty="0" sz="1300" spc="-6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heuristic</a:t>
            </a:r>
            <a:r>
              <a:rPr dirty="0" sz="1300" spc="-6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3203C"/>
                </a:solidFill>
                <a:latin typeface="Calibri"/>
                <a:cs typeface="Calibri"/>
              </a:rPr>
              <a:t>de-duplication.</a:t>
            </a:r>
            <a:endParaRPr sz="1300">
              <a:latin typeface="Calibri"/>
              <a:cs typeface="Calibri"/>
            </a:endParaRPr>
          </a:p>
          <a:p>
            <a:pPr marL="6108700">
              <a:lnSpc>
                <a:spcPct val="100000"/>
              </a:lnSpc>
              <a:spcBef>
                <a:spcPts val="409"/>
              </a:spcBef>
            </a:pP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3</a:t>
            </a:r>
            <a:r>
              <a:rPr dirty="0" sz="13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seeds,</a:t>
            </a:r>
            <a:r>
              <a:rPr dirty="0" sz="1300" spc="-1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one</a:t>
            </a:r>
            <a:r>
              <a:rPr dirty="0" sz="13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GAN</a:t>
            </a:r>
            <a:r>
              <a:rPr dirty="0" sz="13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run</a:t>
            </a:r>
            <a:r>
              <a:rPr dirty="0" sz="13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each;</a:t>
            </a:r>
            <a:r>
              <a:rPr dirty="0" sz="13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no</a:t>
            </a:r>
            <a:r>
              <a:rPr dirty="0" sz="13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significance</a:t>
            </a:r>
            <a:r>
              <a:rPr dirty="0" sz="1300" spc="-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3203C"/>
                </a:solidFill>
                <a:latin typeface="Calibri"/>
                <a:cs typeface="Calibri"/>
              </a:rPr>
              <a:t>tests.</a:t>
            </a:r>
            <a:endParaRPr sz="1300">
              <a:latin typeface="Calibri"/>
              <a:cs typeface="Calibri"/>
            </a:endParaRPr>
          </a:p>
          <a:p>
            <a:pPr marL="6108700" marR="883285">
              <a:lnSpc>
                <a:spcPct val="100000"/>
              </a:lnSpc>
              <a:spcBef>
                <a:spcPts val="395"/>
              </a:spcBef>
            </a:pPr>
            <a:r>
              <a:rPr dirty="0" sz="1300" spc="-20">
                <a:solidFill>
                  <a:srgbClr val="13203C"/>
                </a:solidFill>
                <a:latin typeface="Calibri"/>
                <a:cs typeface="Calibri"/>
              </a:rPr>
              <a:t>cWGAN-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GP</a:t>
            </a:r>
            <a:r>
              <a:rPr dirty="0" sz="1300" spc="1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3203C"/>
                </a:solidFill>
                <a:latin typeface="Calibri"/>
                <a:cs typeface="Calibri"/>
              </a:rPr>
              <a:t>interrupted</a:t>
            </a:r>
            <a:r>
              <a:rPr dirty="0" sz="1300" spc="-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at</a:t>
            </a:r>
            <a:r>
              <a:rPr dirty="0" sz="13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step</a:t>
            </a:r>
            <a:r>
              <a:rPr dirty="0" sz="1300" spc="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2,861 </a:t>
            </a:r>
            <a:r>
              <a:rPr dirty="0" sz="1300" spc="-10">
                <a:solidFill>
                  <a:srgbClr val="13203C"/>
                </a:solidFill>
                <a:latin typeface="Calibri"/>
                <a:cs typeface="Calibri"/>
              </a:rPr>
              <a:t>(non-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finite</a:t>
            </a:r>
            <a:r>
              <a:rPr dirty="0" sz="1300" spc="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loss);</a:t>
            </a:r>
            <a:r>
              <a:rPr dirty="0" sz="1300" spc="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3203C"/>
                </a:solidFill>
                <a:latin typeface="Calibri"/>
                <a:cs typeface="Calibri"/>
              </a:rPr>
              <a:t>cause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unconfirmed;</a:t>
            </a:r>
            <a:r>
              <a:rPr dirty="0" sz="13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resumed</a:t>
            </a:r>
            <a:r>
              <a:rPr dirty="0" sz="13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from</a:t>
            </a:r>
            <a:r>
              <a:rPr dirty="0" sz="1300" spc="-6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step</a:t>
            </a:r>
            <a:r>
              <a:rPr dirty="0" sz="13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3203C"/>
                </a:solidFill>
                <a:latin typeface="Calibri"/>
                <a:cs typeface="Calibri"/>
              </a:rPr>
              <a:t>2,500.</a:t>
            </a:r>
            <a:endParaRPr sz="1300">
              <a:latin typeface="Calibri"/>
              <a:cs typeface="Calibri"/>
            </a:endParaRPr>
          </a:p>
          <a:p>
            <a:pPr marL="6108700" marR="30480">
              <a:lnSpc>
                <a:spcPct val="100000"/>
              </a:lnSpc>
              <a:spcBef>
                <a:spcPts val="395"/>
              </a:spcBef>
            </a:pPr>
            <a:r>
              <a:rPr dirty="0" sz="1300" spc="-10">
                <a:solidFill>
                  <a:srgbClr val="13203C"/>
                </a:solidFill>
                <a:latin typeface="Calibri"/>
                <a:cs typeface="Calibri"/>
              </a:rPr>
              <a:t>Third-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party</a:t>
            </a:r>
            <a:r>
              <a:rPr dirty="0" sz="13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classifier</a:t>
            </a:r>
            <a:r>
              <a:rPr dirty="0" sz="13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may</a:t>
            </a:r>
            <a:r>
              <a:rPr dirty="0" sz="13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have</a:t>
            </a:r>
            <a:r>
              <a:rPr dirty="0" sz="13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inflated</a:t>
            </a:r>
            <a:r>
              <a:rPr dirty="0" sz="13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accuracy;</a:t>
            </a:r>
            <a:r>
              <a:rPr dirty="0" sz="1300" spc="-5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unknown</a:t>
            </a:r>
            <a:r>
              <a:rPr dirty="0" sz="13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here;</a:t>
            </a:r>
            <a:r>
              <a:rPr dirty="0" sz="13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no</a:t>
            </a:r>
            <a:r>
              <a:rPr dirty="0" sz="13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 spc="-25">
                <a:solidFill>
                  <a:srgbClr val="13203C"/>
                </a:solidFill>
                <a:latin typeface="Calibri"/>
                <a:cs typeface="Calibri"/>
              </a:rPr>
              <a:t>OOD </a:t>
            </a:r>
            <a:r>
              <a:rPr dirty="0" sz="1300" spc="-10">
                <a:solidFill>
                  <a:srgbClr val="13203C"/>
                </a:solidFill>
                <a:latin typeface="Calibri"/>
                <a:cs typeface="Calibri"/>
              </a:rPr>
              <a:t>detection.</a:t>
            </a:r>
            <a:endParaRPr sz="1300">
              <a:latin typeface="Calibri"/>
              <a:cs typeface="Calibri"/>
            </a:endParaRPr>
          </a:p>
          <a:p>
            <a:pPr marL="6108700">
              <a:lnSpc>
                <a:spcPct val="100000"/>
              </a:lnSpc>
              <a:spcBef>
                <a:spcPts val="409"/>
              </a:spcBef>
            </a:pP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Dataset:</a:t>
            </a:r>
            <a:r>
              <a:rPr dirty="0" sz="13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matches</a:t>
            </a:r>
            <a:r>
              <a:rPr dirty="0" sz="13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Kaggle</a:t>
            </a:r>
            <a:r>
              <a:rPr dirty="0" sz="1300" spc="-5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v2,</a:t>
            </a:r>
            <a:r>
              <a:rPr dirty="0" sz="13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download</a:t>
            </a:r>
            <a:r>
              <a:rPr dirty="0" sz="13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record</a:t>
            </a:r>
            <a:r>
              <a:rPr dirty="0" sz="1300" spc="-5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unverified;</a:t>
            </a:r>
            <a:r>
              <a:rPr dirty="0" sz="13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CC</a:t>
            </a:r>
            <a:r>
              <a:rPr dirty="0" sz="1300" spc="-6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BY</a:t>
            </a:r>
            <a:r>
              <a:rPr dirty="0" sz="1300" spc="-5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13203C"/>
                </a:solidFill>
                <a:latin typeface="Calibri"/>
                <a:cs typeface="Calibri"/>
              </a:rPr>
              <a:t>4.0,</a:t>
            </a:r>
            <a:endParaRPr sz="1300">
              <a:latin typeface="Calibri"/>
              <a:cs typeface="Calibri"/>
            </a:endParaRPr>
          </a:p>
          <a:p>
            <a:pPr marL="6108700">
              <a:lnSpc>
                <a:spcPct val="100000"/>
              </a:lnSpc>
            </a:pP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upstream</a:t>
            </a:r>
            <a:r>
              <a:rPr dirty="0" sz="13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terms</a:t>
            </a:r>
            <a:r>
              <a:rPr dirty="0" sz="13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may</a:t>
            </a:r>
            <a:r>
              <a:rPr dirty="0" sz="13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3203C"/>
                </a:solidFill>
                <a:latin typeface="Calibri"/>
                <a:cs typeface="Calibri"/>
              </a:rPr>
              <a:t>differ;</a:t>
            </a:r>
            <a:r>
              <a:rPr dirty="0" sz="13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3203C"/>
                </a:solidFill>
                <a:latin typeface="Calibri"/>
                <a:cs typeface="Calibri"/>
              </a:rPr>
              <a:t>not</a:t>
            </a:r>
            <a:r>
              <a:rPr dirty="0" sz="13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3203C"/>
                </a:solidFill>
                <a:latin typeface="Calibri"/>
                <a:cs typeface="Calibri"/>
              </a:rPr>
              <a:t>redistributed.</a:t>
            </a:r>
            <a:endParaRPr sz="1300">
              <a:latin typeface="Calibri"/>
              <a:cs typeface="Calibri"/>
            </a:endParaRPr>
          </a:p>
          <a:p>
            <a:pPr marL="12700" marR="5426710" indent="165735">
              <a:lnSpc>
                <a:spcPct val="100000"/>
              </a:lnSpc>
              <a:spcBef>
                <a:spcPts val="195"/>
              </a:spcBef>
              <a:buChar char="•"/>
              <a:tabLst>
                <a:tab pos="178435" algn="l"/>
              </a:tabLst>
            </a:pP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Largest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confusion</a:t>
            </a:r>
            <a:r>
              <a:rPr dirty="0" sz="14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in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every</a:t>
            </a:r>
            <a:r>
              <a:rPr dirty="0" sz="14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condition: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glioma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predicted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as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meningioma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(26</a:t>
            </a:r>
            <a:r>
              <a:rPr dirty="0" sz="14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50">
                <a:solidFill>
                  <a:srgbClr val="13203C"/>
                </a:solidFill>
                <a:latin typeface="Calibri"/>
                <a:cs typeface="Calibri"/>
              </a:rPr>
              <a:t>/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31</a:t>
            </a:r>
            <a:r>
              <a:rPr dirty="0" sz="14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/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16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of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196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for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A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/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B</a:t>
            </a:r>
            <a:r>
              <a:rPr dirty="0" sz="14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/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C).</a:t>
            </a:r>
            <a:endParaRPr sz="1400">
              <a:latin typeface="Calibri"/>
              <a:cs typeface="Calibri"/>
            </a:endParaRPr>
          </a:p>
          <a:p>
            <a:pPr marL="178435" indent="-165735">
              <a:lnSpc>
                <a:spcPct val="100000"/>
              </a:lnSpc>
              <a:spcBef>
                <a:spcPts val="600"/>
              </a:spcBef>
              <a:buChar char="•"/>
              <a:tabLst>
                <a:tab pos="178435" algn="l"/>
              </a:tabLst>
            </a:pP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Tumour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vs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no-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tumour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sensitivity</a:t>
            </a:r>
            <a:r>
              <a:rPr dirty="0" sz="1400" spc="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≈</a:t>
            </a:r>
            <a:r>
              <a:rPr dirty="0" sz="14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0.96–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0.97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for</a:t>
            </a:r>
            <a:r>
              <a:rPr dirty="0" sz="14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all;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specificity</a:t>
            </a:r>
            <a:r>
              <a:rPr dirty="0" sz="14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0.67</a:t>
            </a:r>
            <a:r>
              <a:rPr dirty="0" sz="14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(A),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0.75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(B),</a:t>
            </a:r>
            <a:r>
              <a:rPr dirty="0" sz="14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0.91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(C).</a:t>
            </a:r>
            <a:endParaRPr sz="1400">
              <a:latin typeface="Calibri"/>
              <a:cs typeface="Calibri"/>
            </a:endParaRPr>
          </a:p>
          <a:p>
            <a:pPr marL="178435" indent="-165735">
              <a:lnSpc>
                <a:spcPct val="100000"/>
              </a:lnSpc>
              <a:spcBef>
                <a:spcPts val="600"/>
              </a:spcBef>
              <a:buChar char="•"/>
              <a:tabLst>
                <a:tab pos="178435" algn="l"/>
              </a:tabLst>
            </a:pP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No-tumour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rests</a:t>
            </a:r>
            <a:r>
              <a:rPr dirty="0" sz="14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on</a:t>
            </a:r>
            <a:r>
              <a:rPr dirty="0" sz="14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only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46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test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images: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very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uncertain.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 spc="-10"/>
              <a:t>NeuroVision</a:t>
            </a:r>
            <a:r>
              <a:rPr dirty="0" spc="-20"/>
              <a:t> </a:t>
            </a:r>
            <a:r>
              <a:rPr dirty="0"/>
              <a:t>AI</a:t>
            </a:r>
            <a:r>
              <a:rPr dirty="0" spc="195"/>
              <a:t> </a:t>
            </a:r>
            <a:r>
              <a:rPr dirty="0"/>
              <a:t>|</a:t>
            </a:r>
            <a:r>
              <a:rPr dirty="0" spc="200"/>
              <a:t> </a:t>
            </a:r>
            <a:r>
              <a:rPr dirty="0"/>
              <a:t>Brain</a:t>
            </a:r>
            <a:r>
              <a:rPr dirty="0" spc="-15"/>
              <a:t> </a:t>
            </a:r>
            <a:r>
              <a:rPr dirty="0"/>
              <a:t>Tumor</a:t>
            </a:r>
            <a:r>
              <a:rPr dirty="0" spc="-15"/>
              <a:t> </a:t>
            </a:r>
            <a:r>
              <a:rPr dirty="0"/>
              <a:t>MRI</a:t>
            </a:r>
            <a:r>
              <a:rPr dirty="0" spc="-25"/>
              <a:t> </a:t>
            </a:r>
            <a:r>
              <a:rPr dirty="0"/>
              <a:t>Generation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/>
              <a:t>Classification</a:t>
            </a:r>
            <a:r>
              <a:rPr dirty="0" spc="195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Ajai</a:t>
            </a:r>
            <a:r>
              <a:rPr dirty="0" spc="-30"/>
              <a:t> </a:t>
            </a:r>
            <a:r>
              <a:rPr dirty="0"/>
              <a:t>Kumar N</a:t>
            </a:r>
            <a:r>
              <a:rPr dirty="0" spc="-10"/>
              <a:t> </a:t>
            </a:r>
            <a:r>
              <a:rPr dirty="0"/>
              <a:t>(URK23CS5064)</a:t>
            </a:r>
            <a:r>
              <a:rPr dirty="0" spc="245"/>
              <a:t> </a:t>
            </a:r>
            <a:r>
              <a:rPr dirty="0"/>
              <a:t>|</a:t>
            </a:r>
            <a:r>
              <a:rPr dirty="0" spc="204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Conclusion</a:t>
            </a:r>
            <a:r>
              <a:rPr dirty="0" spc="-75"/>
              <a:t> </a:t>
            </a:r>
            <a:r>
              <a:rPr dirty="0"/>
              <a:t>and</a:t>
            </a:r>
            <a:r>
              <a:rPr dirty="0" spc="-65"/>
              <a:t> </a:t>
            </a:r>
            <a:r>
              <a:rPr dirty="0"/>
              <a:t>future</a:t>
            </a:r>
            <a:r>
              <a:rPr dirty="0" spc="-60"/>
              <a:t> </a:t>
            </a:r>
            <a:r>
              <a:rPr dirty="0" spc="-10"/>
              <a:t>scope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48055" y="1133855"/>
            <a:ext cx="5689600" cy="5140960"/>
            <a:chOff x="448055" y="1133855"/>
            <a:chExt cx="5689600" cy="5140960"/>
          </a:xfrm>
        </p:grpSpPr>
        <p:sp>
          <p:nvSpPr>
            <p:cNvPr id="4" name="object 4"/>
            <p:cNvSpPr/>
            <p:nvPr/>
          </p:nvSpPr>
          <p:spPr>
            <a:xfrm>
              <a:off x="457961" y="1143761"/>
              <a:ext cx="5669280" cy="5120640"/>
            </a:xfrm>
            <a:custGeom>
              <a:avLst/>
              <a:gdLst/>
              <a:ahLst/>
              <a:cxnLst/>
              <a:rect l="l" t="t" r="r" b="b"/>
              <a:pathLst>
                <a:path w="5669280" h="5120640">
                  <a:moveTo>
                    <a:pt x="5464429" y="0"/>
                  </a:moveTo>
                  <a:lnTo>
                    <a:pt x="204825" y="0"/>
                  </a:lnTo>
                  <a:lnTo>
                    <a:pt x="157861" y="5409"/>
                  </a:lnTo>
                  <a:lnTo>
                    <a:pt x="114749" y="20817"/>
                  </a:lnTo>
                  <a:lnTo>
                    <a:pt x="76718" y="44996"/>
                  </a:lnTo>
                  <a:lnTo>
                    <a:pt x="44998" y="76718"/>
                  </a:lnTo>
                  <a:lnTo>
                    <a:pt x="20819" y="114753"/>
                  </a:lnTo>
                  <a:lnTo>
                    <a:pt x="5409" y="157873"/>
                  </a:lnTo>
                  <a:lnTo>
                    <a:pt x="0" y="204850"/>
                  </a:lnTo>
                  <a:lnTo>
                    <a:pt x="0" y="4915814"/>
                  </a:lnTo>
                  <a:lnTo>
                    <a:pt x="5409" y="4962778"/>
                  </a:lnTo>
                  <a:lnTo>
                    <a:pt x="20819" y="5005890"/>
                  </a:lnTo>
                  <a:lnTo>
                    <a:pt x="44998" y="5043921"/>
                  </a:lnTo>
                  <a:lnTo>
                    <a:pt x="76718" y="5075641"/>
                  </a:lnTo>
                  <a:lnTo>
                    <a:pt x="114749" y="5099820"/>
                  </a:lnTo>
                  <a:lnTo>
                    <a:pt x="157861" y="5115230"/>
                  </a:lnTo>
                  <a:lnTo>
                    <a:pt x="204825" y="5120640"/>
                  </a:lnTo>
                  <a:lnTo>
                    <a:pt x="5464429" y="5120640"/>
                  </a:lnTo>
                  <a:lnTo>
                    <a:pt x="5511406" y="5115230"/>
                  </a:lnTo>
                  <a:lnTo>
                    <a:pt x="5554526" y="5099820"/>
                  </a:lnTo>
                  <a:lnTo>
                    <a:pt x="5592561" y="5075641"/>
                  </a:lnTo>
                  <a:lnTo>
                    <a:pt x="5624283" y="5043921"/>
                  </a:lnTo>
                  <a:lnTo>
                    <a:pt x="5648462" y="5005890"/>
                  </a:lnTo>
                  <a:lnTo>
                    <a:pt x="5663870" y="4962778"/>
                  </a:lnTo>
                  <a:lnTo>
                    <a:pt x="5669280" y="4915814"/>
                  </a:lnTo>
                  <a:lnTo>
                    <a:pt x="5669280" y="204850"/>
                  </a:lnTo>
                  <a:lnTo>
                    <a:pt x="5663870" y="157873"/>
                  </a:lnTo>
                  <a:lnTo>
                    <a:pt x="5648462" y="114753"/>
                  </a:lnTo>
                  <a:lnTo>
                    <a:pt x="5624283" y="76718"/>
                  </a:lnTo>
                  <a:lnTo>
                    <a:pt x="5592561" y="44996"/>
                  </a:lnTo>
                  <a:lnTo>
                    <a:pt x="5554526" y="20817"/>
                  </a:lnTo>
                  <a:lnTo>
                    <a:pt x="5511406" y="5409"/>
                  </a:lnTo>
                  <a:lnTo>
                    <a:pt x="54644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57961" y="1143761"/>
              <a:ext cx="5669280" cy="5120640"/>
            </a:xfrm>
            <a:custGeom>
              <a:avLst/>
              <a:gdLst/>
              <a:ahLst/>
              <a:cxnLst/>
              <a:rect l="l" t="t" r="r" b="b"/>
              <a:pathLst>
                <a:path w="5669280" h="5120640">
                  <a:moveTo>
                    <a:pt x="0" y="204850"/>
                  </a:moveTo>
                  <a:lnTo>
                    <a:pt x="5409" y="157873"/>
                  </a:lnTo>
                  <a:lnTo>
                    <a:pt x="20819" y="114753"/>
                  </a:lnTo>
                  <a:lnTo>
                    <a:pt x="44998" y="76718"/>
                  </a:lnTo>
                  <a:lnTo>
                    <a:pt x="76718" y="44996"/>
                  </a:lnTo>
                  <a:lnTo>
                    <a:pt x="114749" y="20817"/>
                  </a:lnTo>
                  <a:lnTo>
                    <a:pt x="157861" y="5409"/>
                  </a:lnTo>
                  <a:lnTo>
                    <a:pt x="204825" y="0"/>
                  </a:lnTo>
                  <a:lnTo>
                    <a:pt x="5464429" y="0"/>
                  </a:lnTo>
                  <a:lnTo>
                    <a:pt x="5511406" y="5409"/>
                  </a:lnTo>
                  <a:lnTo>
                    <a:pt x="5554526" y="20817"/>
                  </a:lnTo>
                  <a:lnTo>
                    <a:pt x="5592561" y="44996"/>
                  </a:lnTo>
                  <a:lnTo>
                    <a:pt x="5624283" y="76718"/>
                  </a:lnTo>
                  <a:lnTo>
                    <a:pt x="5648462" y="114753"/>
                  </a:lnTo>
                  <a:lnTo>
                    <a:pt x="5663870" y="157873"/>
                  </a:lnTo>
                  <a:lnTo>
                    <a:pt x="5669280" y="204850"/>
                  </a:lnTo>
                  <a:lnTo>
                    <a:pt x="5669280" y="4915814"/>
                  </a:lnTo>
                  <a:lnTo>
                    <a:pt x="5663870" y="4962778"/>
                  </a:lnTo>
                  <a:lnTo>
                    <a:pt x="5648462" y="5005890"/>
                  </a:lnTo>
                  <a:lnTo>
                    <a:pt x="5624283" y="5043921"/>
                  </a:lnTo>
                  <a:lnTo>
                    <a:pt x="5592561" y="5075641"/>
                  </a:lnTo>
                  <a:lnTo>
                    <a:pt x="5554526" y="5099820"/>
                  </a:lnTo>
                  <a:lnTo>
                    <a:pt x="5511406" y="5115230"/>
                  </a:lnTo>
                  <a:lnTo>
                    <a:pt x="5464429" y="5120640"/>
                  </a:lnTo>
                  <a:lnTo>
                    <a:pt x="204825" y="5120640"/>
                  </a:lnTo>
                  <a:lnTo>
                    <a:pt x="157861" y="5115230"/>
                  </a:lnTo>
                  <a:lnTo>
                    <a:pt x="114749" y="5099820"/>
                  </a:lnTo>
                  <a:lnTo>
                    <a:pt x="76718" y="5075641"/>
                  </a:lnTo>
                  <a:lnTo>
                    <a:pt x="44998" y="5043921"/>
                  </a:lnTo>
                  <a:lnTo>
                    <a:pt x="20819" y="5005890"/>
                  </a:lnTo>
                  <a:lnTo>
                    <a:pt x="5409" y="4962778"/>
                  </a:lnTo>
                  <a:lnTo>
                    <a:pt x="0" y="4915814"/>
                  </a:lnTo>
                  <a:lnTo>
                    <a:pt x="0" y="204850"/>
                  </a:lnTo>
                  <a:close/>
                </a:path>
              </a:pathLst>
            </a:custGeom>
            <a:ln w="19812">
              <a:solidFill>
                <a:srgbClr val="1F39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614273" y="1081150"/>
            <a:ext cx="5302885" cy="3325495"/>
          </a:xfrm>
          <a:prstGeom prst="rect">
            <a:avLst/>
          </a:prstGeom>
        </p:spPr>
        <p:txBody>
          <a:bodyPr wrap="square" lIns="0" tIns="1612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70"/>
              </a:spcBef>
            </a:pPr>
            <a:r>
              <a:rPr dirty="0" sz="1900" spc="-10" b="1">
                <a:solidFill>
                  <a:srgbClr val="13203C"/>
                </a:solidFill>
                <a:latin typeface="Calibri"/>
                <a:cs typeface="Calibri"/>
              </a:rPr>
              <a:t>Conclusion</a:t>
            </a:r>
            <a:endParaRPr sz="19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925"/>
              </a:spcBef>
            </a:pP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DCGAN</a:t>
            </a:r>
            <a:r>
              <a:rPr dirty="0" sz="1500" spc="-5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3203C"/>
                </a:solidFill>
                <a:latin typeface="Calibri"/>
                <a:cs typeface="Calibri"/>
              </a:rPr>
              <a:t>gave</a:t>
            </a:r>
            <a:r>
              <a:rPr dirty="0" sz="1500" spc="-5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the</a:t>
            </a:r>
            <a:r>
              <a:rPr dirty="0" sz="15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best</a:t>
            </a:r>
            <a:r>
              <a:rPr dirty="0" sz="1500" spc="-5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3203C"/>
                </a:solidFill>
                <a:latin typeface="Calibri"/>
                <a:cs typeface="Calibri"/>
              </a:rPr>
              <a:t>generation</a:t>
            </a:r>
            <a:r>
              <a:rPr dirty="0" sz="1500" spc="-5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metrics:</a:t>
            </a:r>
            <a:r>
              <a:rPr dirty="0" sz="15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FID</a:t>
            </a:r>
            <a:r>
              <a:rPr dirty="0" sz="15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154.7,</a:t>
            </a:r>
            <a:r>
              <a:rPr dirty="0" sz="15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KID×1000</a:t>
            </a:r>
            <a:r>
              <a:rPr dirty="0" sz="15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3203C"/>
                </a:solidFill>
                <a:latin typeface="Calibri"/>
                <a:cs typeface="Calibri"/>
              </a:rPr>
              <a:t>129.4 (cWGAN-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GP</a:t>
            </a:r>
            <a:r>
              <a:rPr dirty="0" sz="15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177.8</a:t>
            </a:r>
            <a:r>
              <a:rPr dirty="0" sz="1500" spc="-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/</a:t>
            </a:r>
            <a:r>
              <a:rPr dirty="0" sz="15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157.6;</a:t>
            </a:r>
            <a:r>
              <a:rPr dirty="0" sz="1500" spc="-10">
                <a:solidFill>
                  <a:srgbClr val="13203C"/>
                </a:solidFill>
                <a:latin typeface="Calibri"/>
                <a:cs typeface="Calibri"/>
              </a:rPr>
              <a:t> WGAN-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GP</a:t>
            </a:r>
            <a:r>
              <a:rPr dirty="0" sz="15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182.1</a:t>
            </a:r>
            <a:r>
              <a:rPr dirty="0" sz="15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/</a:t>
            </a:r>
            <a:r>
              <a:rPr dirty="0" sz="15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3203C"/>
                </a:solidFill>
                <a:latin typeface="Calibri"/>
                <a:cs typeface="Calibri"/>
              </a:rPr>
              <a:t>163.5).</a:t>
            </a:r>
            <a:endParaRPr sz="1500">
              <a:latin typeface="Calibri"/>
              <a:cs typeface="Calibri"/>
            </a:endParaRPr>
          </a:p>
          <a:p>
            <a:pPr marL="12700" marR="316865">
              <a:lnSpc>
                <a:spcPct val="100000"/>
              </a:lnSpc>
              <a:spcBef>
                <a:spcPts val="900"/>
              </a:spcBef>
            </a:pP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Mean</a:t>
            </a:r>
            <a:r>
              <a:rPr dirty="0" sz="15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test</a:t>
            </a:r>
            <a:r>
              <a:rPr dirty="0" sz="15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accuracy:</a:t>
            </a:r>
            <a:r>
              <a:rPr dirty="0" sz="15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A</a:t>
            </a:r>
            <a:r>
              <a:rPr dirty="0" sz="15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0.817,</a:t>
            </a:r>
            <a:r>
              <a:rPr dirty="0" sz="1500" spc="-1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B</a:t>
            </a:r>
            <a:r>
              <a:rPr dirty="0" sz="15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0.839,</a:t>
            </a:r>
            <a:r>
              <a:rPr dirty="0" sz="1500" spc="-1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C</a:t>
            </a:r>
            <a:r>
              <a:rPr dirty="0" sz="15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0.869.</a:t>
            </a:r>
            <a:r>
              <a:rPr dirty="0" sz="15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The</a:t>
            </a:r>
            <a:r>
              <a:rPr dirty="0" sz="15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20">
                <a:solidFill>
                  <a:srgbClr val="13203C"/>
                </a:solidFill>
                <a:latin typeface="Calibri"/>
                <a:cs typeface="Calibri"/>
              </a:rPr>
              <a:t>matched-size real-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only</a:t>
            </a:r>
            <a:r>
              <a:rPr dirty="0" sz="15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control</a:t>
            </a:r>
            <a:r>
              <a:rPr dirty="0" sz="15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was</a:t>
            </a:r>
            <a:r>
              <a:rPr dirty="0" sz="15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best,</a:t>
            </a:r>
            <a:r>
              <a:rPr dirty="0" sz="15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so</a:t>
            </a:r>
            <a:r>
              <a:rPr dirty="0" sz="15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no</a:t>
            </a:r>
            <a:r>
              <a:rPr dirty="0" sz="15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benefit</a:t>
            </a:r>
            <a:r>
              <a:rPr dirty="0" sz="15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beyond</a:t>
            </a:r>
            <a:r>
              <a:rPr dirty="0" sz="15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added</a:t>
            </a:r>
            <a:r>
              <a:rPr dirty="0" sz="15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3203C"/>
                </a:solidFill>
                <a:latin typeface="Calibri"/>
                <a:cs typeface="Calibri"/>
              </a:rPr>
              <a:t>training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volume</a:t>
            </a:r>
            <a:r>
              <a:rPr dirty="0" sz="1500" spc="-5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was</a:t>
            </a:r>
            <a:r>
              <a:rPr dirty="0" sz="1500" spc="-5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3203C"/>
                </a:solidFill>
                <a:latin typeface="Calibri"/>
                <a:cs typeface="Calibri"/>
              </a:rPr>
              <a:t>shown.</a:t>
            </a:r>
            <a:endParaRPr sz="1500">
              <a:latin typeface="Calibri"/>
              <a:cs typeface="Calibri"/>
            </a:endParaRPr>
          </a:p>
          <a:p>
            <a:pPr marL="12700" marR="285115">
              <a:lnSpc>
                <a:spcPct val="100000"/>
              </a:lnSpc>
              <a:spcBef>
                <a:spcPts val="905"/>
              </a:spcBef>
            </a:pP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The</a:t>
            </a:r>
            <a:r>
              <a:rPr dirty="0" sz="15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3203C"/>
                </a:solidFill>
                <a:latin typeface="Calibri"/>
                <a:cs typeface="Calibri"/>
              </a:rPr>
              <a:t>generator</a:t>
            </a:r>
            <a:r>
              <a:rPr dirty="0" sz="1500" spc="-6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produced</a:t>
            </a:r>
            <a:r>
              <a:rPr dirty="0" sz="1500" spc="-5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MRI-like</a:t>
            </a:r>
            <a:r>
              <a:rPr dirty="0" sz="15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images</a:t>
            </a:r>
            <a:r>
              <a:rPr dirty="0" sz="1500" spc="-5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but</a:t>
            </a:r>
            <a:r>
              <a:rPr dirty="0" sz="1500" spc="-5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no</a:t>
            </a:r>
            <a:r>
              <a:rPr dirty="0" sz="1500" spc="-5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reliable</a:t>
            </a:r>
            <a:r>
              <a:rPr dirty="0" sz="15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3203C"/>
                </a:solidFill>
                <a:latin typeface="Calibri"/>
                <a:cs typeface="Calibri"/>
              </a:rPr>
              <a:t>tumour-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specific</a:t>
            </a:r>
            <a:r>
              <a:rPr dirty="0" sz="15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3203C"/>
                </a:solidFill>
                <a:latin typeface="Calibri"/>
                <a:cs typeface="Calibri"/>
              </a:rPr>
              <a:t>anatomy.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1500" spc="-10">
                <a:solidFill>
                  <a:srgbClr val="13203C"/>
                </a:solidFill>
                <a:latin typeface="Calibri"/>
                <a:cs typeface="Calibri"/>
              </a:rPr>
              <a:t>NeuroVision</a:t>
            </a:r>
            <a:r>
              <a:rPr dirty="0" sz="1500" spc="-5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AI</a:t>
            </a:r>
            <a:r>
              <a:rPr dirty="0" sz="15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delivers</a:t>
            </a:r>
            <a:r>
              <a:rPr dirty="0" sz="15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the</a:t>
            </a:r>
            <a:r>
              <a:rPr dirty="0" sz="15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saved</a:t>
            </a:r>
            <a:r>
              <a:rPr dirty="0" sz="15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results,</a:t>
            </a:r>
            <a:r>
              <a:rPr dirty="0" sz="15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sample</a:t>
            </a:r>
            <a:r>
              <a:rPr dirty="0" sz="15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3203C"/>
                </a:solidFill>
                <a:latin typeface="Calibri"/>
                <a:cs typeface="Calibri"/>
              </a:rPr>
              <a:t>generation</a:t>
            </a:r>
            <a:r>
              <a:rPr dirty="0" sz="15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and</a:t>
            </a:r>
            <a:r>
              <a:rPr dirty="0" sz="15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50">
                <a:solidFill>
                  <a:srgbClr val="13203C"/>
                </a:solidFill>
                <a:latin typeface="Calibri"/>
                <a:cs typeface="Calibri"/>
              </a:rPr>
              <a:t>a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500" spc="-10">
                <a:solidFill>
                  <a:srgbClr val="13203C"/>
                </a:solidFill>
                <a:latin typeface="Calibri"/>
                <a:cs typeface="Calibri"/>
              </a:rPr>
              <a:t>third-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party</a:t>
            </a:r>
            <a:r>
              <a:rPr dirty="0" sz="1500" spc="-6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classifier</a:t>
            </a:r>
            <a:r>
              <a:rPr dirty="0" sz="15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demo</a:t>
            </a:r>
            <a:r>
              <a:rPr dirty="0" sz="15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with</a:t>
            </a:r>
            <a:r>
              <a:rPr dirty="0" sz="15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3203C"/>
                </a:solidFill>
                <a:latin typeface="Calibri"/>
                <a:cs typeface="Calibri"/>
              </a:rPr>
              <a:t>visible</a:t>
            </a:r>
            <a:r>
              <a:rPr dirty="0" sz="15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3203C"/>
                </a:solidFill>
                <a:latin typeface="Calibri"/>
                <a:cs typeface="Calibri"/>
              </a:rPr>
              <a:t>limits.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1500" b="1">
                <a:solidFill>
                  <a:srgbClr val="13203C"/>
                </a:solidFill>
                <a:latin typeface="Calibri"/>
                <a:cs typeface="Calibri"/>
              </a:rPr>
              <a:t>Not</a:t>
            </a:r>
            <a:r>
              <a:rPr dirty="0" sz="1500" spc="15" b="1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13203C"/>
                </a:solidFill>
                <a:latin typeface="Calibri"/>
                <a:cs typeface="Calibri"/>
              </a:rPr>
              <a:t>clinically</a:t>
            </a:r>
            <a:r>
              <a:rPr dirty="0" sz="1500" spc="-30" b="1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13203C"/>
                </a:solidFill>
                <a:latin typeface="Calibri"/>
                <a:cs typeface="Calibri"/>
              </a:rPr>
              <a:t>validated.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345935" y="1133855"/>
            <a:ext cx="5415280" cy="5140960"/>
            <a:chOff x="6345935" y="1133855"/>
            <a:chExt cx="5415280" cy="5140960"/>
          </a:xfrm>
        </p:grpSpPr>
        <p:sp>
          <p:nvSpPr>
            <p:cNvPr id="8" name="object 8"/>
            <p:cNvSpPr/>
            <p:nvPr/>
          </p:nvSpPr>
          <p:spPr>
            <a:xfrm>
              <a:off x="6355841" y="1143761"/>
              <a:ext cx="5394960" cy="5120640"/>
            </a:xfrm>
            <a:custGeom>
              <a:avLst/>
              <a:gdLst/>
              <a:ahLst/>
              <a:cxnLst/>
              <a:rect l="l" t="t" r="r" b="b"/>
              <a:pathLst>
                <a:path w="5394959" h="5120640">
                  <a:moveTo>
                    <a:pt x="5190109" y="0"/>
                  </a:moveTo>
                  <a:lnTo>
                    <a:pt x="204851" y="0"/>
                  </a:lnTo>
                  <a:lnTo>
                    <a:pt x="157873" y="5409"/>
                  </a:lnTo>
                  <a:lnTo>
                    <a:pt x="114753" y="20817"/>
                  </a:lnTo>
                  <a:lnTo>
                    <a:pt x="76718" y="44996"/>
                  </a:lnTo>
                  <a:lnTo>
                    <a:pt x="44996" y="76718"/>
                  </a:lnTo>
                  <a:lnTo>
                    <a:pt x="20817" y="114753"/>
                  </a:lnTo>
                  <a:lnTo>
                    <a:pt x="5409" y="157873"/>
                  </a:lnTo>
                  <a:lnTo>
                    <a:pt x="0" y="204850"/>
                  </a:lnTo>
                  <a:lnTo>
                    <a:pt x="0" y="4915814"/>
                  </a:lnTo>
                  <a:lnTo>
                    <a:pt x="5409" y="4962778"/>
                  </a:lnTo>
                  <a:lnTo>
                    <a:pt x="20817" y="5005890"/>
                  </a:lnTo>
                  <a:lnTo>
                    <a:pt x="44996" y="5043921"/>
                  </a:lnTo>
                  <a:lnTo>
                    <a:pt x="76718" y="5075641"/>
                  </a:lnTo>
                  <a:lnTo>
                    <a:pt x="114753" y="5099820"/>
                  </a:lnTo>
                  <a:lnTo>
                    <a:pt x="157873" y="5115230"/>
                  </a:lnTo>
                  <a:lnTo>
                    <a:pt x="204851" y="5120640"/>
                  </a:lnTo>
                  <a:lnTo>
                    <a:pt x="5190109" y="5120640"/>
                  </a:lnTo>
                  <a:lnTo>
                    <a:pt x="5237086" y="5115230"/>
                  </a:lnTo>
                  <a:lnTo>
                    <a:pt x="5280206" y="5099820"/>
                  </a:lnTo>
                  <a:lnTo>
                    <a:pt x="5318241" y="5075641"/>
                  </a:lnTo>
                  <a:lnTo>
                    <a:pt x="5349963" y="5043921"/>
                  </a:lnTo>
                  <a:lnTo>
                    <a:pt x="5374142" y="5005890"/>
                  </a:lnTo>
                  <a:lnTo>
                    <a:pt x="5389550" y="4962778"/>
                  </a:lnTo>
                  <a:lnTo>
                    <a:pt x="5394960" y="4915814"/>
                  </a:lnTo>
                  <a:lnTo>
                    <a:pt x="5394960" y="204850"/>
                  </a:lnTo>
                  <a:lnTo>
                    <a:pt x="5389550" y="157873"/>
                  </a:lnTo>
                  <a:lnTo>
                    <a:pt x="5374142" y="114753"/>
                  </a:lnTo>
                  <a:lnTo>
                    <a:pt x="5349963" y="76718"/>
                  </a:lnTo>
                  <a:lnTo>
                    <a:pt x="5318241" y="44996"/>
                  </a:lnTo>
                  <a:lnTo>
                    <a:pt x="5280206" y="20817"/>
                  </a:lnTo>
                  <a:lnTo>
                    <a:pt x="5237086" y="5409"/>
                  </a:lnTo>
                  <a:lnTo>
                    <a:pt x="5190109" y="0"/>
                  </a:lnTo>
                  <a:close/>
                </a:path>
              </a:pathLst>
            </a:custGeom>
            <a:solidFill>
              <a:srgbClr val="E3F1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355841" y="1143761"/>
              <a:ext cx="5394960" cy="5120640"/>
            </a:xfrm>
            <a:custGeom>
              <a:avLst/>
              <a:gdLst/>
              <a:ahLst/>
              <a:cxnLst/>
              <a:rect l="l" t="t" r="r" b="b"/>
              <a:pathLst>
                <a:path w="5394959" h="5120640">
                  <a:moveTo>
                    <a:pt x="0" y="204850"/>
                  </a:moveTo>
                  <a:lnTo>
                    <a:pt x="5409" y="157873"/>
                  </a:lnTo>
                  <a:lnTo>
                    <a:pt x="20817" y="114753"/>
                  </a:lnTo>
                  <a:lnTo>
                    <a:pt x="44996" y="76718"/>
                  </a:lnTo>
                  <a:lnTo>
                    <a:pt x="76718" y="44996"/>
                  </a:lnTo>
                  <a:lnTo>
                    <a:pt x="114753" y="20817"/>
                  </a:lnTo>
                  <a:lnTo>
                    <a:pt x="157873" y="5409"/>
                  </a:lnTo>
                  <a:lnTo>
                    <a:pt x="204851" y="0"/>
                  </a:lnTo>
                  <a:lnTo>
                    <a:pt x="5190109" y="0"/>
                  </a:lnTo>
                  <a:lnTo>
                    <a:pt x="5237086" y="5409"/>
                  </a:lnTo>
                  <a:lnTo>
                    <a:pt x="5280206" y="20817"/>
                  </a:lnTo>
                  <a:lnTo>
                    <a:pt x="5318241" y="44996"/>
                  </a:lnTo>
                  <a:lnTo>
                    <a:pt x="5349963" y="76718"/>
                  </a:lnTo>
                  <a:lnTo>
                    <a:pt x="5374142" y="114753"/>
                  </a:lnTo>
                  <a:lnTo>
                    <a:pt x="5389550" y="157873"/>
                  </a:lnTo>
                  <a:lnTo>
                    <a:pt x="5394960" y="204850"/>
                  </a:lnTo>
                  <a:lnTo>
                    <a:pt x="5394960" y="4915814"/>
                  </a:lnTo>
                  <a:lnTo>
                    <a:pt x="5389550" y="4962778"/>
                  </a:lnTo>
                  <a:lnTo>
                    <a:pt x="5374142" y="5005890"/>
                  </a:lnTo>
                  <a:lnTo>
                    <a:pt x="5349963" y="5043921"/>
                  </a:lnTo>
                  <a:lnTo>
                    <a:pt x="5318241" y="5075641"/>
                  </a:lnTo>
                  <a:lnTo>
                    <a:pt x="5280206" y="5099820"/>
                  </a:lnTo>
                  <a:lnTo>
                    <a:pt x="5237086" y="5115230"/>
                  </a:lnTo>
                  <a:lnTo>
                    <a:pt x="5190109" y="5120640"/>
                  </a:lnTo>
                  <a:lnTo>
                    <a:pt x="204851" y="5120640"/>
                  </a:lnTo>
                  <a:lnTo>
                    <a:pt x="157873" y="5115230"/>
                  </a:lnTo>
                  <a:lnTo>
                    <a:pt x="114753" y="5099820"/>
                  </a:lnTo>
                  <a:lnTo>
                    <a:pt x="76718" y="5075641"/>
                  </a:lnTo>
                  <a:lnTo>
                    <a:pt x="44996" y="5043921"/>
                  </a:lnTo>
                  <a:lnTo>
                    <a:pt x="20817" y="5005890"/>
                  </a:lnTo>
                  <a:lnTo>
                    <a:pt x="5409" y="4962778"/>
                  </a:lnTo>
                  <a:lnTo>
                    <a:pt x="0" y="4915814"/>
                  </a:lnTo>
                  <a:lnTo>
                    <a:pt x="0" y="204850"/>
                  </a:lnTo>
                  <a:close/>
                </a:path>
              </a:pathLst>
            </a:custGeom>
            <a:ln w="19812">
              <a:solidFill>
                <a:srgbClr val="2A9D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6513068" y="1103884"/>
            <a:ext cx="5002530" cy="3202940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dirty="0" sz="1900" b="1">
                <a:solidFill>
                  <a:srgbClr val="13203C"/>
                </a:solidFill>
                <a:latin typeface="Calibri"/>
                <a:cs typeface="Calibri"/>
              </a:rPr>
              <a:t>Future</a:t>
            </a:r>
            <a:r>
              <a:rPr dirty="0" sz="1900" spc="-70" b="1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900" spc="-10" b="1">
                <a:solidFill>
                  <a:srgbClr val="13203C"/>
                </a:solidFill>
                <a:latin typeface="Calibri"/>
                <a:cs typeface="Calibri"/>
              </a:rPr>
              <a:t>scope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Larger,</a:t>
            </a:r>
            <a:r>
              <a:rPr dirty="0" sz="14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more</a:t>
            </a:r>
            <a:r>
              <a:rPr dirty="0" sz="1400" spc="-6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diverse</a:t>
            </a:r>
            <a:r>
              <a:rPr dirty="0" sz="14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data;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patient-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level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splits</a:t>
            </a:r>
            <a:r>
              <a:rPr dirty="0" sz="14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where</a:t>
            </a:r>
            <a:r>
              <a:rPr dirty="0" sz="1400" spc="-5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identifiers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exist.</a:t>
            </a:r>
            <a:endParaRPr sz="1400">
              <a:latin typeface="Calibri"/>
              <a:cs typeface="Calibri"/>
            </a:endParaRPr>
          </a:p>
          <a:p>
            <a:pPr marL="12700" marR="370205">
              <a:lnSpc>
                <a:spcPct val="100000"/>
              </a:lnSpc>
              <a:spcBef>
                <a:spcPts val="695"/>
              </a:spcBef>
            </a:pP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More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GAN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runs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and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seeds,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significance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tests,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compute-matched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baselines,</a:t>
            </a:r>
            <a:r>
              <a:rPr dirty="0" sz="14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longer</a:t>
            </a:r>
            <a:r>
              <a:rPr dirty="0" sz="1400" spc="-6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training.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Improved</a:t>
            </a:r>
            <a:r>
              <a:rPr dirty="0" sz="14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conditional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generation</a:t>
            </a:r>
            <a:r>
              <a:rPr dirty="0" sz="14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and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class-consistency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evaluation.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Medical-structure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evaluation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beyond</a:t>
            </a:r>
            <a:r>
              <a:rPr dirty="0" sz="14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ImageNet-feature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FID/KID.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700"/>
              </a:spcBef>
            </a:pP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Save</a:t>
            </a:r>
            <a:r>
              <a:rPr dirty="0" sz="14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a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research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classifier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checkpoint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(e.g.</a:t>
            </a:r>
            <a:r>
              <a:rPr dirty="0" sz="14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condition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C)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for</a:t>
            </a:r>
            <a:r>
              <a:rPr dirty="0" sz="14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new-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image inference.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Automated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browser-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level</a:t>
            </a:r>
            <a:r>
              <a:rPr dirty="0" sz="14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tests</a:t>
            </a:r>
            <a:r>
              <a:rPr dirty="0" sz="14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and</a:t>
            </a:r>
            <a:r>
              <a:rPr dirty="0" sz="14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out-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of-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distribution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handling.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Clinical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validation,</a:t>
            </a:r>
            <a:r>
              <a:rPr dirty="0" sz="14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regulatory</a:t>
            </a:r>
            <a:r>
              <a:rPr dirty="0" sz="14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review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203C"/>
                </a:solidFill>
                <a:latin typeface="Calibri"/>
                <a:cs typeface="Calibri"/>
              </a:rPr>
              <a:t>and</a:t>
            </a:r>
            <a:r>
              <a:rPr dirty="0" sz="14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oversight</a:t>
            </a:r>
            <a:r>
              <a:rPr dirty="0" sz="14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before</a:t>
            </a:r>
            <a:r>
              <a:rPr dirty="0" sz="140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13203C"/>
                </a:solidFill>
                <a:latin typeface="Calibri"/>
                <a:cs typeface="Calibri"/>
              </a:rPr>
              <a:t>any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 spc="-10">
                <a:solidFill>
                  <a:srgbClr val="13203C"/>
                </a:solidFill>
                <a:latin typeface="Calibri"/>
                <a:cs typeface="Calibri"/>
              </a:rPr>
              <a:t>healthcare</a:t>
            </a:r>
            <a:r>
              <a:rPr dirty="0" sz="1400" spc="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13203C"/>
                </a:solidFill>
                <a:latin typeface="Calibri"/>
                <a:cs typeface="Calibri"/>
              </a:rPr>
              <a:t>use.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 spc="-10"/>
              <a:t>NeuroVision</a:t>
            </a:r>
            <a:r>
              <a:rPr dirty="0" spc="-20"/>
              <a:t> </a:t>
            </a:r>
            <a:r>
              <a:rPr dirty="0"/>
              <a:t>AI</a:t>
            </a:r>
            <a:r>
              <a:rPr dirty="0" spc="195"/>
              <a:t> </a:t>
            </a:r>
            <a:r>
              <a:rPr dirty="0"/>
              <a:t>|</a:t>
            </a:r>
            <a:r>
              <a:rPr dirty="0" spc="200"/>
              <a:t> </a:t>
            </a:r>
            <a:r>
              <a:rPr dirty="0"/>
              <a:t>Brain</a:t>
            </a:r>
            <a:r>
              <a:rPr dirty="0" spc="-15"/>
              <a:t> </a:t>
            </a:r>
            <a:r>
              <a:rPr dirty="0"/>
              <a:t>Tumor</a:t>
            </a:r>
            <a:r>
              <a:rPr dirty="0" spc="-15"/>
              <a:t> </a:t>
            </a:r>
            <a:r>
              <a:rPr dirty="0"/>
              <a:t>MRI</a:t>
            </a:r>
            <a:r>
              <a:rPr dirty="0" spc="-25"/>
              <a:t> </a:t>
            </a:r>
            <a:r>
              <a:rPr dirty="0"/>
              <a:t>Generation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/>
              <a:t>Classification</a:t>
            </a:r>
            <a:r>
              <a:rPr dirty="0" spc="195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Ajai</a:t>
            </a:r>
            <a:r>
              <a:rPr dirty="0" spc="-30"/>
              <a:t> </a:t>
            </a:r>
            <a:r>
              <a:rPr dirty="0"/>
              <a:t>Kumar N</a:t>
            </a:r>
            <a:r>
              <a:rPr dirty="0" spc="-10"/>
              <a:t> </a:t>
            </a:r>
            <a:r>
              <a:rPr dirty="0"/>
              <a:t>(URK23CS5064)</a:t>
            </a:r>
            <a:r>
              <a:rPr dirty="0" spc="245"/>
              <a:t> </a:t>
            </a:r>
            <a:r>
              <a:rPr dirty="0"/>
              <a:t>|</a:t>
            </a:r>
            <a:r>
              <a:rPr dirty="0" spc="204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References</a:t>
            </a:r>
            <a:r>
              <a:rPr dirty="0" spc="-85"/>
              <a:t> </a:t>
            </a:r>
            <a:r>
              <a:rPr dirty="0"/>
              <a:t>and</a:t>
            </a:r>
            <a:r>
              <a:rPr dirty="0" spc="-110"/>
              <a:t> </a:t>
            </a:r>
            <a:r>
              <a:rPr dirty="0" spc="-10"/>
              <a:t>questions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4227" y="1067765"/>
            <a:ext cx="5450840" cy="2437130"/>
          </a:xfrm>
          <a:prstGeom prst="rect">
            <a:avLst/>
          </a:prstGeom>
        </p:spPr>
        <p:txBody>
          <a:bodyPr wrap="square" lIns="0" tIns="74930" rIns="0" bIns="0" rtlCol="0" vert="horz">
            <a:spAutoFit/>
          </a:bodyPr>
          <a:lstStyle/>
          <a:p>
            <a:pPr marL="228600" indent="-215900">
              <a:lnSpc>
                <a:spcPct val="100000"/>
              </a:lnSpc>
              <a:spcBef>
                <a:spcPts val="590"/>
              </a:spcBef>
              <a:buAutoNum type="arabicPlain"/>
              <a:tabLst>
                <a:tab pos="228600" algn="l"/>
              </a:tabLst>
            </a:pPr>
            <a:r>
              <a:rPr dirty="0" sz="1250" spc="-10">
                <a:solidFill>
                  <a:srgbClr val="13203C"/>
                </a:solidFill>
                <a:latin typeface="Calibri"/>
                <a:cs typeface="Calibri"/>
              </a:rPr>
              <a:t>Goodfellow</a:t>
            </a:r>
            <a:r>
              <a:rPr dirty="0" sz="125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et</a:t>
            </a:r>
            <a:r>
              <a:rPr dirty="0" sz="125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al.,</a:t>
            </a:r>
            <a:r>
              <a:rPr dirty="0" sz="125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3203C"/>
                </a:solidFill>
                <a:latin typeface="Calibri"/>
                <a:cs typeface="Calibri"/>
              </a:rPr>
              <a:t>Generative</a:t>
            </a:r>
            <a:r>
              <a:rPr dirty="0" sz="125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Adversarial</a:t>
            </a:r>
            <a:r>
              <a:rPr dirty="0" sz="125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Networks,</a:t>
            </a:r>
            <a:r>
              <a:rPr dirty="0" sz="125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arXiv:1406.2661,</a:t>
            </a:r>
            <a:r>
              <a:rPr dirty="0" sz="1250" spc="-10">
                <a:solidFill>
                  <a:srgbClr val="13203C"/>
                </a:solidFill>
                <a:latin typeface="Calibri"/>
                <a:cs typeface="Calibri"/>
              </a:rPr>
              <a:t> 2014.</a:t>
            </a:r>
            <a:endParaRPr sz="1250">
              <a:latin typeface="Calibri"/>
              <a:cs typeface="Calibri"/>
            </a:endParaRPr>
          </a:p>
          <a:p>
            <a:pPr marL="12700" marR="267970" indent="215900">
              <a:lnSpc>
                <a:spcPct val="100000"/>
              </a:lnSpc>
              <a:spcBef>
                <a:spcPts val="495"/>
              </a:spcBef>
              <a:buAutoNum type="arabicPlain"/>
              <a:tabLst>
                <a:tab pos="228600" algn="l"/>
              </a:tabLst>
            </a:pP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Mirza</a:t>
            </a:r>
            <a:r>
              <a:rPr dirty="0" sz="125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&amp;</a:t>
            </a:r>
            <a:r>
              <a:rPr dirty="0" sz="125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3203C"/>
                </a:solidFill>
                <a:latin typeface="Calibri"/>
                <a:cs typeface="Calibri"/>
              </a:rPr>
              <a:t>Osindero,</a:t>
            </a:r>
            <a:r>
              <a:rPr dirty="0" sz="1250" spc="-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Conditional</a:t>
            </a:r>
            <a:r>
              <a:rPr dirty="0" sz="1250" spc="-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3203C"/>
                </a:solidFill>
                <a:latin typeface="Calibri"/>
                <a:cs typeface="Calibri"/>
              </a:rPr>
              <a:t>Generative</a:t>
            </a:r>
            <a:r>
              <a:rPr dirty="0" sz="125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3203C"/>
                </a:solidFill>
                <a:latin typeface="Calibri"/>
                <a:cs typeface="Calibri"/>
              </a:rPr>
              <a:t>Adversarial</a:t>
            </a:r>
            <a:r>
              <a:rPr dirty="0" sz="1250" spc="1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Nets,</a:t>
            </a:r>
            <a:r>
              <a:rPr dirty="0" sz="125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3203C"/>
                </a:solidFill>
                <a:latin typeface="Calibri"/>
                <a:cs typeface="Calibri"/>
              </a:rPr>
              <a:t>arXiv:1411.1784, 2014.</a:t>
            </a:r>
            <a:endParaRPr sz="1250">
              <a:latin typeface="Calibri"/>
              <a:cs typeface="Calibri"/>
            </a:endParaRPr>
          </a:p>
          <a:p>
            <a:pPr marL="228600" indent="-215900">
              <a:lnSpc>
                <a:spcPct val="100000"/>
              </a:lnSpc>
              <a:spcBef>
                <a:spcPts val="500"/>
              </a:spcBef>
              <a:buAutoNum type="arabicPlain"/>
              <a:tabLst>
                <a:tab pos="228600" algn="l"/>
              </a:tabLst>
            </a:pPr>
            <a:r>
              <a:rPr dirty="0" sz="1250" spc="-10">
                <a:solidFill>
                  <a:srgbClr val="13203C"/>
                </a:solidFill>
                <a:latin typeface="Calibri"/>
                <a:cs typeface="Calibri"/>
              </a:rPr>
              <a:t>Radford,</a:t>
            </a:r>
            <a:r>
              <a:rPr dirty="0" sz="125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Metz</a:t>
            </a:r>
            <a:r>
              <a:rPr dirty="0" sz="125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&amp;</a:t>
            </a:r>
            <a:r>
              <a:rPr dirty="0" sz="125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3203C"/>
                </a:solidFill>
                <a:latin typeface="Calibri"/>
                <a:cs typeface="Calibri"/>
              </a:rPr>
              <a:t>Chintala,</a:t>
            </a:r>
            <a:r>
              <a:rPr dirty="0" sz="125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DCGAN,</a:t>
            </a:r>
            <a:r>
              <a:rPr dirty="0" sz="1250" spc="-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arXiv:1511.06434,</a:t>
            </a:r>
            <a:r>
              <a:rPr dirty="0" sz="1250" spc="-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3203C"/>
                </a:solidFill>
                <a:latin typeface="Calibri"/>
                <a:cs typeface="Calibri"/>
              </a:rPr>
              <a:t>2015.</a:t>
            </a:r>
            <a:endParaRPr sz="1250">
              <a:latin typeface="Calibri"/>
              <a:cs typeface="Calibri"/>
            </a:endParaRPr>
          </a:p>
          <a:p>
            <a:pPr marL="228600" indent="-215900">
              <a:lnSpc>
                <a:spcPct val="100000"/>
              </a:lnSpc>
              <a:spcBef>
                <a:spcPts val="505"/>
              </a:spcBef>
              <a:buAutoNum type="arabicPlain"/>
              <a:tabLst>
                <a:tab pos="228600" algn="l"/>
              </a:tabLst>
            </a:pPr>
            <a:r>
              <a:rPr dirty="0" sz="1250" spc="-20">
                <a:solidFill>
                  <a:srgbClr val="13203C"/>
                </a:solidFill>
                <a:latin typeface="Calibri"/>
                <a:cs typeface="Calibri"/>
              </a:rPr>
              <a:t>Arjovsky,</a:t>
            </a:r>
            <a:r>
              <a:rPr dirty="0" sz="125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Chintala</a:t>
            </a:r>
            <a:r>
              <a:rPr dirty="0" sz="125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&amp;</a:t>
            </a:r>
            <a:r>
              <a:rPr dirty="0" sz="125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Bottou,</a:t>
            </a:r>
            <a:r>
              <a:rPr dirty="0" sz="125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3203C"/>
                </a:solidFill>
                <a:latin typeface="Calibri"/>
                <a:cs typeface="Calibri"/>
              </a:rPr>
              <a:t>Wasserstein</a:t>
            </a:r>
            <a:r>
              <a:rPr dirty="0" sz="125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GAN, </a:t>
            </a:r>
            <a:r>
              <a:rPr dirty="0" sz="1250" spc="-10">
                <a:solidFill>
                  <a:srgbClr val="13203C"/>
                </a:solidFill>
                <a:latin typeface="Calibri"/>
                <a:cs typeface="Calibri"/>
              </a:rPr>
              <a:t>arXiv:1701.07875,</a:t>
            </a:r>
            <a:r>
              <a:rPr dirty="0" sz="1250" spc="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3203C"/>
                </a:solidFill>
                <a:latin typeface="Calibri"/>
                <a:cs typeface="Calibri"/>
              </a:rPr>
              <a:t>2017.</a:t>
            </a:r>
            <a:endParaRPr sz="1250">
              <a:latin typeface="Calibri"/>
              <a:cs typeface="Calibri"/>
            </a:endParaRPr>
          </a:p>
          <a:p>
            <a:pPr marL="228600" indent="-215900">
              <a:lnSpc>
                <a:spcPct val="100000"/>
              </a:lnSpc>
              <a:spcBef>
                <a:spcPts val="495"/>
              </a:spcBef>
              <a:buAutoNum type="arabicPlain"/>
              <a:tabLst>
                <a:tab pos="228600" algn="l"/>
              </a:tabLst>
            </a:pPr>
            <a:r>
              <a:rPr dirty="0" sz="1250" spc="-10">
                <a:solidFill>
                  <a:srgbClr val="13203C"/>
                </a:solidFill>
                <a:latin typeface="Calibri"/>
                <a:cs typeface="Calibri"/>
              </a:rPr>
              <a:t>Gulrajani</a:t>
            </a:r>
            <a:r>
              <a:rPr dirty="0" sz="125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et</a:t>
            </a:r>
            <a:r>
              <a:rPr dirty="0" sz="125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al.,</a:t>
            </a:r>
            <a:r>
              <a:rPr dirty="0" sz="125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3203C"/>
                </a:solidFill>
                <a:latin typeface="Calibri"/>
                <a:cs typeface="Calibri"/>
              </a:rPr>
              <a:t>Improved</a:t>
            </a:r>
            <a:r>
              <a:rPr dirty="0" sz="1250" spc="-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 spc="-20">
                <a:solidFill>
                  <a:srgbClr val="13203C"/>
                </a:solidFill>
                <a:latin typeface="Calibri"/>
                <a:cs typeface="Calibri"/>
              </a:rPr>
              <a:t>Training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of</a:t>
            </a:r>
            <a:r>
              <a:rPr dirty="0" sz="1250" spc="-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3203C"/>
                </a:solidFill>
                <a:latin typeface="Calibri"/>
                <a:cs typeface="Calibri"/>
              </a:rPr>
              <a:t>Wasserstein</a:t>
            </a:r>
            <a:r>
              <a:rPr dirty="0" sz="125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GANs,</a:t>
            </a:r>
            <a:r>
              <a:rPr dirty="0" sz="125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arXiv:1704.00028,</a:t>
            </a:r>
            <a:r>
              <a:rPr dirty="0" sz="1250" spc="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3203C"/>
                </a:solidFill>
                <a:latin typeface="Calibri"/>
                <a:cs typeface="Calibri"/>
              </a:rPr>
              <a:t>2017.</a:t>
            </a:r>
            <a:endParaRPr sz="1250">
              <a:latin typeface="Calibri"/>
              <a:cs typeface="Calibri"/>
            </a:endParaRPr>
          </a:p>
          <a:p>
            <a:pPr marL="228600" indent="-215900">
              <a:lnSpc>
                <a:spcPct val="100000"/>
              </a:lnSpc>
              <a:spcBef>
                <a:spcPts val="505"/>
              </a:spcBef>
              <a:buAutoNum type="arabicPlain"/>
              <a:tabLst>
                <a:tab pos="228600" algn="l"/>
              </a:tabLst>
            </a:pP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Heusel</a:t>
            </a:r>
            <a:r>
              <a:rPr dirty="0" sz="125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et</a:t>
            </a:r>
            <a:r>
              <a:rPr dirty="0" sz="125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al.,</a:t>
            </a:r>
            <a:r>
              <a:rPr dirty="0" sz="125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TTUR</a:t>
            </a:r>
            <a:r>
              <a:rPr dirty="0" sz="125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/</a:t>
            </a:r>
            <a:r>
              <a:rPr dirty="0" sz="1250" spc="-1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FID,</a:t>
            </a:r>
            <a:r>
              <a:rPr dirty="0" sz="1250" spc="-1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NIPS</a:t>
            </a:r>
            <a:r>
              <a:rPr dirty="0" sz="1250" spc="-1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2017;</a:t>
            </a:r>
            <a:r>
              <a:rPr dirty="0" sz="125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3203C"/>
                </a:solidFill>
                <a:latin typeface="Calibri"/>
                <a:cs typeface="Calibri"/>
              </a:rPr>
              <a:t>arXiv:1706.08500.</a:t>
            </a:r>
            <a:endParaRPr sz="1250">
              <a:latin typeface="Calibri"/>
              <a:cs typeface="Calibri"/>
            </a:endParaRPr>
          </a:p>
          <a:p>
            <a:pPr marL="228600" indent="-215900">
              <a:lnSpc>
                <a:spcPct val="100000"/>
              </a:lnSpc>
              <a:spcBef>
                <a:spcPts val="505"/>
              </a:spcBef>
              <a:buAutoNum type="arabicPlain"/>
              <a:tabLst>
                <a:tab pos="228600" algn="l"/>
              </a:tabLst>
            </a:pPr>
            <a:r>
              <a:rPr dirty="0" sz="1250" spc="-10">
                <a:solidFill>
                  <a:srgbClr val="13203C"/>
                </a:solidFill>
                <a:latin typeface="Calibri"/>
                <a:cs typeface="Calibri"/>
              </a:rPr>
              <a:t>Bińkowski</a:t>
            </a:r>
            <a:r>
              <a:rPr dirty="0" sz="125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et</a:t>
            </a:r>
            <a:r>
              <a:rPr dirty="0" sz="1250" spc="-1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al.,</a:t>
            </a:r>
            <a:r>
              <a:rPr dirty="0" sz="1250" spc="-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3203C"/>
                </a:solidFill>
                <a:latin typeface="Calibri"/>
                <a:cs typeface="Calibri"/>
              </a:rPr>
              <a:t>Demystifying</a:t>
            </a:r>
            <a:r>
              <a:rPr dirty="0" sz="125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MMD</a:t>
            </a:r>
            <a:r>
              <a:rPr dirty="0" sz="1250" spc="-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GANs,</a:t>
            </a:r>
            <a:r>
              <a:rPr dirty="0" sz="1250" spc="-1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ICLR</a:t>
            </a:r>
            <a:r>
              <a:rPr dirty="0" sz="125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2018;</a:t>
            </a:r>
            <a:r>
              <a:rPr dirty="0" sz="1250" spc="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3203C"/>
                </a:solidFill>
                <a:latin typeface="Calibri"/>
                <a:cs typeface="Calibri"/>
              </a:rPr>
              <a:t>arXiv:1801.01401.</a:t>
            </a:r>
            <a:endParaRPr sz="1250">
              <a:latin typeface="Calibri"/>
              <a:cs typeface="Calibri"/>
            </a:endParaRPr>
          </a:p>
          <a:p>
            <a:pPr marL="12700" marR="909319" indent="215900">
              <a:lnSpc>
                <a:spcPct val="100000"/>
              </a:lnSpc>
              <a:spcBef>
                <a:spcPts val="490"/>
              </a:spcBef>
              <a:buAutoNum type="arabicPlain"/>
              <a:tabLst>
                <a:tab pos="228600" algn="l"/>
              </a:tabLst>
            </a:pP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Miyato</a:t>
            </a:r>
            <a:r>
              <a:rPr dirty="0" sz="125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&amp;</a:t>
            </a:r>
            <a:r>
              <a:rPr dirty="0" sz="125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3203C"/>
                </a:solidFill>
                <a:latin typeface="Calibri"/>
                <a:cs typeface="Calibri"/>
              </a:rPr>
              <a:t>Koyama,</a:t>
            </a:r>
            <a:r>
              <a:rPr dirty="0" sz="125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cGANs</a:t>
            </a:r>
            <a:r>
              <a:rPr dirty="0" sz="125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with</a:t>
            </a:r>
            <a:r>
              <a:rPr dirty="0" sz="125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Projection</a:t>
            </a:r>
            <a:r>
              <a:rPr dirty="0" sz="125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3203C"/>
                </a:solidFill>
                <a:latin typeface="Calibri"/>
                <a:cs typeface="Calibri"/>
              </a:rPr>
              <a:t>Discriminator,</a:t>
            </a:r>
            <a:r>
              <a:rPr dirty="0" sz="125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ICLR</a:t>
            </a:r>
            <a:r>
              <a:rPr dirty="0" sz="125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3203C"/>
                </a:solidFill>
                <a:latin typeface="Calibri"/>
                <a:cs typeface="Calibri"/>
              </a:rPr>
              <a:t>2018; arXiv:1802.05637.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07277" y="1067765"/>
            <a:ext cx="4426585" cy="1802764"/>
          </a:xfrm>
          <a:prstGeom prst="rect">
            <a:avLst/>
          </a:prstGeom>
        </p:spPr>
        <p:txBody>
          <a:bodyPr wrap="square" lIns="0" tIns="74930" rIns="0" bIns="0" rtlCol="0" vert="horz">
            <a:spAutoFit/>
          </a:bodyPr>
          <a:lstStyle/>
          <a:p>
            <a:pPr marL="228600" indent="-215900">
              <a:lnSpc>
                <a:spcPct val="100000"/>
              </a:lnSpc>
              <a:spcBef>
                <a:spcPts val="590"/>
              </a:spcBef>
              <a:buAutoNum type="arabicPlain" startAt="9"/>
              <a:tabLst>
                <a:tab pos="228600" algn="l"/>
              </a:tabLst>
            </a:pP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United</a:t>
            </a:r>
            <a:r>
              <a:rPr dirty="0" sz="125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Nations,</a:t>
            </a:r>
            <a:r>
              <a:rPr dirty="0" sz="125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 spc="-20">
                <a:solidFill>
                  <a:srgbClr val="13203C"/>
                </a:solidFill>
                <a:latin typeface="Calibri"/>
                <a:cs typeface="Calibri"/>
              </a:rPr>
              <a:t>Transforming</a:t>
            </a:r>
            <a:r>
              <a:rPr dirty="0" sz="125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our</a:t>
            </a:r>
            <a:r>
              <a:rPr dirty="0" sz="125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world:</a:t>
            </a:r>
            <a:r>
              <a:rPr dirty="0" sz="125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the</a:t>
            </a:r>
            <a:r>
              <a:rPr dirty="0" sz="1250" spc="-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2030</a:t>
            </a:r>
            <a:r>
              <a:rPr dirty="0" sz="125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Agenda,</a:t>
            </a:r>
            <a:r>
              <a:rPr dirty="0" sz="125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3203C"/>
                </a:solidFill>
                <a:latin typeface="Calibri"/>
                <a:cs typeface="Calibri"/>
              </a:rPr>
              <a:t>2015.</a:t>
            </a:r>
            <a:endParaRPr sz="1250">
              <a:latin typeface="Calibri"/>
              <a:cs typeface="Calibri"/>
            </a:endParaRPr>
          </a:p>
          <a:p>
            <a:pPr marL="308610" indent="-295910">
              <a:lnSpc>
                <a:spcPct val="100000"/>
              </a:lnSpc>
              <a:spcBef>
                <a:spcPts val="495"/>
              </a:spcBef>
              <a:buAutoNum type="arabicPlain" startAt="9"/>
              <a:tabLst>
                <a:tab pos="308610" algn="l"/>
              </a:tabLst>
            </a:pPr>
            <a:r>
              <a:rPr dirty="0" sz="1250" spc="-10">
                <a:solidFill>
                  <a:srgbClr val="13203C"/>
                </a:solidFill>
                <a:latin typeface="Calibri"/>
                <a:cs typeface="Calibri"/>
              </a:rPr>
              <a:t>Karunya Institute</a:t>
            </a:r>
            <a:r>
              <a:rPr dirty="0" sz="125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of</a:t>
            </a:r>
            <a:r>
              <a:rPr dirty="0" sz="1250" spc="-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 spc="-20">
                <a:solidFill>
                  <a:srgbClr val="13203C"/>
                </a:solidFill>
                <a:latin typeface="Calibri"/>
                <a:cs typeface="Calibri"/>
              </a:rPr>
              <a:t>Technology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and</a:t>
            </a:r>
            <a:r>
              <a:rPr dirty="0" sz="125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Sciences,</a:t>
            </a:r>
            <a:r>
              <a:rPr dirty="0" sz="125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official</a:t>
            </a:r>
            <a:r>
              <a:rPr dirty="0" sz="125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3203C"/>
                </a:solidFill>
                <a:latin typeface="Calibri"/>
                <a:cs typeface="Calibri"/>
              </a:rPr>
              <a:t>website.</a:t>
            </a:r>
            <a:endParaRPr sz="1250">
              <a:latin typeface="Calibri"/>
              <a:cs typeface="Calibri"/>
            </a:endParaRPr>
          </a:p>
          <a:p>
            <a:pPr marL="308610" indent="-295910">
              <a:lnSpc>
                <a:spcPct val="100000"/>
              </a:lnSpc>
              <a:spcBef>
                <a:spcPts val="500"/>
              </a:spcBef>
              <a:buAutoNum type="arabicPlain" startAt="9"/>
              <a:tabLst>
                <a:tab pos="308610" algn="l"/>
              </a:tabLst>
            </a:pP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M.</a:t>
            </a:r>
            <a:r>
              <a:rPr dirty="0" sz="125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3203C"/>
                </a:solidFill>
                <a:latin typeface="Calibri"/>
                <a:cs typeface="Calibri"/>
              </a:rPr>
              <a:t>Nickparvar,</a:t>
            </a:r>
            <a:r>
              <a:rPr dirty="0" sz="125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Brain</a:t>
            </a:r>
            <a:r>
              <a:rPr dirty="0" sz="125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3203C"/>
                </a:solidFill>
                <a:latin typeface="Calibri"/>
                <a:cs typeface="Calibri"/>
              </a:rPr>
              <a:t>Tumor</a:t>
            </a:r>
            <a:r>
              <a:rPr dirty="0" sz="125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MRI</a:t>
            </a:r>
            <a:r>
              <a:rPr dirty="0" sz="1250" spc="-4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Dataset,</a:t>
            </a:r>
            <a:r>
              <a:rPr dirty="0" sz="125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Kaggle</a:t>
            </a:r>
            <a:r>
              <a:rPr dirty="0" sz="125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v2,</a:t>
            </a:r>
            <a:r>
              <a:rPr dirty="0" sz="125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CC</a:t>
            </a:r>
            <a:r>
              <a:rPr dirty="0" sz="125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BY</a:t>
            </a:r>
            <a:r>
              <a:rPr dirty="0" sz="125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 spc="-20">
                <a:solidFill>
                  <a:srgbClr val="13203C"/>
                </a:solidFill>
                <a:latin typeface="Calibri"/>
                <a:cs typeface="Calibri"/>
              </a:rPr>
              <a:t>4.0.</a:t>
            </a:r>
            <a:endParaRPr sz="1250">
              <a:latin typeface="Calibri"/>
              <a:cs typeface="Calibri"/>
            </a:endParaRPr>
          </a:p>
          <a:p>
            <a:pPr marL="308610" indent="-295910">
              <a:lnSpc>
                <a:spcPct val="100000"/>
              </a:lnSpc>
              <a:spcBef>
                <a:spcPts val="505"/>
              </a:spcBef>
              <a:buAutoNum type="arabicPlain" startAt="9"/>
              <a:tabLst>
                <a:tab pos="308610" algn="l"/>
              </a:tabLst>
            </a:pP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Kingma</a:t>
            </a:r>
            <a:r>
              <a:rPr dirty="0" sz="125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&amp;</a:t>
            </a:r>
            <a:r>
              <a:rPr dirty="0" sz="125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Ba,</a:t>
            </a:r>
            <a:r>
              <a:rPr dirty="0" sz="125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Adam,</a:t>
            </a:r>
            <a:r>
              <a:rPr dirty="0" sz="1250" spc="-1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ICLR 2015;</a:t>
            </a:r>
            <a:r>
              <a:rPr dirty="0" sz="125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3203C"/>
                </a:solidFill>
                <a:latin typeface="Calibri"/>
                <a:cs typeface="Calibri"/>
              </a:rPr>
              <a:t>arXiv:1412.6980.</a:t>
            </a:r>
            <a:endParaRPr sz="1250">
              <a:latin typeface="Calibri"/>
              <a:cs typeface="Calibri"/>
            </a:endParaRPr>
          </a:p>
          <a:p>
            <a:pPr marL="308610" indent="-295910">
              <a:lnSpc>
                <a:spcPct val="100000"/>
              </a:lnSpc>
              <a:spcBef>
                <a:spcPts val="495"/>
              </a:spcBef>
              <a:buAutoNum type="arabicPlain" startAt="9"/>
              <a:tabLst>
                <a:tab pos="308610" algn="l"/>
              </a:tabLst>
            </a:pPr>
            <a:r>
              <a:rPr dirty="0" sz="1250" spc="-20">
                <a:solidFill>
                  <a:srgbClr val="13203C"/>
                </a:solidFill>
                <a:latin typeface="Calibri"/>
                <a:cs typeface="Calibri"/>
              </a:rPr>
              <a:t>torch-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fidelity 0.4.0</a:t>
            </a:r>
            <a:r>
              <a:rPr dirty="0" sz="1250" spc="1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3203C"/>
                </a:solidFill>
                <a:latin typeface="Calibri"/>
                <a:cs typeface="Calibri"/>
              </a:rPr>
              <a:t>(software).</a:t>
            </a:r>
            <a:endParaRPr sz="1250">
              <a:latin typeface="Calibri"/>
              <a:cs typeface="Calibri"/>
            </a:endParaRPr>
          </a:p>
          <a:p>
            <a:pPr marL="308610" indent="-295910">
              <a:lnSpc>
                <a:spcPct val="100000"/>
              </a:lnSpc>
              <a:spcBef>
                <a:spcPts val="505"/>
              </a:spcBef>
              <a:buAutoNum type="arabicPlain" startAt="9"/>
              <a:tabLst>
                <a:tab pos="308610" algn="l"/>
              </a:tabLst>
            </a:pPr>
            <a:r>
              <a:rPr dirty="0" sz="1250" spc="-20">
                <a:solidFill>
                  <a:srgbClr val="13203C"/>
                </a:solidFill>
                <a:latin typeface="Calibri"/>
                <a:cs typeface="Calibri"/>
              </a:rPr>
              <a:t>Tan</a:t>
            </a:r>
            <a:r>
              <a:rPr dirty="0" sz="125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&amp;</a:t>
            </a:r>
            <a:r>
              <a:rPr dirty="0" sz="125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Le,</a:t>
            </a:r>
            <a:r>
              <a:rPr dirty="0" sz="125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3203C"/>
                </a:solidFill>
                <a:latin typeface="Calibri"/>
                <a:cs typeface="Calibri"/>
              </a:rPr>
              <a:t>EfficientNet,</a:t>
            </a:r>
            <a:r>
              <a:rPr dirty="0" sz="1250" spc="-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ICML</a:t>
            </a:r>
            <a:r>
              <a:rPr dirty="0" sz="125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2019;</a:t>
            </a:r>
            <a:r>
              <a:rPr dirty="0" sz="1250" spc="-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3203C"/>
                </a:solidFill>
                <a:latin typeface="Calibri"/>
                <a:cs typeface="Calibri"/>
              </a:rPr>
              <a:t>arXiv:1905.11946.</a:t>
            </a:r>
            <a:endParaRPr sz="1250">
              <a:latin typeface="Calibri"/>
              <a:cs typeface="Calibri"/>
            </a:endParaRPr>
          </a:p>
          <a:p>
            <a:pPr marL="308610" indent="-295910">
              <a:lnSpc>
                <a:spcPct val="100000"/>
              </a:lnSpc>
              <a:spcBef>
                <a:spcPts val="505"/>
              </a:spcBef>
              <a:buAutoNum type="arabicPlain" startAt="9"/>
              <a:tabLst>
                <a:tab pos="308610" algn="l"/>
              </a:tabLst>
            </a:pPr>
            <a:r>
              <a:rPr dirty="0" sz="1250" spc="-10">
                <a:solidFill>
                  <a:srgbClr val="13203C"/>
                </a:solidFill>
                <a:latin typeface="Calibri"/>
                <a:cs typeface="Calibri"/>
              </a:rPr>
              <a:t>Phi-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007,</a:t>
            </a:r>
            <a:r>
              <a:rPr dirty="0" sz="1250" spc="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 spc="-20">
                <a:solidFill>
                  <a:srgbClr val="13203C"/>
                </a:solidFill>
                <a:latin typeface="Calibri"/>
                <a:cs typeface="Calibri"/>
              </a:rPr>
              <a:t>brain-</a:t>
            </a:r>
            <a:r>
              <a:rPr dirty="0" sz="1250" spc="-10">
                <a:solidFill>
                  <a:srgbClr val="13203C"/>
                </a:solidFill>
                <a:latin typeface="Calibri"/>
                <a:cs typeface="Calibri"/>
              </a:rPr>
              <a:t>tumor-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classifier</a:t>
            </a:r>
            <a:r>
              <a:rPr dirty="0" sz="1250" spc="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3203C"/>
                </a:solidFill>
                <a:latin typeface="Calibri"/>
                <a:cs typeface="Calibri"/>
              </a:rPr>
              <a:t>(Apache-</a:t>
            </a:r>
            <a:r>
              <a:rPr dirty="0" sz="1250">
                <a:solidFill>
                  <a:srgbClr val="13203C"/>
                </a:solidFill>
                <a:latin typeface="Calibri"/>
                <a:cs typeface="Calibri"/>
              </a:rPr>
              <a:t>2.0)</a:t>
            </a:r>
            <a:r>
              <a:rPr dirty="0" sz="1250" spc="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3203C"/>
                </a:solidFill>
                <a:latin typeface="Calibri"/>
                <a:cs typeface="Calibri"/>
              </a:rPr>
              <a:t>(software).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4227" y="4863260"/>
            <a:ext cx="6304915" cy="1052830"/>
          </a:xfrm>
          <a:prstGeom prst="rect">
            <a:avLst/>
          </a:prstGeom>
        </p:spPr>
        <p:txBody>
          <a:bodyPr wrap="square" lIns="0" tIns="1524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800" spc="-10" b="1">
                <a:solidFill>
                  <a:srgbClr val="1F395F"/>
                </a:solidFill>
                <a:latin typeface="Calibri"/>
                <a:cs typeface="Calibri"/>
              </a:rPr>
              <a:t>Questions?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05"/>
              </a:spcBef>
            </a:pPr>
            <a:r>
              <a:rPr dirty="0" sz="1300">
                <a:solidFill>
                  <a:srgbClr val="545F6F"/>
                </a:solidFill>
                <a:latin typeface="Calibri"/>
                <a:cs typeface="Calibri"/>
              </a:rPr>
              <a:t>Ajai</a:t>
            </a:r>
            <a:r>
              <a:rPr dirty="0" sz="1300" spc="-15">
                <a:solidFill>
                  <a:srgbClr val="545F6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45F6F"/>
                </a:solidFill>
                <a:latin typeface="Calibri"/>
                <a:cs typeface="Calibri"/>
              </a:rPr>
              <a:t>Kumar</a:t>
            </a:r>
            <a:r>
              <a:rPr dirty="0" sz="1300" spc="-25">
                <a:solidFill>
                  <a:srgbClr val="545F6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45F6F"/>
                </a:solidFill>
                <a:latin typeface="Calibri"/>
                <a:cs typeface="Calibri"/>
              </a:rPr>
              <a:t>N</a:t>
            </a:r>
            <a:r>
              <a:rPr dirty="0" sz="1300" spc="-25">
                <a:solidFill>
                  <a:srgbClr val="545F6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45F6F"/>
                </a:solidFill>
                <a:latin typeface="Calibri"/>
                <a:cs typeface="Calibri"/>
              </a:rPr>
              <a:t>(URK23CS5064)</a:t>
            </a:r>
            <a:r>
              <a:rPr dirty="0" sz="1300" spc="275">
                <a:solidFill>
                  <a:srgbClr val="545F6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45F6F"/>
                </a:solidFill>
                <a:latin typeface="Calibri"/>
                <a:cs typeface="Calibri"/>
              </a:rPr>
              <a:t>|</a:t>
            </a:r>
            <a:r>
              <a:rPr dirty="0" sz="1300" spc="254">
                <a:solidFill>
                  <a:srgbClr val="545F6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45F6F"/>
                </a:solidFill>
                <a:latin typeface="Calibri"/>
                <a:cs typeface="Calibri"/>
              </a:rPr>
              <a:t>25AI2004 AI</a:t>
            </a:r>
            <a:r>
              <a:rPr dirty="0" sz="1300" spc="-30">
                <a:solidFill>
                  <a:srgbClr val="545F6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45F6F"/>
                </a:solidFill>
                <a:latin typeface="Calibri"/>
                <a:cs typeface="Calibri"/>
              </a:rPr>
              <a:t>in</a:t>
            </a:r>
            <a:r>
              <a:rPr dirty="0" sz="1300" spc="-10">
                <a:solidFill>
                  <a:srgbClr val="545F6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45F6F"/>
                </a:solidFill>
                <a:latin typeface="Calibri"/>
                <a:cs typeface="Calibri"/>
              </a:rPr>
              <a:t>Healthcare</a:t>
            </a:r>
            <a:r>
              <a:rPr dirty="0" sz="1300" spc="265">
                <a:solidFill>
                  <a:srgbClr val="545F6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45F6F"/>
                </a:solidFill>
                <a:latin typeface="Calibri"/>
                <a:cs typeface="Calibri"/>
              </a:rPr>
              <a:t>|</a:t>
            </a:r>
            <a:r>
              <a:rPr dirty="0" sz="1300" spc="250">
                <a:solidFill>
                  <a:srgbClr val="545F6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545F6F"/>
                </a:solidFill>
                <a:latin typeface="Calibri"/>
                <a:cs typeface="Calibri"/>
              </a:rPr>
              <a:t>Karunya</a:t>
            </a:r>
            <a:r>
              <a:rPr dirty="0" sz="1300" spc="-15">
                <a:solidFill>
                  <a:srgbClr val="545F6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45F6F"/>
                </a:solidFill>
                <a:latin typeface="Calibri"/>
                <a:cs typeface="Calibri"/>
              </a:rPr>
              <a:t>Institute of</a:t>
            </a:r>
            <a:r>
              <a:rPr dirty="0" sz="1300" spc="-15">
                <a:solidFill>
                  <a:srgbClr val="545F6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545F6F"/>
                </a:solidFill>
                <a:latin typeface="Calibri"/>
                <a:cs typeface="Calibri"/>
              </a:rPr>
              <a:t>Technology </a:t>
            </a:r>
            <a:r>
              <a:rPr dirty="0" sz="1300">
                <a:solidFill>
                  <a:srgbClr val="545F6F"/>
                </a:solidFill>
                <a:latin typeface="Calibri"/>
                <a:cs typeface="Calibri"/>
              </a:rPr>
              <a:t>and</a:t>
            </a:r>
            <a:r>
              <a:rPr dirty="0" sz="1300" spc="-5">
                <a:solidFill>
                  <a:srgbClr val="545F6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545F6F"/>
                </a:solidFill>
                <a:latin typeface="Calibri"/>
                <a:cs typeface="Calibri"/>
              </a:rPr>
              <a:t>Sciences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214616" y="4928615"/>
            <a:ext cx="4592320" cy="1391920"/>
            <a:chOff x="7214616" y="4928615"/>
            <a:chExt cx="4592320" cy="1391920"/>
          </a:xfrm>
        </p:grpSpPr>
        <p:sp>
          <p:nvSpPr>
            <p:cNvPr id="7" name="object 7"/>
            <p:cNvSpPr/>
            <p:nvPr/>
          </p:nvSpPr>
          <p:spPr>
            <a:xfrm>
              <a:off x="7224522" y="4938521"/>
              <a:ext cx="4572000" cy="1371600"/>
            </a:xfrm>
            <a:custGeom>
              <a:avLst/>
              <a:gdLst/>
              <a:ahLst/>
              <a:cxnLst/>
              <a:rect l="l" t="t" r="r" b="b"/>
              <a:pathLst>
                <a:path w="4572000" h="1371600">
                  <a:moveTo>
                    <a:pt x="4517135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1316735"/>
                  </a:lnTo>
                  <a:lnTo>
                    <a:pt x="4304" y="1338092"/>
                  </a:lnTo>
                  <a:lnTo>
                    <a:pt x="16049" y="1355531"/>
                  </a:lnTo>
                  <a:lnTo>
                    <a:pt x="33486" y="1367288"/>
                  </a:lnTo>
                  <a:lnTo>
                    <a:pt x="54863" y="1371599"/>
                  </a:lnTo>
                  <a:lnTo>
                    <a:pt x="4517135" y="1371599"/>
                  </a:lnTo>
                  <a:lnTo>
                    <a:pt x="4538513" y="1367288"/>
                  </a:lnTo>
                  <a:lnTo>
                    <a:pt x="4555950" y="1355531"/>
                  </a:lnTo>
                  <a:lnTo>
                    <a:pt x="4567695" y="1338092"/>
                  </a:lnTo>
                  <a:lnTo>
                    <a:pt x="4572000" y="1316735"/>
                  </a:lnTo>
                  <a:lnTo>
                    <a:pt x="4572000" y="54863"/>
                  </a:lnTo>
                  <a:lnTo>
                    <a:pt x="4567695" y="33486"/>
                  </a:lnTo>
                  <a:lnTo>
                    <a:pt x="4555950" y="16049"/>
                  </a:lnTo>
                  <a:lnTo>
                    <a:pt x="4538513" y="4304"/>
                  </a:lnTo>
                  <a:lnTo>
                    <a:pt x="4517135" y="0"/>
                  </a:lnTo>
                  <a:close/>
                </a:path>
              </a:pathLst>
            </a:custGeom>
            <a:solidFill>
              <a:srgbClr val="FCF0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224522" y="4938521"/>
              <a:ext cx="4572000" cy="1371600"/>
            </a:xfrm>
            <a:custGeom>
              <a:avLst/>
              <a:gdLst/>
              <a:ahLst/>
              <a:cxnLst/>
              <a:rect l="l" t="t" r="r" b="b"/>
              <a:pathLst>
                <a:path w="4572000" h="1371600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4517135" y="0"/>
                  </a:lnTo>
                  <a:lnTo>
                    <a:pt x="4538513" y="4304"/>
                  </a:lnTo>
                  <a:lnTo>
                    <a:pt x="4555950" y="16049"/>
                  </a:lnTo>
                  <a:lnTo>
                    <a:pt x="4567695" y="33486"/>
                  </a:lnTo>
                  <a:lnTo>
                    <a:pt x="4572000" y="54863"/>
                  </a:lnTo>
                  <a:lnTo>
                    <a:pt x="4572000" y="1316735"/>
                  </a:lnTo>
                  <a:lnTo>
                    <a:pt x="4567695" y="1338092"/>
                  </a:lnTo>
                  <a:lnTo>
                    <a:pt x="4555950" y="1355531"/>
                  </a:lnTo>
                  <a:lnTo>
                    <a:pt x="4538513" y="1367288"/>
                  </a:lnTo>
                  <a:lnTo>
                    <a:pt x="4517135" y="1371599"/>
                  </a:lnTo>
                  <a:lnTo>
                    <a:pt x="54863" y="1371599"/>
                  </a:lnTo>
                  <a:lnTo>
                    <a:pt x="33486" y="1367288"/>
                  </a:lnTo>
                  <a:lnTo>
                    <a:pt x="16049" y="1355531"/>
                  </a:lnTo>
                  <a:lnTo>
                    <a:pt x="4304" y="1338092"/>
                  </a:lnTo>
                  <a:lnTo>
                    <a:pt x="0" y="1316735"/>
                  </a:lnTo>
                  <a:lnTo>
                    <a:pt x="0" y="54863"/>
                  </a:lnTo>
                  <a:close/>
                </a:path>
              </a:pathLst>
            </a:custGeom>
            <a:ln w="19812">
              <a:solidFill>
                <a:srgbClr val="C889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7337806" y="4929654"/>
            <a:ext cx="4265295" cy="697865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1300" spc="-10" b="1">
                <a:solidFill>
                  <a:srgbClr val="13203C"/>
                </a:solidFill>
                <a:latin typeface="Calibri"/>
                <a:cs typeface="Calibri"/>
              </a:rPr>
              <a:t>Reminder</a:t>
            </a:r>
            <a:endParaRPr sz="13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409"/>
              </a:spcBef>
            </a:pPr>
            <a:r>
              <a:rPr dirty="0" sz="1200">
                <a:solidFill>
                  <a:srgbClr val="13203C"/>
                </a:solidFill>
                <a:latin typeface="Calibri"/>
                <a:cs typeface="Calibri"/>
              </a:rPr>
              <a:t>Academic</a:t>
            </a:r>
            <a:r>
              <a:rPr dirty="0" sz="1200" spc="-1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3203C"/>
                </a:solidFill>
                <a:latin typeface="Calibri"/>
                <a:cs typeface="Calibri"/>
              </a:rPr>
              <a:t>research</a:t>
            </a:r>
            <a:r>
              <a:rPr dirty="0" sz="1200" spc="-3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3203C"/>
                </a:solidFill>
                <a:latin typeface="Calibri"/>
                <a:cs typeface="Calibri"/>
              </a:rPr>
              <a:t>prototype.</a:t>
            </a:r>
            <a:r>
              <a:rPr dirty="0" sz="1200" spc="-5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3203C"/>
                </a:solidFill>
                <a:latin typeface="Calibri"/>
                <a:cs typeface="Calibri"/>
              </a:rPr>
              <a:t>Dataset</a:t>
            </a:r>
            <a:r>
              <a:rPr dirty="0" sz="12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3203C"/>
                </a:solidFill>
                <a:latin typeface="Calibri"/>
                <a:cs typeface="Calibri"/>
              </a:rPr>
              <a:t>matches</a:t>
            </a:r>
            <a:r>
              <a:rPr dirty="0" sz="1200" spc="-2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3203C"/>
                </a:solidFill>
                <a:latin typeface="Calibri"/>
                <a:cs typeface="Calibri"/>
              </a:rPr>
              <a:t>Kaggle</a:t>
            </a:r>
            <a:r>
              <a:rPr dirty="0" sz="12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3203C"/>
                </a:solidFill>
                <a:latin typeface="Calibri"/>
                <a:cs typeface="Calibri"/>
              </a:rPr>
              <a:t>v2;</a:t>
            </a:r>
            <a:r>
              <a:rPr dirty="0" sz="1200" spc="-1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3203C"/>
                </a:solidFill>
                <a:latin typeface="Calibri"/>
                <a:cs typeface="Calibri"/>
              </a:rPr>
              <a:t>download </a:t>
            </a:r>
            <a:r>
              <a:rPr dirty="0" sz="1200">
                <a:solidFill>
                  <a:srgbClr val="13203C"/>
                </a:solidFill>
                <a:latin typeface="Calibri"/>
                <a:cs typeface="Calibri"/>
              </a:rPr>
              <a:t>record</a:t>
            </a:r>
            <a:r>
              <a:rPr dirty="0" sz="12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3203C"/>
                </a:solidFill>
                <a:latin typeface="Calibri"/>
                <a:cs typeface="Calibri"/>
              </a:rPr>
              <a:t>unverified;</a:t>
            </a:r>
            <a:r>
              <a:rPr dirty="0" sz="1200" spc="-3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3203C"/>
                </a:solidFill>
                <a:latin typeface="Calibri"/>
                <a:cs typeface="Calibri"/>
              </a:rPr>
              <a:t>not</a:t>
            </a:r>
            <a:r>
              <a:rPr dirty="0" sz="1200" spc="-2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3203C"/>
                </a:solidFill>
                <a:latin typeface="Calibri"/>
                <a:cs typeface="Calibri"/>
              </a:rPr>
              <a:t>redistributed.</a:t>
            </a:r>
            <a:r>
              <a:rPr dirty="0" sz="1200" spc="-40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3203C"/>
                </a:solidFill>
                <a:latin typeface="Calibri"/>
                <a:cs typeface="Calibri"/>
              </a:rPr>
              <a:t>Not</a:t>
            </a:r>
            <a:r>
              <a:rPr dirty="0" sz="1200" spc="-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3203C"/>
                </a:solidFill>
                <a:latin typeface="Calibri"/>
                <a:cs typeface="Calibri"/>
              </a:rPr>
              <a:t>a</a:t>
            </a:r>
            <a:r>
              <a:rPr dirty="0" sz="1200" spc="-5">
                <a:solidFill>
                  <a:srgbClr val="13203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3203C"/>
                </a:solidFill>
                <a:latin typeface="Calibri"/>
                <a:cs typeface="Calibri"/>
              </a:rPr>
              <a:t>medical </a:t>
            </a:r>
            <a:r>
              <a:rPr dirty="0" sz="1200" spc="-10">
                <a:solidFill>
                  <a:srgbClr val="13203C"/>
                </a:solidFill>
                <a:latin typeface="Calibri"/>
                <a:cs typeface="Calibri"/>
              </a:rPr>
              <a:t>device.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 spc="-10"/>
              <a:t>NeuroVision</a:t>
            </a:r>
            <a:r>
              <a:rPr dirty="0" spc="-20"/>
              <a:t> </a:t>
            </a:r>
            <a:r>
              <a:rPr dirty="0"/>
              <a:t>AI</a:t>
            </a:r>
            <a:r>
              <a:rPr dirty="0" spc="195"/>
              <a:t> </a:t>
            </a:r>
            <a:r>
              <a:rPr dirty="0"/>
              <a:t>|</a:t>
            </a:r>
            <a:r>
              <a:rPr dirty="0" spc="200"/>
              <a:t> </a:t>
            </a:r>
            <a:r>
              <a:rPr dirty="0"/>
              <a:t>Brain</a:t>
            </a:r>
            <a:r>
              <a:rPr dirty="0" spc="-15"/>
              <a:t> </a:t>
            </a:r>
            <a:r>
              <a:rPr dirty="0"/>
              <a:t>Tumor</a:t>
            </a:r>
            <a:r>
              <a:rPr dirty="0" spc="-15"/>
              <a:t> </a:t>
            </a:r>
            <a:r>
              <a:rPr dirty="0"/>
              <a:t>MRI</a:t>
            </a:r>
            <a:r>
              <a:rPr dirty="0" spc="-25"/>
              <a:t> </a:t>
            </a:r>
            <a:r>
              <a:rPr dirty="0"/>
              <a:t>Generation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/>
              <a:t>Classification</a:t>
            </a:r>
            <a:r>
              <a:rPr dirty="0" spc="195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Ajai</a:t>
            </a:r>
            <a:r>
              <a:rPr dirty="0" spc="-30"/>
              <a:t> </a:t>
            </a:r>
            <a:r>
              <a:rPr dirty="0"/>
              <a:t>Kumar N</a:t>
            </a:r>
            <a:r>
              <a:rPr dirty="0" spc="-10"/>
              <a:t> </a:t>
            </a:r>
            <a:r>
              <a:rPr dirty="0"/>
              <a:t>(URK23CS5064)</a:t>
            </a:r>
            <a:r>
              <a:rPr dirty="0" spc="245"/>
              <a:t> </a:t>
            </a:r>
            <a:r>
              <a:rPr dirty="0"/>
              <a:t>|</a:t>
            </a:r>
            <a:r>
              <a:rPr dirty="0" spc="204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2026-10-27T06:20:26Z</dcterms:created>
  <dcterms:modified xsi:type="dcterms:W3CDTF">2026-10-27T06:20:26Z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2026-10-27T00:00:00Z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2026-10-27T00:00:00Z</vt:filetime>
  </property>
  <property fmtid="{D5CDD505-2E9C-101B-9397-08002B2CF9AE}" pid="6" name="Producer">
    <vt:lpwstr>www.ilovepdf.com</vt:lpwstr>
  </property>
</Properties>
</file>