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/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xfrm>
            <a:off x="535940" y="198830"/>
            <a:ext cx="7517131" cy="45212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xfrm>
            <a:off x="412750" y="1136650"/>
            <a:ext cx="11336020" cy="36576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535940" y="198830"/>
            <a:ext cx="7517131" cy="45212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idx="1"/>
          </p:nvPr>
        </p:nvSpPr>
        <p:spPr>
          <a:xfrm>
            <a:off x="412750" y="1136650"/>
            <a:ext cx="11336020" cy="36576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xfrm>
            <a:off x="535940" y="198830"/>
            <a:ext cx="7517131" cy="45212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xfrm>
            <a:off x="535940" y="198830"/>
            <a:ext cx="7517131" cy="45212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bg object 17"/>
          <p:cNvSpPr/>
          <p:nvPr/>
        </p:nvSpPr>
        <p:spPr>
          <a:xfrm>
            <a:off x="0" y="-1"/>
            <a:ext cx="12192000" cy="868681"/>
          </a:xfrm>
          <a:prstGeom prst="rect">
            <a:avLst/>
          </a:prstGeom>
          <a:solidFill>
            <a:srgbClr val="1F39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bg object 18"/>
          <p:cNvSpPr/>
          <p:nvPr/>
        </p:nvSpPr>
        <p:spPr>
          <a:xfrm>
            <a:off x="0" y="868680"/>
            <a:ext cx="12192000" cy="45722"/>
          </a:xfrm>
          <a:prstGeom prst="rect">
            <a:avLst/>
          </a:prstGeom>
          <a:solidFill>
            <a:srgbClr val="2A9D8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535940" y="6532194"/>
            <a:ext cx="141437" cy="1370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545F6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9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object 6"/>
          <p:cNvSpPr txBox="1"/>
          <p:nvPr>
            <p:ph type="title"/>
          </p:nvPr>
        </p:nvSpPr>
        <p:spPr>
          <a:xfrm>
            <a:off x="828547" y="920241"/>
            <a:ext cx="10055860" cy="1579881"/>
          </a:xfrm>
          <a:prstGeom prst="rect">
            <a:avLst/>
          </a:prstGeom>
        </p:spPr>
        <p:txBody>
          <a:bodyPr/>
          <a:lstStyle/>
          <a:p>
            <a:pPr marR="5080" indent="12700">
              <a:defRPr sz="3400"/>
            </a:pPr>
            <a:r>
              <a:t>BRAIN</a:t>
            </a:r>
            <a:r>
              <a:rPr spc="-200"/>
              <a:t> </a:t>
            </a:r>
            <a:r>
              <a:t>TUMOR</a:t>
            </a:r>
            <a:r>
              <a:rPr spc="-100"/>
              <a:t> </a:t>
            </a:r>
            <a:r>
              <a:t>MRI</a:t>
            </a:r>
            <a:r>
              <a:rPr spc="-100"/>
              <a:t> </a:t>
            </a:r>
            <a:r>
              <a:t>IMAGE</a:t>
            </a:r>
            <a:r>
              <a:rPr spc="-100"/>
              <a:t> GENERATION AND CLASSIFICATION </a:t>
            </a:r>
            <a:r>
              <a:t>USING</a:t>
            </a:r>
            <a:r>
              <a:rPr spc="-100"/>
              <a:t> </a:t>
            </a:r>
            <a:r>
              <a:t>A</a:t>
            </a:r>
            <a:r>
              <a:rPr spc="-200"/>
              <a:t> </a:t>
            </a:r>
            <a:r>
              <a:t>HYBRID</a:t>
            </a:r>
            <a:r>
              <a:rPr spc="-100"/>
              <a:t> CONDITIONAL WGAN-GP</a:t>
            </a:r>
          </a:p>
        </p:txBody>
      </p:sp>
      <p:sp>
        <p:nvSpPr>
          <p:cNvPr id="69" name="object 7"/>
          <p:cNvSpPr txBox="1"/>
          <p:nvPr/>
        </p:nvSpPr>
        <p:spPr>
          <a:xfrm>
            <a:off x="841421" y="2679411"/>
            <a:ext cx="8201026" cy="238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000">
                <a:solidFill>
                  <a:srgbClr val="CFDDED"/>
                </a:solidFill>
              </a:defRPr>
            </a:pPr>
            <a:r>
              <a:t>NeuroVision</a:t>
            </a:r>
            <a:r>
              <a:rPr spc="-50"/>
              <a:t> </a:t>
            </a:r>
            <a:r>
              <a:t>AI:</a:t>
            </a:r>
            <a:r>
              <a:rPr spc="-60"/>
              <a:t> </a:t>
            </a:r>
            <a:r>
              <a:t>a</a:t>
            </a:r>
            <a:r>
              <a:rPr spc="-50"/>
              <a:t> </a:t>
            </a:r>
            <a:r>
              <a:rPr spc="-9"/>
              <a:t>research</a:t>
            </a:r>
            <a:r>
              <a:rPr spc="-39"/>
              <a:t> </a:t>
            </a:r>
            <a:r>
              <a:t>prototype</a:t>
            </a:r>
            <a:r>
              <a:rPr spc="-60"/>
              <a:t> </a:t>
            </a:r>
            <a:r>
              <a:t>web</a:t>
            </a:r>
            <a:r>
              <a:rPr spc="-65"/>
              <a:t> </a:t>
            </a:r>
            <a:r>
              <a:t>application</a:t>
            </a:r>
            <a:r>
              <a:rPr spc="-50"/>
              <a:t> </a:t>
            </a:r>
            <a:r>
              <a:t>(React</a:t>
            </a:r>
            <a:r>
              <a:rPr spc="-50"/>
              <a:t> </a:t>
            </a:r>
            <a:r>
              <a:t>+</a:t>
            </a:r>
            <a:r>
              <a:rPr spc="-50"/>
              <a:t> </a:t>
            </a:r>
            <a:r>
              <a:rPr spc="-9"/>
              <a:t>FastAPI)</a:t>
            </a:r>
            <a:endParaRPr spc="-9"/>
          </a:p>
          <a:p>
            <a:pPr indent="12700">
              <a:spcBef>
                <a:spcPts val="100"/>
              </a:spcBef>
              <a:defRPr sz="2000">
                <a:solidFill>
                  <a:srgbClr val="CFDDED"/>
                </a:solidFill>
              </a:defRPr>
            </a:pPr>
          </a:p>
          <a:p>
            <a:pPr indent="12700">
              <a:defRPr b="1" sz="2000">
                <a:solidFill>
                  <a:srgbClr val="F1C879"/>
                </a:solidFill>
              </a:defRPr>
            </a:pPr>
            <a:r>
              <a:t>Ajai</a:t>
            </a:r>
            <a:r>
              <a:rPr spc="-30"/>
              <a:t> </a:t>
            </a:r>
            <a:r>
              <a:t>Kumar</a:t>
            </a:r>
            <a:r>
              <a:rPr spc="-30"/>
              <a:t> </a:t>
            </a:r>
            <a:r>
              <a:t>N</a:t>
            </a:r>
            <a:r>
              <a:rPr spc="419"/>
              <a:t> </a:t>
            </a:r>
            <a:r>
              <a:rPr spc="-9"/>
              <a:t>(URK23CS5064)</a:t>
            </a:r>
            <a:endParaRPr spc="-9"/>
          </a:p>
          <a:p>
            <a:pPr indent="12700">
              <a:defRPr b="1" sz="2000">
                <a:solidFill>
                  <a:srgbClr val="F1C879"/>
                </a:solidFill>
              </a:defRPr>
            </a:pPr>
            <a:r>
              <a:rPr spc="-9"/>
              <a:t>Abishek S (URK23CS5004)</a:t>
            </a:r>
            <a:endParaRPr spc="-9"/>
          </a:p>
          <a:p>
            <a:pPr indent="12700">
              <a:defRPr b="1" sz="2000">
                <a:solidFill>
                  <a:srgbClr val="F1C879"/>
                </a:solidFill>
              </a:defRPr>
            </a:pPr>
            <a:r>
              <a:rPr spc="-9"/>
              <a:t>MARIA CLINTON (URK23CS5046)</a:t>
            </a:r>
            <a:endParaRPr spc="-9"/>
          </a:p>
          <a:p>
            <a:pPr indent="12700">
              <a:defRPr b="1" sz="2000">
                <a:solidFill>
                  <a:srgbClr val="F1C879"/>
                </a:solidFill>
              </a:defRPr>
            </a:pPr>
            <a:r>
              <a:rPr spc="-9"/>
              <a:t>Jesvin Gnanaraj  A (URK23CS5001)</a:t>
            </a:r>
          </a:p>
          <a:p>
            <a:pPr indent="12700">
              <a:spcBef>
                <a:spcPts val="300"/>
              </a:spcBef>
              <a:defRPr spc="-50" sz="1600">
                <a:solidFill>
                  <a:srgbClr val="FFFFFF"/>
                </a:solidFill>
              </a:defRPr>
            </a:pPr>
            <a:r>
              <a:t>B.Tech</a:t>
            </a:r>
            <a:r>
              <a:rPr spc="-10"/>
              <a:t> </a:t>
            </a:r>
            <a:r>
              <a:rPr spc="0"/>
              <a:t>Computer</a:t>
            </a:r>
            <a:r>
              <a:rPr spc="-5"/>
              <a:t> </a:t>
            </a:r>
            <a:r>
              <a:rPr spc="0"/>
              <a:t>Science</a:t>
            </a:r>
            <a:r>
              <a:rPr spc="-15"/>
              <a:t> </a:t>
            </a:r>
            <a:r>
              <a:rPr spc="0"/>
              <a:t>and</a:t>
            </a:r>
            <a:r>
              <a:rPr spc="-30"/>
              <a:t> </a:t>
            </a:r>
            <a:r>
              <a:rPr spc="0"/>
              <a:t>Engineering,</a:t>
            </a:r>
            <a:r>
              <a:rPr spc="-10"/>
              <a:t> specialization</a:t>
            </a:r>
            <a:r>
              <a:rPr spc="-40"/>
              <a:t> </a:t>
            </a:r>
            <a:r>
              <a:rPr spc="0"/>
              <a:t>in</a:t>
            </a:r>
            <a:r>
              <a:rPr spc="-30"/>
              <a:t> </a:t>
            </a:r>
            <a:r>
              <a:rPr spc="0"/>
              <a:t>Artificial</a:t>
            </a:r>
            <a:r>
              <a:rPr spc="-40"/>
              <a:t> </a:t>
            </a:r>
            <a:r>
              <a:rPr spc="-10"/>
              <a:t>Intelligence</a:t>
            </a:r>
          </a:p>
          <a:p>
            <a:pPr indent="12700">
              <a:spcBef>
                <a:spcPts val="300"/>
              </a:spcBef>
              <a:defRPr sz="1600">
                <a:solidFill>
                  <a:srgbClr val="FFFFFF"/>
                </a:solidFill>
              </a:defRPr>
            </a:pPr>
            <a:r>
              <a:t>25AI2004</a:t>
            </a:r>
            <a:r>
              <a:rPr spc="5"/>
              <a:t> </a:t>
            </a:r>
            <a:r>
              <a:t>–</a:t>
            </a:r>
            <a:r>
              <a:rPr spc="-20"/>
              <a:t> </a:t>
            </a:r>
            <a:r>
              <a:t>Artificial</a:t>
            </a:r>
            <a:r>
              <a:rPr spc="-65"/>
              <a:t> </a:t>
            </a:r>
            <a:r>
              <a:rPr spc="-10"/>
              <a:t>Intelligence</a:t>
            </a:r>
            <a:r>
              <a:rPr spc="-60"/>
              <a:t> </a:t>
            </a:r>
            <a:r>
              <a:t>in</a:t>
            </a:r>
            <a:r>
              <a:rPr spc="-30"/>
              <a:t> </a:t>
            </a:r>
            <a:r>
              <a:t>Healthcare</a:t>
            </a:r>
            <a:r>
              <a:rPr spc="305"/>
              <a:t> </a:t>
            </a:r>
            <a:r>
              <a:t>|</a:t>
            </a:r>
            <a:r>
              <a:rPr spc="310"/>
              <a:t> </a:t>
            </a:r>
            <a:r>
              <a:t>Micro</a:t>
            </a:r>
            <a:r>
              <a:rPr spc="-25"/>
              <a:t> </a:t>
            </a:r>
            <a:r>
              <a:t>project</a:t>
            </a:r>
            <a:r>
              <a:rPr spc="-10"/>
              <a:t> presentation,</a:t>
            </a:r>
            <a:r>
              <a:rPr spc="15"/>
              <a:t> </a:t>
            </a:r>
            <a:r>
              <a:t>29/10/26</a:t>
            </a:r>
            <a:r>
              <a:rPr spc="5"/>
              <a:t> </a:t>
            </a:r>
            <a:r>
              <a:rPr spc="-10"/>
              <a:t>(scheduled)</a:t>
            </a:r>
          </a:p>
        </p:txBody>
      </p:sp>
      <p:grpSp>
        <p:nvGrpSpPr>
          <p:cNvPr id="72" name="object 3"/>
          <p:cNvGrpSpPr/>
          <p:nvPr/>
        </p:nvGrpSpPr>
        <p:grpSpPr>
          <a:xfrm>
            <a:off x="-1" y="5430053"/>
            <a:ext cx="12192001" cy="130188"/>
            <a:chOff x="0" y="0"/>
            <a:chExt cx="12192000" cy="130187"/>
          </a:xfrm>
        </p:grpSpPr>
        <p:pic>
          <p:nvPicPr>
            <p:cNvPr id="70" name="object 4" descr="object 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1301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1" name="object 5"/>
            <p:cNvSpPr/>
            <p:nvPr/>
          </p:nvSpPr>
          <p:spPr>
            <a:xfrm>
              <a:off x="0" y="19824"/>
              <a:ext cx="12192000" cy="54864"/>
            </a:xfrm>
            <a:prstGeom prst="rect">
              <a:avLst/>
            </a:prstGeom>
            <a:solidFill>
              <a:srgbClr val="2A9D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73" name="object 8"/>
          <p:cNvSpPr txBox="1"/>
          <p:nvPr/>
        </p:nvSpPr>
        <p:spPr>
          <a:xfrm>
            <a:off x="815672" y="5636371"/>
            <a:ext cx="7212331" cy="7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400"/>
              </a:spcBef>
              <a:defRPr b="1" spc="-10" sz="1600">
                <a:solidFill>
                  <a:srgbClr val="FFFFFF"/>
                </a:solidFill>
              </a:defRPr>
            </a:pPr>
            <a:r>
              <a:t>Karunya</a:t>
            </a:r>
            <a:r>
              <a:rPr spc="-20"/>
              <a:t> </a:t>
            </a:r>
            <a:r>
              <a:rPr spc="0"/>
              <a:t>Institute</a:t>
            </a:r>
            <a:r>
              <a:rPr spc="-35"/>
              <a:t> </a:t>
            </a:r>
            <a:r>
              <a:rPr spc="0"/>
              <a:t>of</a:t>
            </a:r>
            <a:r>
              <a:rPr spc="-25"/>
              <a:t> </a:t>
            </a:r>
            <a:r>
              <a:t>Technology</a:t>
            </a:r>
            <a:r>
              <a:rPr spc="-20"/>
              <a:t> </a:t>
            </a:r>
            <a:r>
              <a:rPr spc="0"/>
              <a:t>and</a:t>
            </a:r>
            <a:r>
              <a:rPr spc="-30"/>
              <a:t> </a:t>
            </a:r>
            <a:r>
              <a:rPr spc="0"/>
              <a:t>Sciences</a:t>
            </a:r>
            <a:r>
              <a:rPr spc="-25"/>
              <a:t> </a:t>
            </a:r>
            <a:r>
              <a:t>(Deemed-to-be-University),</a:t>
            </a:r>
            <a:r>
              <a:rPr spc="-15"/>
              <a:t> </a:t>
            </a:r>
            <a:r>
              <a:t>Coimbatore</a:t>
            </a:r>
          </a:p>
          <a:p>
            <a:pPr indent="12700">
              <a:spcBef>
                <a:spcPts val="300"/>
              </a:spcBef>
              <a:defRPr sz="1400">
                <a:solidFill>
                  <a:srgbClr val="CFDDED"/>
                </a:solidFill>
              </a:defRPr>
            </a:pPr>
            <a:r>
              <a:t>Course</a:t>
            </a:r>
            <a:r>
              <a:rPr spc="-65"/>
              <a:t> </a:t>
            </a:r>
            <a:r>
              <a:t>faculty:</a:t>
            </a:r>
            <a:r>
              <a:rPr spc="-30"/>
              <a:t> </a:t>
            </a:r>
            <a:r>
              <a:t>Ms.</a:t>
            </a:r>
            <a:r>
              <a:rPr spc="-40"/>
              <a:t> </a:t>
            </a:r>
            <a:r>
              <a:t>Gethsia</a:t>
            </a:r>
            <a:r>
              <a:rPr spc="-15"/>
              <a:t> </a:t>
            </a:r>
            <a:r>
              <a:rPr spc="-94"/>
              <a:t>P,</a:t>
            </a:r>
            <a:r>
              <a:rPr spc="-10"/>
              <a:t> </a:t>
            </a:r>
            <a:r>
              <a:t>Division</a:t>
            </a:r>
            <a:r>
              <a:rPr spc="-45"/>
              <a:t> </a:t>
            </a:r>
            <a:r>
              <a:t>of</a:t>
            </a:r>
            <a:r>
              <a:rPr spc="-40"/>
              <a:t> </a:t>
            </a:r>
            <a:r>
              <a:t>Artificial</a:t>
            </a:r>
            <a:r>
              <a:rPr spc="-35"/>
              <a:t> </a:t>
            </a:r>
            <a:r>
              <a:rPr spc="-10"/>
              <a:t>Intelligence</a:t>
            </a:r>
            <a:r>
              <a:rPr spc="-5"/>
              <a:t> </a:t>
            </a:r>
            <a:r>
              <a:t>and</a:t>
            </a:r>
            <a:r>
              <a:rPr spc="-30"/>
              <a:t> </a:t>
            </a:r>
            <a:r>
              <a:t>Machine</a:t>
            </a:r>
            <a:r>
              <a:rPr spc="-25"/>
              <a:t> </a:t>
            </a:r>
            <a:r>
              <a:rPr spc="-10"/>
              <a:t>Learning</a:t>
            </a:r>
          </a:p>
          <a:p>
            <a:pPr indent="12700">
              <a:spcBef>
                <a:spcPts val="300"/>
              </a:spcBef>
              <a:defRPr sz="1300">
                <a:solidFill>
                  <a:srgbClr val="F1C879"/>
                </a:solidFill>
              </a:defRPr>
            </a:pPr>
            <a:r>
              <a:t>Academic</a:t>
            </a:r>
            <a:r>
              <a:rPr spc="-25"/>
              <a:t> </a:t>
            </a:r>
            <a:r>
              <a:t>research</a:t>
            </a:r>
            <a:r>
              <a:rPr spc="-30"/>
              <a:t> </a:t>
            </a:r>
            <a:r>
              <a:t>prototype –</a:t>
            </a:r>
            <a:r>
              <a:rPr spc="-25"/>
              <a:t> </a:t>
            </a:r>
            <a:r>
              <a:t>not</a:t>
            </a:r>
            <a:r>
              <a:rPr spc="-30"/>
              <a:t> </a:t>
            </a:r>
            <a:r>
              <a:t>a</a:t>
            </a:r>
            <a:r>
              <a:rPr spc="-35"/>
              <a:t> </a:t>
            </a:r>
            <a:r>
              <a:t>medical</a:t>
            </a:r>
            <a:r>
              <a:rPr spc="-20"/>
              <a:t> </a:t>
            </a:r>
            <a:r>
              <a:t>device</a:t>
            </a:r>
            <a:r>
              <a:rPr spc="-25"/>
              <a:t> </a:t>
            </a:r>
            <a:r>
              <a:t>or</a:t>
            </a:r>
            <a:r>
              <a:rPr spc="-45"/>
              <a:t> </a:t>
            </a:r>
            <a:r>
              <a:t>a</a:t>
            </a:r>
            <a:r>
              <a:rPr spc="-35"/>
              <a:t> </a:t>
            </a:r>
            <a:r>
              <a:t>clinically</a:t>
            </a:r>
            <a:r>
              <a:rPr spc="-35"/>
              <a:t> </a:t>
            </a:r>
            <a:r>
              <a:rPr spc="-10"/>
              <a:t>validated</a:t>
            </a:r>
            <a:r>
              <a:rPr spc="-15"/>
              <a:t> </a:t>
            </a:r>
            <a:r>
              <a:t>diagnostic</a:t>
            </a:r>
            <a:r>
              <a:rPr spc="-10"/>
              <a:t>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>
              <a:defRPr spc="-100"/>
            </a:pPr>
            <a:r>
              <a:t>Healthcare </a:t>
            </a:r>
            <a:r>
              <a:rPr spc="0"/>
              <a:t>problem</a:t>
            </a:r>
            <a:r>
              <a:t> </a:t>
            </a:r>
            <a:r>
              <a:rPr spc="0"/>
              <a:t>and</a:t>
            </a:r>
            <a:r>
              <a:t> motivation</a:t>
            </a:r>
          </a:p>
        </p:txBody>
      </p:sp>
      <p:sp>
        <p:nvSpPr>
          <p:cNvPr id="76" name="object 3"/>
          <p:cNvSpPr txBox="1"/>
          <p:nvPr/>
        </p:nvSpPr>
        <p:spPr>
          <a:xfrm>
            <a:off x="554226" y="1182877"/>
            <a:ext cx="6549392" cy="3619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33045" marR="492759" indent="-220345">
              <a:spcBef>
                <a:spcPts val="100"/>
              </a:spcBef>
              <a:buSzPct val="100000"/>
              <a:buChar char="•"/>
              <a:tabLst>
                <a:tab pos="228600" algn="l"/>
              </a:tabLst>
              <a:defRPr>
                <a:solidFill>
                  <a:srgbClr val="13203C"/>
                </a:solidFill>
              </a:defRPr>
            </a:pPr>
            <a:r>
              <a:t>Brain</a:t>
            </a:r>
            <a:r>
              <a:rPr spc="-75"/>
              <a:t> </a:t>
            </a:r>
            <a:r>
              <a:t>tumour</a:t>
            </a:r>
            <a:r>
              <a:rPr spc="-55"/>
              <a:t> </a:t>
            </a:r>
            <a:r>
              <a:t>MRI</a:t>
            </a:r>
            <a:r>
              <a:rPr spc="-69"/>
              <a:t> </a:t>
            </a:r>
            <a:r>
              <a:t>classification</a:t>
            </a:r>
            <a:r>
              <a:rPr spc="-60"/>
              <a:t> </a:t>
            </a:r>
            <a:r>
              <a:t>(glioma,</a:t>
            </a:r>
            <a:r>
              <a:rPr spc="-50"/>
              <a:t> </a:t>
            </a:r>
            <a:r>
              <a:t>meningioma,</a:t>
            </a:r>
            <a:r>
              <a:rPr spc="-60"/>
              <a:t> </a:t>
            </a:r>
            <a:r>
              <a:rPr spc="-10"/>
              <a:t>pituitary </a:t>
            </a:r>
            <a:r>
              <a:rPr spc="-25"/>
              <a:t>tumour,</a:t>
            </a:r>
            <a:r>
              <a:rPr spc="-55"/>
              <a:t> </a:t>
            </a:r>
            <a:r>
              <a:t>no</a:t>
            </a:r>
            <a:r>
              <a:rPr spc="-55"/>
              <a:t> </a:t>
            </a:r>
            <a:r>
              <a:t>tumour)</a:t>
            </a:r>
            <a:r>
              <a:rPr spc="-45"/>
              <a:t> </a:t>
            </a:r>
            <a:r>
              <a:t>needs</a:t>
            </a:r>
            <a:r>
              <a:rPr spc="-60"/>
              <a:t> </a:t>
            </a:r>
            <a:r>
              <a:t>many</a:t>
            </a:r>
            <a:r>
              <a:rPr spc="-55"/>
              <a:t> </a:t>
            </a:r>
            <a:r>
              <a:t>correctly</a:t>
            </a:r>
            <a:r>
              <a:rPr spc="-45"/>
              <a:t> </a:t>
            </a:r>
            <a:r>
              <a:t>labelled</a:t>
            </a:r>
            <a:r>
              <a:rPr spc="-45"/>
              <a:t> </a:t>
            </a:r>
            <a:r>
              <a:rPr spc="-10"/>
              <a:t>images.</a:t>
            </a:r>
            <a:endParaRPr spc="-10"/>
          </a:p>
          <a:p>
            <a:pPr marL="233045" marR="751205" indent="-220345">
              <a:spcBef>
                <a:spcPts val="900"/>
              </a:spcBef>
              <a:buSzPct val="100000"/>
              <a:buChar char="•"/>
              <a:tabLst>
                <a:tab pos="228600" algn="l"/>
              </a:tabLst>
              <a:defRPr>
                <a:solidFill>
                  <a:srgbClr val="13203C"/>
                </a:solidFill>
              </a:defRPr>
            </a:pPr>
            <a:r>
              <a:t>Medical</a:t>
            </a:r>
            <a:r>
              <a:rPr spc="-60"/>
              <a:t> </a:t>
            </a:r>
            <a:r>
              <a:t>data</a:t>
            </a:r>
            <a:r>
              <a:rPr spc="-65"/>
              <a:t> </a:t>
            </a:r>
            <a:r>
              <a:t>are</a:t>
            </a:r>
            <a:r>
              <a:rPr spc="-45"/>
              <a:t> </a:t>
            </a:r>
            <a:r>
              <a:t>scarce,</a:t>
            </a:r>
            <a:r>
              <a:rPr spc="-60"/>
              <a:t> </a:t>
            </a:r>
            <a:r>
              <a:t>imbalanced,</a:t>
            </a:r>
            <a:r>
              <a:rPr spc="-45"/>
              <a:t> </a:t>
            </a:r>
            <a:r>
              <a:t>expensive</a:t>
            </a:r>
            <a:r>
              <a:rPr spc="-69"/>
              <a:t> </a:t>
            </a:r>
            <a:r>
              <a:t>to</a:t>
            </a:r>
            <a:r>
              <a:rPr spc="-65"/>
              <a:t> </a:t>
            </a:r>
            <a:r>
              <a:t>label</a:t>
            </a:r>
            <a:r>
              <a:rPr spc="-60"/>
              <a:t> </a:t>
            </a:r>
            <a:r>
              <a:rPr spc="-25"/>
              <a:t>and </a:t>
            </a:r>
            <a:r>
              <a:rPr spc="-10"/>
              <a:t>protected</a:t>
            </a:r>
            <a:r>
              <a:rPr spc="-20"/>
              <a:t> </a:t>
            </a:r>
            <a:r>
              <a:t>by</a:t>
            </a:r>
            <a:r>
              <a:rPr spc="-40"/>
              <a:t> </a:t>
            </a:r>
            <a:r>
              <a:t>privacy</a:t>
            </a:r>
            <a:r>
              <a:rPr spc="-40"/>
              <a:t> </a:t>
            </a:r>
            <a:r>
              <a:rPr spc="-10"/>
              <a:t>rules.</a:t>
            </a:r>
            <a:endParaRPr spc="-10"/>
          </a:p>
          <a:p>
            <a:pPr marL="233045" marR="24129" indent="-220345">
              <a:spcBef>
                <a:spcPts val="900"/>
              </a:spcBef>
              <a:buSzPct val="100000"/>
              <a:buChar char="•"/>
              <a:tabLst>
                <a:tab pos="228600" algn="l"/>
              </a:tabLst>
              <a:defRPr>
                <a:solidFill>
                  <a:srgbClr val="13203C"/>
                </a:solidFill>
              </a:defRPr>
            </a:pPr>
            <a:r>
              <a:t>GANs</a:t>
            </a:r>
            <a:r>
              <a:rPr spc="-65"/>
              <a:t> </a:t>
            </a:r>
            <a:r>
              <a:t>can</a:t>
            </a:r>
            <a:r>
              <a:rPr spc="-55"/>
              <a:t> </a:t>
            </a:r>
            <a:r>
              <a:rPr spc="-10"/>
              <a:t>synthesise</a:t>
            </a:r>
            <a:r>
              <a:rPr spc="-60"/>
              <a:t> </a:t>
            </a:r>
            <a:r>
              <a:t>extra</a:t>
            </a:r>
            <a:r>
              <a:rPr spc="-60"/>
              <a:t> </a:t>
            </a:r>
            <a:r>
              <a:t>training</a:t>
            </a:r>
            <a:r>
              <a:rPr spc="-40"/>
              <a:t> </a:t>
            </a:r>
            <a:r>
              <a:t>images</a:t>
            </a:r>
            <a:r>
              <a:rPr spc="-60"/>
              <a:t> </a:t>
            </a:r>
            <a:r>
              <a:t>(data</a:t>
            </a:r>
            <a:r>
              <a:rPr spc="-60"/>
              <a:t> </a:t>
            </a:r>
            <a:r>
              <a:rPr spc="-10"/>
              <a:t>augmentation),</a:t>
            </a:r>
            <a:r>
              <a:rPr spc="-40"/>
              <a:t> </a:t>
            </a:r>
            <a:r>
              <a:rPr spc="-25"/>
              <a:t>but </a:t>
            </a:r>
            <a:r>
              <a:rPr spc="-10"/>
              <a:t>generated</a:t>
            </a:r>
            <a:r>
              <a:rPr spc="-45"/>
              <a:t> </a:t>
            </a:r>
            <a:r>
              <a:t>images</a:t>
            </a:r>
            <a:r>
              <a:rPr spc="-40"/>
              <a:t> </a:t>
            </a:r>
            <a:r>
              <a:t>may</a:t>
            </a:r>
            <a:r>
              <a:rPr spc="-60"/>
              <a:t> </a:t>
            </a:r>
            <a:r>
              <a:t>only</a:t>
            </a:r>
            <a:r>
              <a:rPr spc="-40"/>
              <a:t> </a:t>
            </a:r>
            <a:r>
              <a:t>look</a:t>
            </a:r>
            <a:r>
              <a:rPr spc="-40"/>
              <a:t> </a:t>
            </a:r>
            <a:r>
              <a:t>like</a:t>
            </a:r>
            <a:r>
              <a:rPr spc="-30"/>
              <a:t> </a:t>
            </a:r>
            <a:r>
              <a:t>MRI</a:t>
            </a:r>
            <a:r>
              <a:rPr spc="-45"/>
              <a:t> </a:t>
            </a:r>
            <a:r>
              <a:t>without</a:t>
            </a:r>
            <a:r>
              <a:rPr spc="-25"/>
              <a:t> </a:t>
            </a:r>
            <a:r>
              <a:t>real</a:t>
            </a:r>
            <a:r>
              <a:rPr spc="-40"/>
              <a:t> </a:t>
            </a:r>
            <a:r>
              <a:rPr spc="-20"/>
              <a:t>pathology,</a:t>
            </a:r>
            <a:r>
              <a:rPr spc="-40"/>
              <a:t> </a:t>
            </a:r>
            <a:r>
              <a:rPr spc="-25"/>
              <a:t>and </a:t>
            </a:r>
            <a:r>
              <a:t>the</a:t>
            </a:r>
            <a:r>
              <a:rPr spc="-10"/>
              <a:t> requested </a:t>
            </a:r>
            <a:r>
              <a:t>label</a:t>
            </a:r>
            <a:r>
              <a:rPr spc="-20"/>
              <a:t> </a:t>
            </a:r>
            <a:r>
              <a:t>is</a:t>
            </a:r>
            <a:r>
              <a:rPr spc="-20"/>
              <a:t> </a:t>
            </a:r>
            <a:r>
              <a:t>not</a:t>
            </a:r>
            <a:r>
              <a:rPr spc="-15"/>
              <a:t> </a:t>
            </a:r>
            <a:r>
              <a:t>a</a:t>
            </a:r>
            <a:r>
              <a:rPr spc="-30"/>
              <a:t> </a:t>
            </a:r>
            <a:r>
              <a:rPr spc="-10"/>
              <a:t>diagnosis.</a:t>
            </a:r>
            <a:endParaRPr spc="-10"/>
          </a:p>
          <a:p>
            <a:pPr marL="233045" indent="-220345">
              <a:spcBef>
                <a:spcPts val="900"/>
              </a:spcBef>
              <a:buSzPct val="100000"/>
              <a:buChar char="•"/>
              <a:tabLst>
                <a:tab pos="228600" algn="l"/>
              </a:tabLst>
              <a:defRPr spc="-10">
                <a:solidFill>
                  <a:srgbClr val="13203C"/>
                </a:solidFill>
              </a:defRPr>
            </a:pPr>
            <a:r>
              <a:t>Evaluation</a:t>
            </a:r>
            <a:r>
              <a:rPr spc="-60"/>
              <a:t> </a:t>
            </a:r>
            <a:r>
              <a:rPr spc="0"/>
              <a:t>is</a:t>
            </a:r>
            <a:r>
              <a:rPr spc="-50"/>
              <a:t> </a:t>
            </a:r>
            <a:r>
              <a:rPr spc="0"/>
              <a:t>fragile:</a:t>
            </a:r>
            <a:r>
              <a:rPr spc="-40"/>
              <a:t> </a:t>
            </a:r>
            <a:r>
              <a:rPr spc="0"/>
              <a:t>copies,</a:t>
            </a:r>
            <a:r>
              <a:rPr spc="-55"/>
              <a:t> </a:t>
            </a:r>
            <a:r>
              <a:rPr spc="0"/>
              <a:t>mirrored</a:t>
            </a:r>
            <a:r>
              <a:rPr spc="-40"/>
              <a:t> </a:t>
            </a:r>
            <a:r>
              <a:rPr spc="0"/>
              <a:t>or</a:t>
            </a:r>
            <a:r>
              <a:rPr spc="-50"/>
              <a:t> </a:t>
            </a:r>
            <a:r>
              <a:t>re-</a:t>
            </a:r>
            <a:r>
              <a:rPr spc="0"/>
              <a:t>encoded</a:t>
            </a:r>
            <a:r>
              <a:rPr spc="-45"/>
              <a:t> </a:t>
            </a:r>
            <a:r>
              <a:rPr spc="0"/>
              <a:t>slices</a:t>
            </a:r>
            <a:r>
              <a:rPr spc="-50"/>
              <a:t> </a:t>
            </a:r>
            <a:r>
              <a:rPr spc="0"/>
              <a:t>shared</a:t>
            </a:r>
            <a:r>
              <a:rPr spc="-55"/>
              <a:t> </a:t>
            </a:r>
            <a:r>
              <a:rPr spc="-25"/>
              <a:t>by</a:t>
            </a:r>
            <a:endParaRPr spc="-25"/>
          </a:p>
          <a:p>
            <a:pPr indent="12700">
              <a:defRPr>
                <a:solidFill>
                  <a:srgbClr val="13203C"/>
                </a:solidFill>
              </a:defRPr>
            </a:pPr>
            <a:r>
              <a:t>training</a:t>
            </a:r>
            <a:r>
              <a:rPr spc="-60"/>
              <a:t> </a:t>
            </a:r>
            <a:r>
              <a:t>and</a:t>
            </a:r>
            <a:r>
              <a:rPr spc="-55"/>
              <a:t> </a:t>
            </a:r>
            <a:r>
              <a:t>test</a:t>
            </a:r>
            <a:r>
              <a:rPr spc="-75"/>
              <a:t> </a:t>
            </a:r>
            <a:r>
              <a:t>data</a:t>
            </a:r>
            <a:r>
              <a:rPr spc="-69"/>
              <a:t> </a:t>
            </a:r>
            <a:r>
              <a:t>inflate</a:t>
            </a:r>
            <a:r>
              <a:rPr spc="-60"/>
              <a:t> </a:t>
            </a:r>
            <a:r>
              <a:t>every</a:t>
            </a:r>
            <a:r>
              <a:rPr spc="-65"/>
              <a:t> </a:t>
            </a:r>
            <a:r>
              <a:rPr spc="-10"/>
              <a:t>score.</a:t>
            </a:r>
            <a:endParaRPr spc="-10"/>
          </a:p>
          <a:p>
            <a:pPr marL="233045" marR="71755" indent="-220345">
              <a:spcBef>
                <a:spcPts val="900"/>
              </a:spcBef>
              <a:buSzPct val="100000"/>
              <a:buChar char="•"/>
              <a:tabLst>
                <a:tab pos="228600" algn="l"/>
              </a:tabLst>
              <a:defRPr>
                <a:solidFill>
                  <a:srgbClr val="13203C"/>
                </a:solidFill>
              </a:defRPr>
            </a:pPr>
            <a:r>
              <a:t>This</a:t>
            </a:r>
            <a:r>
              <a:rPr spc="-60"/>
              <a:t> </a:t>
            </a:r>
            <a:r>
              <a:t>project</a:t>
            </a:r>
            <a:r>
              <a:rPr spc="-55"/>
              <a:t> </a:t>
            </a:r>
            <a:r>
              <a:t>found</a:t>
            </a:r>
            <a:r>
              <a:rPr spc="-40"/>
              <a:t> </a:t>
            </a:r>
            <a:r>
              <a:t>exactly</a:t>
            </a:r>
            <a:r>
              <a:rPr spc="-55"/>
              <a:t> </a:t>
            </a:r>
            <a:r>
              <a:t>that</a:t>
            </a:r>
            <a:r>
              <a:rPr spc="-45"/>
              <a:t> </a:t>
            </a:r>
            <a:r>
              <a:t>in</a:t>
            </a:r>
            <a:r>
              <a:rPr spc="-60"/>
              <a:t> </a:t>
            </a:r>
            <a:r>
              <a:t>its</a:t>
            </a:r>
            <a:r>
              <a:rPr spc="-40"/>
              <a:t> </a:t>
            </a:r>
            <a:r>
              <a:t>starting</a:t>
            </a:r>
            <a:r>
              <a:rPr spc="-50"/>
              <a:t> </a:t>
            </a:r>
            <a:r>
              <a:t>dataset</a:t>
            </a:r>
            <a:r>
              <a:rPr spc="-55"/>
              <a:t> </a:t>
            </a:r>
            <a:r>
              <a:t>and</a:t>
            </a:r>
            <a:r>
              <a:rPr spc="-55"/>
              <a:t> </a:t>
            </a:r>
            <a:r>
              <a:t>rebuilt</a:t>
            </a:r>
            <a:r>
              <a:rPr spc="-40"/>
              <a:t> </a:t>
            </a:r>
            <a:r>
              <a:rPr spc="-25"/>
              <a:t>the </a:t>
            </a:r>
            <a:r>
              <a:rPr spc="-10"/>
              <a:t>experiments</a:t>
            </a:r>
            <a:r>
              <a:rPr spc="-25"/>
              <a:t> </a:t>
            </a:r>
            <a:r>
              <a:t>on</a:t>
            </a:r>
            <a:r>
              <a:rPr spc="-10"/>
              <a:t> </a:t>
            </a:r>
            <a:r>
              <a:t>a</a:t>
            </a:r>
            <a:r>
              <a:rPr spc="-20"/>
              <a:t> </a:t>
            </a:r>
            <a:r>
              <a:rPr spc="-10"/>
              <a:t>leakage-controlled</a:t>
            </a:r>
            <a:r>
              <a:t> </a:t>
            </a:r>
            <a:r>
              <a:rPr spc="-10"/>
              <a:t>split.</a:t>
            </a:r>
          </a:p>
        </p:txBody>
      </p:sp>
      <p:grpSp>
        <p:nvGrpSpPr>
          <p:cNvPr id="79" name="object 4"/>
          <p:cNvGrpSpPr/>
          <p:nvPr/>
        </p:nvGrpSpPr>
        <p:grpSpPr>
          <a:xfrm>
            <a:off x="7498840" y="1235201"/>
            <a:ext cx="4251962" cy="2331722"/>
            <a:chOff x="0" y="0"/>
            <a:chExt cx="4251960" cy="2331720"/>
          </a:xfrm>
        </p:grpSpPr>
        <p:sp>
          <p:nvSpPr>
            <p:cNvPr id="77" name="object 5"/>
            <p:cNvSpPr/>
            <p:nvPr/>
          </p:nvSpPr>
          <p:spPr>
            <a:xfrm>
              <a:off x="0" y="0"/>
              <a:ext cx="4251961" cy="2331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126" y="0"/>
                  </a:moveTo>
                  <a:lnTo>
                    <a:pt x="474" y="0"/>
                  </a:lnTo>
                  <a:lnTo>
                    <a:pt x="289" y="68"/>
                  </a:lnTo>
                  <a:lnTo>
                    <a:pt x="139" y="253"/>
                  </a:lnTo>
                  <a:lnTo>
                    <a:pt x="37" y="528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37" y="21072"/>
                  </a:lnTo>
                  <a:lnTo>
                    <a:pt x="139" y="21347"/>
                  </a:lnTo>
                  <a:lnTo>
                    <a:pt x="289" y="21532"/>
                  </a:lnTo>
                  <a:lnTo>
                    <a:pt x="474" y="21600"/>
                  </a:lnTo>
                  <a:lnTo>
                    <a:pt x="21126" y="21600"/>
                  </a:lnTo>
                  <a:lnTo>
                    <a:pt x="21311" y="21532"/>
                  </a:lnTo>
                  <a:lnTo>
                    <a:pt x="21461" y="21347"/>
                  </a:lnTo>
                  <a:lnTo>
                    <a:pt x="21563" y="21072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63" y="528"/>
                  </a:lnTo>
                  <a:lnTo>
                    <a:pt x="21461" y="253"/>
                  </a:lnTo>
                  <a:lnTo>
                    <a:pt x="21311" y="68"/>
                  </a:lnTo>
                  <a:lnTo>
                    <a:pt x="21126" y="0"/>
                  </a:lnTo>
                  <a:close/>
                </a:path>
              </a:pathLst>
            </a:custGeom>
            <a:solidFill>
              <a:srgbClr val="E3F1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object 6"/>
            <p:cNvSpPr/>
            <p:nvPr/>
          </p:nvSpPr>
          <p:spPr>
            <a:xfrm>
              <a:off x="0" y="0"/>
              <a:ext cx="4251961" cy="2331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37" y="528"/>
                  </a:lnTo>
                  <a:lnTo>
                    <a:pt x="139" y="253"/>
                  </a:lnTo>
                  <a:lnTo>
                    <a:pt x="289" y="68"/>
                  </a:lnTo>
                  <a:lnTo>
                    <a:pt x="474" y="0"/>
                  </a:lnTo>
                  <a:lnTo>
                    <a:pt x="21126" y="0"/>
                  </a:lnTo>
                  <a:lnTo>
                    <a:pt x="21311" y="68"/>
                  </a:lnTo>
                  <a:lnTo>
                    <a:pt x="21461" y="253"/>
                  </a:lnTo>
                  <a:lnTo>
                    <a:pt x="21563" y="528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63" y="21072"/>
                  </a:lnTo>
                  <a:lnTo>
                    <a:pt x="21461" y="21347"/>
                  </a:lnTo>
                  <a:lnTo>
                    <a:pt x="21311" y="21532"/>
                  </a:lnTo>
                  <a:lnTo>
                    <a:pt x="21126" y="21600"/>
                  </a:lnTo>
                  <a:lnTo>
                    <a:pt x="474" y="21600"/>
                  </a:lnTo>
                  <a:lnTo>
                    <a:pt x="289" y="21532"/>
                  </a:lnTo>
                  <a:lnTo>
                    <a:pt x="139" y="21347"/>
                  </a:lnTo>
                  <a:lnTo>
                    <a:pt x="37" y="21072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2A9D8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0" name="object 7"/>
          <p:cNvSpPr txBox="1"/>
          <p:nvPr/>
        </p:nvSpPr>
        <p:spPr>
          <a:xfrm>
            <a:off x="7623429" y="1304682"/>
            <a:ext cx="3950971" cy="1472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z="1500">
                <a:solidFill>
                  <a:srgbClr val="13203C"/>
                </a:solidFill>
              </a:defRPr>
            </a:pPr>
            <a:r>
              <a:t>What</a:t>
            </a:r>
            <a:r>
              <a:rPr spc="-30"/>
              <a:t> </a:t>
            </a:r>
            <a:r>
              <a:t>we</a:t>
            </a:r>
            <a:r>
              <a:rPr spc="-25"/>
              <a:t> </a:t>
            </a:r>
            <a:r>
              <a:t>found</a:t>
            </a:r>
            <a:r>
              <a:rPr spc="-40"/>
              <a:t> </a:t>
            </a:r>
            <a:r>
              <a:t>in</a:t>
            </a:r>
            <a:r>
              <a:rPr spc="-35"/>
              <a:t> </a:t>
            </a:r>
            <a:r>
              <a:t>the</a:t>
            </a:r>
            <a:r>
              <a:rPr spc="-30"/>
              <a:t> </a:t>
            </a:r>
            <a:r>
              <a:rPr spc="-20"/>
              <a:t>data</a:t>
            </a:r>
          </a:p>
          <a:p>
            <a:pPr marR="348615"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1,076</a:t>
            </a:r>
            <a:r>
              <a:rPr spc="-20"/>
              <a:t> </a:t>
            </a:r>
            <a:r>
              <a:t>of</a:t>
            </a:r>
            <a:r>
              <a:rPr spc="-45"/>
              <a:t> </a:t>
            </a:r>
            <a:r>
              <a:t>1,600</a:t>
            </a:r>
            <a:r>
              <a:rPr spc="-35"/>
              <a:t> </a:t>
            </a:r>
            <a:r>
              <a:t>original</a:t>
            </a:r>
            <a:r>
              <a:rPr spc="-30"/>
              <a:t> </a:t>
            </a:r>
            <a:r>
              <a:rPr spc="-25"/>
              <a:t>Testing</a:t>
            </a:r>
            <a:r>
              <a:rPr spc="-30"/>
              <a:t> </a:t>
            </a:r>
            <a:r>
              <a:t>images</a:t>
            </a:r>
            <a:r>
              <a:rPr spc="-40"/>
              <a:t> </a:t>
            </a:r>
            <a:r>
              <a:t>had</a:t>
            </a:r>
            <a:r>
              <a:rPr spc="-25"/>
              <a:t> </a:t>
            </a:r>
            <a:r>
              <a:t>a</a:t>
            </a:r>
            <a:r>
              <a:rPr spc="-40"/>
              <a:t> </a:t>
            </a:r>
            <a:r>
              <a:rPr spc="-10"/>
              <a:t>near-</a:t>
            </a:r>
            <a:r>
              <a:t>identical</a:t>
            </a:r>
            <a:r>
              <a:rPr spc="-40"/>
              <a:t> </a:t>
            </a:r>
            <a:r>
              <a:t>copy</a:t>
            </a:r>
            <a:r>
              <a:rPr spc="-45"/>
              <a:t> </a:t>
            </a:r>
            <a:r>
              <a:t>in</a:t>
            </a:r>
            <a:r>
              <a:rPr spc="-55"/>
              <a:t> </a:t>
            </a:r>
            <a:r>
              <a:rPr spc="-10"/>
              <a:t>Training.</a:t>
            </a:r>
          </a:p>
          <a:p>
            <a:pPr marR="5080" indent="12700">
              <a:spcBef>
                <a:spcPts val="300"/>
              </a:spcBef>
              <a:defRPr sz="1400">
                <a:solidFill>
                  <a:srgbClr val="13203C"/>
                </a:solidFill>
              </a:defRPr>
            </a:pPr>
            <a:r>
              <a:t>Exact</a:t>
            </a:r>
            <a:r>
              <a:rPr spc="-30"/>
              <a:t> </a:t>
            </a:r>
            <a:r>
              <a:t>file</a:t>
            </a:r>
            <a:r>
              <a:rPr spc="-40"/>
              <a:t> </a:t>
            </a:r>
            <a:r>
              <a:t>hashing</a:t>
            </a:r>
            <a:r>
              <a:rPr spc="-15"/>
              <a:t> </a:t>
            </a:r>
            <a:r>
              <a:t>missed</a:t>
            </a:r>
            <a:r>
              <a:rPr spc="-40"/>
              <a:t> </a:t>
            </a:r>
            <a:r>
              <a:t>them</a:t>
            </a:r>
            <a:r>
              <a:rPr spc="-35"/>
              <a:t> </a:t>
            </a:r>
            <a:r>
              <a:rPr spc="-10"/>
              <a:t>(mirrored</a:t>
            </a:r>
            <a:r>
              <a:rPr spc="-40"/>
              <a:t> </a:t>
            </a:r>
            <a:r>
              <a:t>/</a:t>
            </a:r>
            <a:r>
              <a:rPr spc="-40"/>
              <a:t> </a:t>
            </a:r>
            <a:r>
              <a:rPr spc="-10"/>
              <a:t>re-encoded copies).</a:t>
            </a:r>
          </a:p>
          <a:p>
            <a:pPr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Only</a:t>
            </a:r>
            <a:r>
              <a:rPr spc="-30"/>
              <a:t> </a:t>
            </a:r>
            <a:r>
              <a:t>3,295</a:t>
            </a:r>
            <a:r>
              <a:rPr spc="-30"/>
              <a:t> </a:t>
            </a:r>
            <a:r>
              <a:t>of</a:t>
            </a:r>
            <a:r>
              <a:rPr spc="-45"/>
              <a:t> </a:t>
            </a:r>
            <a:r>
              <a:t>7,200</a:t>
            </a:r>
            <a:r>
              <a:rPr spc="-20"/>
              <a:t> </a:t>
            </a:r>
            <a:r>
              <a:t>images</a:t>
            </a:r>
            <a:r>
              <a:rPr spc="-25"/>
              <a:t> </a:t>
            </a:r>
            <a:r>
              <a:t>are</a:t>
            </a:r>
            <a:r>
              <a:rPr spc="-40"/>
              <a:t> </a:t>
            </a:r>
            <a:r>
              <a:rPr spc="-10"/>
              <a:t>unique.</a:t>
            </a:r>
          </a:p>
        </p:txBody>
      </p:sp>
      <p:grpSp>
        <p:nvGrpSpPr>
          <p:cNvPr id="83" name="object 8"/>
          <p:cNvGrpSpPr/>
          <p:nvPr/>
        </p:nvGrpSpPr>
        <p:grpSpPr>
          <a:xfrm>
            <a:off x="7498840" y="3795521"/>
            <a:ext cx="4251962" cy="2377441"/>
            <a:chOff x="0" y="0"/>
            <a:chExt cx="4251960" cy="2377439"/>
          </a:xfrm>
        </p:grpSpPr>
        <p:sp>
          <p:nvSpPr>
            <p:cNvPr id="81" name="object 9"/>
            <p:cNvSpPr/>
            <p:nvPr/>
          </p:nvSpPr>
          <p:spPr>
            <a:xfrm>
              <a:off x="0" y="0"/>
              <a:ext cx="4251961" cy="2377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117" y="0"/>
                  </a:moveTo>
                  <a:lnTo>
                    <a:pt x="483" y="0"/>
                  </a:lnTo>
                  <a:lnTo>
                    <a:pt x="295" y="68"/>
                  </a:lnTo>
                  <a:lnTo>
                    <a:pt x="141" y="253"/>
                  </a:lnTo>
                  <a:lnTo>
                    <a:pt x="38" y="528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38" y="21072"/>
                  </a:lnTo>
                  <a:lnTo>
                    <a:pt x="141" y="21347"/>
                  </a:lnTo>
                  <a:lnTo>
                    <a:pt x="295" y="21532"/>
                  </a:lnTo>
                  <a:lnTo>
                    <a:pt x="483" y="21600"/>
                  </a:lnTo>
                  <a:lnTo>
                    <a:pt x="21117" y="21600"/>
                  </a:lnTo>
                  <a:lnTo>
                    <a:pt x="21305" y="21532"/>
                  </a:lnTo>
                  <a:lnTo>
                    <a:pt x="21459" y="21347"/>
                  </a:lnTo>
                  <a:lnTo>
                    <a:pt x="21562" y="21072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62" y="528"/>
                  </a:lnTo>
                  <a:lnTo>
                    <a:pt x="21459" y="253"/>
                  </a:lnTo>
                  <a:lnTo>
                    <a:pt x="21305" y="68"/>
                  </a:lnTo>
                  <a:lnTo>
                    <a:pt x="21117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" name="object 10"/>
            <p:cNvSpPr/>
            <p:nvPr/>
          </p:nvSpPr>
          <p:spPr>
            <a:xfrm>
              <a:off x="0" y="0"/>
              <a:ext cx="4251961" cy="2377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38" y="528"/>
                  </a:lnTo>
                  <a:lnTo>
                    <a:pt x="141" y="253"/>
                  </a:lnTo>
                  <a:lnTo>
                    <a:pt x="295" y="68"/>
                  </a:lnTo>
                  <a:lnTo>
                    <a:pt x="483" y="0"/>
                  </a:lnTo>
                  <a:lnTo>
                    <a:pt x="21117" y="0"/>
                  </a:lnTo>
                  <a:lnTo>
                    <a:pt x="21305" y="68"/>
                  </a:lnTo>
                  <a:lnTo>
                    <a:pt x="21459" y="253"/>
                  </a:lnTo>
                  <a:lnTo>
                    <a:pt x="21562" y="528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62" y="21072"/>
                  </a:lnTo>
                  <a:lnTo>
                    <a:pt x="21459" y="21347"/>
                  </a:lnTo>
                  <a:lnTo>
                    <a:pt x="21305" y="21532"/>
                  </a:lnTo>
                  <a:lnTo>
                    <a:pt x="21117" y="21600"/>
                  </a:lnTo>
                  <a:lnTo>
                    <a:pt x="483" y="21600"/>
                  </a:lnTo>
                  <a:lnTo>
                    <a:pt x="295" y="21532"/>
                  </a:lnTo>
                  <a:lnTo>
                    <a:pt x="141" y="21347"/>
                  </a:lnTo>
                  <a:lnTo>
                    <a:pt x="38" y="21072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4" name="object 11"/>
          <p:cNvSpPr txBox="1"/>
          <p:nvPr/>
        </p:nvSpPr>
        <p:spPr>
          <a:xfrm>
            <a:off x="7624064" y="3866020"/>
            <a:ext cx="3917316" cy="143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pc="-10" sz="1500">
                <a:solidFill>
                  <a:srgbClr val="13203C"/>
                </a:solidFill>
              </a:defRPr>
            </a:pPr>
            <a:r>
              <a:t>Research</a:t>
            </a:r>
            <a:r>
              <a:rPr spc="-25"/>
              <a:t> </a:t>
            </a:r>
            <a:r>
              <a:t>questions</a:t>
            </a:r>
          </a:p>
          <a:p>
            <a:pPr marR="5080"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Q1:</a:t>
            </a:r>
            <a:r>
              <a:rPr spc="-35"/>
              <a:t> </a:t>
            </a:r>
            <a:r>
              <a:t>Does</a:t>
            </a:r>
            <a:r>
              <a:rPr spc="-40"/>
              <a:t> </a:t>
            </a:r>
            <a:r>
              <a:t>the</a:t>
            </a:r>
            <a:r>
              <a:rPr spc="-10"/>
              <a:t> proposed</a:t>
            </a:r>
            <a:r>
              <a:rPr spc="-35"/>
              <a:t> </a:t>
            </a:r>
            <a:r>
              <a:t>conditional</a:t>
            </a:r>
            <a:r>
              <a:rPr spc="-15"/>
              <a:t> </a:t>
            </a:r>
            <a:r>
              <a:rPr spc="-10"/>
              <a:t>WGAN-</a:t>
            </a:r>
            <a:r>
              <a:rPr spc="-25"/>
              <a:t>GP </a:t>
            </a:r>
            <a:r>
              <a:rPr spc="-10"/>
              <a:t>generate</a:t>
            </a:r>
            <a:r>
              <a:rPr spc="-40"/>
              <a:t> </a:t>
            </a:r>
            <a:r>
              <a:t>better</a:t>
            </a:r>
            <a:r>
              <a:rPr spc="-20"/>
              <a:t> </a:t>
            </a:r>
            <a:r>
              <a:t>images</a:t>
            </a:r>
            <a:r>
              <a:rPr spc="-40"/>
              <a:t> </a:t>
            </a:r>
            <a:r>
              <a:t>than</a:t>
            </a:r>
            <a:r>
              <a:rPr spc="-30"/>
              <a:t> </a:t>
            </a:r>
            <a:r>
              <a:t>DCGAN</a:t>
            </a:r>
            <a:r>
              <a:rPr spc="-55"/>
              <a:t> </a:t>
            </a:r>
            <a:r>
              <a:t>/</a:t>
            </a:r>
            <a:r>
              <a:rPr spc="-45"/>
              <a:t> </a:t>
            </a:r>
            <a:r>
              <a:rPr spc="-10"/>
              <a:t>WGAN-</a:t>
            </a:r>
            <a:r>
              <a:t>GP</a:t>
            </a:r>
            <a:r>
              <a:rPr spc="-55"/>
              <a:t> </a:t>
            </a:r>
            <a:r>
              <a:rPr spc="-10"/>
              <a:t>(FID, KID)?</a:t>
            </a:r>
          </a:p>
          <a:p>
            <a:pPr marR="113029"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Q2:</a:t>
            </a:r>
            <a:r>
              <a:rPr spc="-40"/>
              <a:t> </a:t>
            </a:r>
            <a:r>
              <a:t>Does</a:t>
            </a:r>
            <a:r>
              <a:rPr spc="-45"/>
              <a:t> </a:t>
            </a:r>
            <a:r>
              <a:t>adding</a:t>
            </a:r>
            <a:r>
              <a:rPr spc="-15"/>
              <a:t> </a:t>
            </a:r>
            <a:r>
              <a:t>its</a:t>
            </a:r>
            <a:r>
              <a:rPr spc="-25"/>
              <a:t> </a:t>
            </a:r>
            <a:r>
              <a:t>images</a:t>
            </a:r>
            <a:r>
              <a:rPr spc="-30"/>
              <a:t> </a:t>
            </a:r>
            <a:r>
              <a:t>help</a:t>
            </a:r>
            <a:r>
              <a:rPr spc="-20"/>
              <a:t> </a:t>
            </a:r>
            <a:r>
              <a:t>a</a:t>
            </a:r>
            <a:r>
              <a:rPr spc="-30"/>
              <a:t> </a:t>
            </a:r>
            <a:r>
              <a:t>CNN</a:t>
            </a:r>
            <a:r>
              <a:rPr spc="-40"/>
              <a:t> </a:t>
            </a:r>
            <a:r>
              <a:t>once</a:t>
            </a:r>
            <a:r>
              <a:rPr spc="-35"/>
              <a:t> </a:t>
            </a:r>
            <a:r>
              <a:rPr spc="-10"/>
              <a:t>training </a:t>
            </a:r>
            <a:r>
              <a:t>size</a:t>
            </a:r>
            <a:r>
              <a:rPr spc="-40"/>
              <a:t> </a:t>
            </a:r>
            <a:r>
              <a:t>is</a:t>
            </a:r>
            <a:r>
              <a:rPr spc="-35"/>
              <a:t> </a:t>
            </a:r>
            <a:r>
              <a:rPr spc="-10"/>
              <a:t>controlled?</a:t>
            </a:r>
          </a:p>
        </p:txBody>
      </p:sp>
      <p:sp>
        <p:nvSpPr>
          <p:cNvPr id="85" name="object 12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Aim,</a:t>
            </a:r>
            <a:r>
              <a:rPr spc="-100"/>
              <a:t> </a:t>
            </a:r>
            <a:r>
              <a:t>objectives</a:t>
            </a:r>
            <a:r>
              <a:rPr spc="-100"/>
              <a:t> </a:t>
            </a:r>
            <a:r>
              <a:t>and</a:t>
            </a:r>
            <a:r>
              <a:rPr spc="-100"/>
              <a:t> </a:t>
            </a:r>
            <a:r>
              <a:t>industry</a:t>
            </a:r>
            <a:r>
              <a:rPr spc="-100"/>
              <a:t> relevance</a:t>
            </a:r>
          </a:p>
        </p:txBody>
      </p:sp>
      <p:grpSp>
        <p:nvGrpSpPr>
          <p:cNvPr id="90" name="object 3"/>
          <p:cNvGrpSpPr/>
          <p:nvPr/>
        </p:nvGrpSpPr>
        <p:grpSpPr>
          <a:xfrm>
            <a:off x="457960" y="1098041"/>
            <a:ext cx="6675122" cy="1051562"/>
            <a:chOff x="0" y="0"/>
            <a:chExt cx="6675120" cy="1051560"/>
          </a:xfrm>
        </p:grpSpPr>
        <p:sp>
          <p:nvSpPr>
            <p:cNvPr id="88" name="object 4"/>
            <p:cNvSpPr/>
            <p:nvPr/>
          </p:nvSpPr>
          <p:spPr>
            <a:xfrm>
              <a:off x="0" y="0"/>
              <a:ext cx="6675121" cy="1051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64" y="0"/>
                  </a:moveTo>
                  <a:lnTo>
                    <a:pt x="136" y="0"/>
                  </a:lnTo>
                  <a:lnTo>
                    <a:pt x="83" y="68"/>
                  </a:lnTo>
                  <a:lnTo>
                    <a:pt x="40" y="253"/>
                  </a:lnTo>
                  <a:lnTo>
                    <a:pt x="11" y="527"/>
                  </a:lnTo>
                  <a:lnTo>
                    <a:pt x="0" y="863"/>
                  </a:lnTo>
                  <a:lnTo>
                    <a:pt x="0" y="20737"/>
                  </a:lnTo>
                  <a:lnTo>
                    <a:pt x="11" y="21073"/>
                  </a:lnTo>
                  <a:lnTo>
                    <a:pt x="40" y="21347"/>
                  </a:lnTo>
                  <a:lnTo>
                    <a:pt x="83" y="21532"/>
                  </a:lnTo>
                  <a:lnTo>
                    <a:pt x="136" y="21600"/>
                  </a:lnTo>
                  <a:lnTo>
                    <a:pt x="21464" y="21600"/>
                  </a:lnTo>
                  <a:lnTo>
                    <a:pt x="21517" y="21532"/>
                  </a:lnTo>
                  <a:lnTo>
                    <a:pt x="21560" y="21347"/>
                  </a:lnTo>
                  <a:lnTo>
                    <a:pt x="21589" y="21073"/>
                  </a:lnTo>
                  <a:lnTo>
                    <a:pt x="21600" y="20737"/>
                  </a:lnTo>
                  <a:lnTo>
                    <a:pt x="21600" y="863"/>
                  </a:lnTo>
                  <a:lnTo>
                    <a:pt x="21589" y="527"/>
                  </a:lnTo>
                  <a:lnTo>
                    <a:pt x="21560" y="253"/>
                  </a:lnTo>
                  <a:lnTo>
                    <a:pt x="21517" y="68"/>
                  </a:lnTo>
                  <a:lnTo>
                    <a:pt x="21464" y="0"/>
                  </a:lnTo>
                  <a:close/>
                </a:path>
              </a:pathLst>
            </a:custGeom>
            <a:solidFill>
              <a:srgbClr val="E3F1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object 5"/>
            <p:cNvSpPr/>
            <p:nvPr/>
          </p:nvSpPr>
          <p:spPr>
            <a:xfrm>
              <a:off x="0" y="0"/>
              <a:ext cx="6675121" cy="1051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3"/>
                  </a:moveTo>
                  <a:lnTo>
                    <a:pt x="11" y="527"/>
                  </a:lnTo>
                  <a:lnTo>
                    <a:pt x="40" y="253"/>
                  </a:lnTo>
                  <a:lnTo>
                    <a:pt x="83" y="68"/>
                  </a:lnTo>
                  <a:lnTo>
                    <a:pt x="136" y="0"/>
                  </a:lnTo>
                  <a:lnTo>
                    <a:pt x="21464" y="0"/>
                  </a:lnTo>
                  <a:lnTo>
                    <a:pt x="21517" y="68"/>
                  </a:lnTo>
                  <a:lnTo>
                    <a:pt x="21560" y="253"/>
                  </a:lnTo>
                  <a:lnTo>
                    <a:pt x="21589" y="527"/>
                  </a:lnTo>
                  <a:lnTo>
                    <a:pt x="21600" y="863"/>
                  </a:lnTo>
                  <a:lnTo>
                    <a:pt x="21600" y="20737"/>
                  </a:lnTo>
                  <a:lnTo>
                    <a:pt x="21589" y="21073"/>
                  </a:lnTo>
                  <a:lnTo>
                    <a:pt x="21560" y="21347"/>
                  </a:lnTo>
                  <a:lnTo>
                    <a:pt x="21517" y="21532"/>
                  </a:lnTo>
                  <a:lnTo>
                    <a:pt x="21464" y="21600"/>
                  </a:lnTo>
                  <a:lnTo>
                    <a:pt x="136" y="21600"/>
                  </a:lnTo>
                  <a:lnTo>
                    <a:pt x="83" y="21532"/>
                  </a:lnTo>
                  <a:lnTo>
                    <a:pt x="40" y="21347"/>
                  </a:lnTo>
                  <a:lnTo>
                    <a:pt x="11" y="21073"/>
                  </a:lnTo>
                  <a:lnTo>
                    <a:pt x="0" y="20737"/>
                  </a:lnTo>
                  <a:lnTo>
                    <a:pt x="0" y="863"/>
                  </a:lnTo>
                  <a:close/>
                </a:path>
              </a:pathLst>
            </a:custGeom>
            <a:noFill/>
            <a:ln w="19812" cap="flat">
              <a:solidFill>
                <a:srgbClr val="2A9D8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1" name="object 6"/>
          <p:cNvSpPr txBox="1"/>
          <p:nvPr/>
        </p:nvSpPr>
        <p:spPr>
          <a:xfrm>
            <a:off x="554226" y="1152396"/>
            <a:ext cx="6452237" cy="366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75590" indent="24765">
              <a:spcBef>
                <a:spcPts val="100"/>
              </a:spcBef>
              <a:defRPr sz="1500">
                <a:solidFill>
                  <a:srgbClr val="13203C"/>
                </a:solidFill>
              </a:defRPr>
            </a:pPr>
            <a:r>
              <a:t>Aim:</a:t>
            </a:r>
            <a:r>
              <a:rPr spc="-30"/>
              <a:t> </a:t>
            </a:r>
            <a:r>
              <a:t>compare</a:t>
            </a:r>
            <a:r>
              <a:rPr spc="-30"/>
              <a:t> </a:t>
            </a:r>
            <a:r>
              <a:t>DCGAN,</a:t>
            </a:r>
            <a:r>
              <a:rPr spc="-40"/>
              <a:t> </a:t>
            </a:r>
            <a:r>
              <a:rPr spc="-10"/>
              <a:t>WGAN-</a:t>
            </a:r>
            <a:r>
              <a:t>GP</a:t>
            </a:r>
            <a:r>
              <a:rPr spc="-15"/>
              <a:t> </a:t>
            </a:r>
            <a:r>
              <a:t>and</a:t>
            </a:r>
            <a:r>
              <a:rPr spc="-30"/>
              <a:t> </a:t>
            </a:r>
            <a:r>
              <a:t>a</a:t>
            </a:r>
            <a:r>
              <a:rPr spc="-35"/>
              <a:t> </a:t>
            </a:r>
            <a:r>
              <a:t>conditional</a:t>
            </a:r>
            <a:r>
              <a:rPr spc="-45"/>
              <a:t> </a:t>
            </a:r>
            <a:r>
              <a:rPr spc="-10"/>
              <a:t>WGAN-</a:t>
            </a:r>
            <a:r>
              <a:t>GP</a:t>
            </a:r>
            <a:r>
              <a:rPr spc="-15"/>
              <a:t> </a:t>
            </a:r>
            <a:r>
              <a:t>on</a:t>
            </a:r>
            <a:r>
              <a:rPr spc="-35"/>
              <a:t> </a:t>
            </a:r>
            <a:r>
              <a:t>a</a:t>
            </a:r>
            <a:r>
              <a:rPr spc="-25"/>
              <a:t> </a:t>
            </a:r>
            <a:r>
              <a:rPr spc="-10"/>
              <a:t>leakage-controlled</a:t>
            </a:r>
            <a:r>
              <a:rPr spc="-45"/>
              <a:t> </a:t>
            </a:r>
            <a:r>
              <a:t>MRI</a:t>
            </a:r>
            <a:r>
              <a:rPr spc="-35"/>
              <a:t> </a:t>
            </a:r>
            <a:r>
              <a:t>dataset,</a:t>
            </a:r>
            <a:r>
              <a:rPr spc="-45"/>
              <a:t> </a:t>
            </a:r>
            <a:r>
              <a:t>test</a:t>
            </a:r>
            <a:r>
              <a:rPr spc="-20"/>
              <a:t> </a:t>
            </a:r>
            <a:r>
              <a:t>honestly</a:t>
            </a:r>
            <a:r>
              <a:rPr spc="-50"/>
              <a:t> </a:t>
            </a:r>
            <a:r>
              <a:t>whether</a:t>
            </a:r>
            <a:r>
              <a:rPr spc="-20"/>
              <a:t> </a:t>
            </a:r>
            <a:r>
              <a:rPr spc="-10"/>
              <a:t>synthetic</a:t>
            </a:r>
            <a:r>
              <a:rPr spc="-40"/>
              <a:t> </a:t>
            </a:r>
            <a:r>
              <a:t>images</a:t>
            </a:r>
            <a:r>
              <a:rPr spc="-40"/>
              <a:t> </a:t>
            </a:r>
            <a:r>
              <a:t>help</a:t>
            </a:r>
            <a:r>
              <a:rPr spc="-25"/>
              <a:t> </a:t>
            </a:r>
            <a:r>
              <a:t>a</a:t>
            </a:r>
            <a:r>
              <a:rPr spc="-30"/>
              <a:t> </a:t>
            </a:r>
            <a:r>
              <a:rPr spc="-10"/>
              <a:t>classifier, </a:t>
            </a:r>
            <a:r>
              <a:t>and</a:t>
            </a:r>
            <a:r>
              <a:rPr spc="-35"/>
              <a:t> </a:t>
            </a:r>
            <a:r>
              <a:t>deliver</a:t>
            </a:r>
            <a:r>
              <a:rPr spc="-20"/>
              <a:t> </a:t>
            </a:r>
            <a:r>
              <a:t>the</a:t>
            </a:r>
            <a:r>
              <a:rPr spc="-30"/>
              <a:t> </a:t>
            </a:r>
            <a:r>
              <a:t>work</a:t>
            </a:r>
            <a:r>
              <a:rPr spc="-20"/>
              <a:t> </a:t>
            </a:r>
            <a:r>
              <a:t>as</a:t>
            </a:r>
            <a:r>
              <a:rPr spc="-35"/>
              <a:t> </a:t>
            </a:r>
            <a:r>
              <a:t>a</a:t>
            </a:r>
            <a:r>
              <a:rPr spc="-25"/>
              <a:t> </a:t>
            </a:r>
            <a:r>
              <a:rPr spc="-10"/>
              <a:t>documented</a:t>
            </a:r>
            <a:r>
              <a:rPr spc="-50"/>
              <a:t> </a:t>
            </a:r>
            <a:r>
              <a:t>web</a:t>
            </a:r>
            <a:r>
              <a:rPr spc="-15"/>
              <a:t> </a:t>
            </a:r>
            <a:r>
              <a:rPr spc="-10"/>
              <a:t>application.</a:t>
            </a:r>
          </a:p>
          <a:p>
            <a:pPr>
              <a:defRPr sz="1500"/>
            </a:pPr>
          </a:p>
          <a:p>
            <a:pPr>
              <a:spcBef>
                <a:spcPts val="200"/>
              </a:spcBef>
              <a:defRPr sz="1500"/>
            </a:pPr>
          </a:p>
          <a:p>
            <a:pPr indent="12700">
              <a:defRPr sz="1500">
                <a:solidFill>
                  <a:srgbClr val="13203C"/>
                </a:solidFill>
              </a:defRPr>
            </a:pPr>
            <a:r>
              <a:t>O1</a:t>
            </a:r>
            <a:r>
              <a:rPr spc="295"/>
              <a:t> </a:t>
            </a:r>
            <a:r>
              <a:t>Audit</a:t>
            </a:r>
            <a:r>
              <a:rPr spc="-25"/>
              <a:t> </a:t>
            </a:r>
            <a:r>
              <a:rPr spc="-10"/>
              <a:t>duplicates;</a:t>
            </a:r>
            <a:r>
              <a:rPr spc="-35"/>
              <a:t> </a:t>
            </a:r>
            <a:r>
              <a:t>build</a:t>
            </a:r>
            <a:r>
              <a:rPr spc="-25"/>
              <a:t> </a:t>
            </a:r>
            <a:r>
              <a:t>a</a:t>
            </a:r>
            <a:r>
              <a:rPr spc="-20"/>
              <a:t> </a:t>
            </a:r>
            <a:r>
              <a:rPr spc="-10"/>
              <a:t>cluster-</a:t>
            </a:r>
            <a:r>
              <a:t>disjoint</a:t>
            </a:r>
            <a:r>
              <a:rPr spc="-40"/>
              <a:t> </a:t>
            </a:r>
            <a:r>
              <a:t>split</a:t>
            </a:r>
            <a:r>
              <a:rPr spc="-15"/>
              <a:t> </a:t>
            </a:r>
            <a:r>
              <a:t>(0</a:t>
            </a:r>
            <a:r>
              <a:rPr spc="-20"/>
              <a:t> </a:t>
            </a:r>
            <a:r>
              <a:rPr spc="-10"/>
              <a:t>clusters</a:t>
            </a:r>
            <a:r>
              <a:rPr spc="-25"/>
              <a:t> </a:t>
            </a:r>
            <a:r>
              <a:t>crossing</a:t>
            </a:r>
            <a:r>
              <a:rPr spc="-25"/>
              <a:t> </a:t>
            </a:r>
            <a:r>
              <a:rPr spc="-10"/>
              <a:t>partitions).</a:t>
            </a:r>
          </a:p>
          <a:p>
            <a:pPr marR="494030" indent="12700">
              <a:spcBef>
                <a:spcPts val="800"/>
              </a:spcBef>
              <a:defRPr sz="1500">
                <a:solidFill>
                  <a:srgbClr val="13203C"/>
                </a:solidFill>
              </a:defRPr>
            </a:pPr>
            <a:r>
              <a:t>O2</a:t>
            </a:r>
            <a:r>
              <a:rPr spc="285"/>
              <a:t> </a:t>
            </a:r>
            <a:r>
              <a:rPr spc="-20"/>
              <a:t>Train</a:t>
            </a:r>
            <a:r>
              <a:rPr spc="-25"/>
              <a:t> </a:t>
            </a:r>
            <a:r>
              <a:t>DCGAN,</a:t>
            </a:r>
            <a:r>
              <a:rPr spc="-30"/>
              <a:t> </a:t>
            </a:r>
            <a:r>
              <a:rPr spc="-10"/>
              <a:t>WGAN-</a:t>
            </a:r>
            <a:r>
              <a:rPr spc="-70"/>
              <a:t>GP,</a:t>
            </a:r>
            <a:r>
              <a:rPr spc="-15"/>
              <a:t> </a:t>
            </a:r>
            <a:r>
              <a:rPr spc="-10"/>
              <a:t>cWGAN-</a:t>
            </a:r>
            <a:r>
              <a:t>GP</a:t>
            </a:r>
            <a:r>
              <a:rPr spc="-5"/>
              <a:t> </a:t>
            </a:r>
            <a:r>
              <a:t>on</a:t>
            </a:r>
            <a:r>
              <a:rPr spc="-25"/>
              <a:t> </a:t>
            </a:r>
            <a:r>
              <a:t>the</a:t>
            </a:r>
            <a:r>
              <a:rPr spc="-10"/>
              <a:t> </a:t>
            </a:r>
            <a:r>
              <a:t>training</a:t>
            </a:r>
            <a:r>
              <a:rPr spc="-25"/>
              <a:t> </a:t>
            </a:r>
            <a:r>
              <a:t>partition</a:t>
            </a:r>
            <a:r>
              <a:rPr spc="-50"/>
              <a:t> </a:t>
            </a:r>
            <a:r>
              <a:t>only</a:t>
            </a:r>
            <a:r>
              <a:rPr spc="-20"/>
              <a:t> </a:t>
            </a:r>
            <a:r>
              <a:rPr spc="-10"/>
              <a:t>(3,000 generator</a:t>
            </a:r>
            <a:r>
              <a:rPr spc="-45"/>
              <a:t> </a:t>
            </a:r>
            <a:r>
              <a:rPr spc="-10"/>
              <a:t>updates).</a:t>
            </a:r>
          </a:p>
          <a:p>
            <a:pPr indent="12700">
              <a:spcBef>
                <a:spcPts val="700"/>
              </a:spcBef>
              <a:defRPr sz="1500">
                <a:solidFill>
                  <a:srgbClr val="13203C"/>
                </a:solidFill>
              </a:defRPr>
            </a:pPr>
            <a:r>
              <a:t>O3</a:t>
            </a:r>
            <a:r>
              <a:rPr spc="285"/>
              <a:t> </a:t>
            </a:r>
            <a:r>
              <a:rPr spc="-10"/>
              <a:t>Evaluate</a:t>
            </a:r>
            <a:r>
              <a:rPr spc="-40"/>
              <a:t> </a:t>
            </a:r>
            <a:r>
              <a:t>FID</a:t>
            </a:r>
            <a:r>
              <a:rPr spc="-20"/>
              <a:t> </a:t>
            </a:r>
            <a:r>
              <a:t>/</a:t>
            </a:r>
            <a:r>
              <a:rPr spc="-30"/>
              <a:t> </a:t>
            </a:r>
            <a:r>
              <a:t>KID</a:t>
            </a:r>
            <a:r>
              <a:rPr spc="-30"/>
              <a:t> </a:t>
            </a:r>
            <a:r>
              <a:t>on</a:t>
            </a:r>
            <a:r>
              <a:rPr spc="-15"/>
              <a:t> </a:t>
            </a:r>
            <a:r>
              <a:t>the</a:t>
            </a:r>
            <a:r>
              <a:rPr spc="-20"/>
              <a:t> </a:t>
            </a:r>
            <a:r>
              <a:t>492</a:t>
            </a:r>
            <a:r>
              <a:rPr spc="-15"/>
              <a:t> </a:t>
            </a:r>
            <a:r>
              <a:t>test</a:t>
            </a:r>
            <a:r>
              <a:rPr spc="-35"/>
              <a:t> </a:t>
            </a:r>
            <a:r>
              <a:t>images,</a:t>
            </a:r>
            <a:r>
              <a:rPr spc="-20"/>
              <a:t> </a:t>
            </a:r>
            <a:r>
              <a:t>3</a:t>
            </a:r>
            <a:r>
              <a:rPr spc="-20"/>
              <a:t> </a:t>
            </a:r>
            <a:r>
              <a:rPr spc="-10"/>
              <a:t>generation</a:t>
            </a:r>
            <a:r>
              <a:rPr spc="-40"/>
              <a:t> </a:t>
            </a:r>
            <a:r>
              <a:t>seeds,</a:t>
            </a:r>
            <a:r>
              <a:rPr spc="-15"/>
              <a:t> </a:t>
            </a:r>
            <a:r>
              <a:rPr spc="-20"/>
              <a:t>real-</a:t>
            </a:r>
            <a:r>
              <a:rPr spc="-10"/>
              <a:t>vs-</a:t>
            </a:r>
            <a:r>
              <a:t>real</a:t>
            </a:r>
            <a:r>
              <a:rPr spc="5"/>
              <a:t> </a:t>
            </a:r>
            <a:r>
              <a:rPr spc="-10"/>
              <a:t>floor.</a:t>
            </a:r>
          </a:p>
          <a:p>
            <a:pPr indent="12700">
              <a:spcBef>
                <a:spcPts val="800"/>
              </a:spcBef>
              <a:defRPr sz="1500">
                <a:solidFill>
                  <a:srgbClr val="13203C"/>
                </a:solidFill>
              </a:defRPr>
            </a:pPr>
            <a:r>
              <a:t>O4</a:t>
            </a:r>
            <a:r>
              <a:rPr spc="285"/>
              <a:t> </a:t>
            </a:r>
            <a:r>
              <a:rPr spc="-10"/>
              <a:t>Implement</a:t>
            </a:r>
            <a:r>
              <a:rPr spc="-30"/>
              <a:t> </a:t>
            </a:r>
            <a:r>
              <a:rPr spc="-10"/>
              <a:t>label-</a:t>
            </a:r>
            <a:r>
              <a:t>conditional</a:t>
            </a:r>
            <a:r>
              <a:rPr spc="-25"/>
              <a:t> </a:t>
            </a:r>
            <a:r>
              <a:rPr spc="-10"/>
              <a:t>generation;</a:t>
            </a:r>
            <a:r>
              <a:rPr spc="-45"/>
              <a:t> </a:t>
            </a:r>
            <a:r>
              <a:t>test</a:t>
            </a:r>
            <a:r>
              <a:rPr spc="-15"/>
              <a:t> </a:t>
            </a:r>
            <a:r>
              <a:t>whether</a:t>
            </a:r>
            <a:r>
              <a:rPr spc="-20"/>
              <a:t> </a:t>
            </a:r>
            <a:r>
              <a:t>the</a:t>
            </a:r>
            <a:r>
              <a:rPr spc="-15"/>
              <a:t> </a:t>
            </a:r>
            <a:r>
              <a:t>label</a:t>
            </a:r>
            <a:r>
              <a:rPr spc="-15"/>
              <a:t> </a:t>
            </a:r>
            <a:r>
              <a:t>changes</a:t>
            </a:r>
            <a:r>
              <a:rPr spc="-35"/>
              <a:t> </a:t>
            </a:r>
            <a:r>
              <a:rPr spc="-25"/>
              <a:t>the</a:t>
            </a:r>
          </a:p>
          <a:p>
            <a:pPr indent="12700">
              <a:defRPr spc="-10" sz="1500">
                <a:solidFill>
                  <a:srgbClr val="13203C"/>
                </a:solidFill>
              </a:defRPr>
            </a:pPr>
            <a:r>
              <a:t>output.</a:t>
            </a:r>
          </a:p>
          <a:p>
            <a:pPr marR="34925" indent="12700">
              <a:spcBef>
                <a:spcPts val="800"/>
              </a:spcBef>
              <a:defRPr sz="1500">
                <a:solidFill>
                  <a:srgbClr val="13203C"/>
                </a:solidFill>
              </a:defRPr>
            </a:pPr>
            <a:r>
              <a:t>O5</a:t>
            </a:r>
            <a:r>
              <a:rPr spc="285"/>
              <a:t> </a:t>
            </a:r>
            <a:r>
              <a:t>Compare</a:t>
            </a:r>
            <a:r>
              <a:rPr spc="-40"/>
              <a:t> </a:t>
            </a:r>
            <a:r>
              <a:t>classifiers</a:t>
            </a:r>
            <a:r>
              <a:rPr spc="-10"/>
              <a:t> </a:t>
            </a:r>
            <a:r>
              <a:t>A</a:t>
            </a:r>
            <a:r>
              <a:rPr spc="-25"/>
              <a:t> </a:t>
            </a:r>
            <a:r>
              <a:t>/</a:t>
            </a:r>
            <a:r>
              <a:rPr spc="-25"/>
              <a:t> </a:t>
            </a:r>
            <a:r>
              <a:t>B</a:t>
            </a:r>
            <a:r>
              <a:rPr spc="-30"/>
              <a:t> </a:t>
            </a:r>
            <a:r>
              <a:t>/</a:t>
            </a:r>
            <a:r>
              <a:rPr spc="-25"/>
              <a:t> </a:t>
            </a:r>
            <a:r>
              <a:t>C</a:t>
            </a:r>
            <a:r>
              <a:rPr spc="-30"/>
              <a:t> </a:t>
            </a:r>
            <a:r>
              <a:t>(3</a:t>
            </a:r>
            <a:r>
              <a:rPr spc="-20"/>
              <a:t> </a:t>
            </a:r>
            <a:r>
              <a:t>seeds):</a:t>
            </a:r>
            <a:r>
              <a:rPr spc="-25"/>
              <a:t> </a:t>
            </a:r>
            <a:r>
              <a:rPr spc="-20"/>
              <a:t>accuracy,</a:t>
            </a:r>
            <a:r>
              <a:rPr spc="-40"/>
              <a:t> </a:t>
            </a:r>
            <a:r>
              <a:rPr spc="-10"/>
              <a:t>macro-</a:t>
            </a:r>
            <a:r>
              <a:t>F1,</a:t>
            </a:r>
            <a:r>
              <a:rPr spc="-25"/>
              <a:t> </a:t>
            </a:r>
            <a:r>
              <a:t>derived</a:t>
            </a:r>
            <a:r>
              <a:rPr spc="-15"/>
              <a:t> </a:t>
            </a:r>
            <a:r>
              <a:t>sensitivity</a:t>
            </a:r>
            <a:r>
              <a:rPr spc="-30"/>
              <a:t> </a:t>
            </a:r>
            <a:r>
              <a:rPr spc="-50"/>
              <a:t>/ </a:t>
            </a:r>
            <a:r>
              <a:rPr spc="-10"/>
              <a:t>specificity.</a:t>
            </a:r>
          </a:p>
          <a:p>
            <a:pPr indent="12700">
              <a:spcBef>
                <a:spcPts val="700"/>
              </a:spcBef>
              <a:defRPr sz="1500">
                <a:solidFill>
                  <a:srgbClr val="13203C"/>
                </a:solidFill>
              </a:defRPr>
            </a:pPr>
            <a:r>
              <a:t>O6</a:t>
            </a:r>
            <a:r>
              <a:rPr spc="270"/>
              <a:t> </a:t>
            </a:r>
            <a:r>
              <a:t>Build</a:t>
            </a:r>
            <a:r>
              <a:rPr spc="-40"/>
              <a:t> </a:t>
            </a:r>
            <a:r>
              <a:t>and</a:t>
            </a:r>
            <a:r>
              <a:rPr spc="-40"/>
              <a:t> </a:t>
            </a:r>
            <a:r>
              <a:t>test</a:t>
            </a:r>
            <a:r>
              <a:rPr spc="-35"/>
              <a:t> </a:t>
            </a:r>
            <a:r>
              <a:t>NeuroVision</a:t>
            </a:r>
            <a:r>
              <a:rPr spc="-40"/>
              <a:t> </a:t>
            </a:r>
            <a:r>
              <a:t>AI</a:t>
            </a:r>
            <a:r>
              <a:rPr spc="-40"/>
              <a:t> </a:t>
            </a:r>
            <a:r>
              <a:t>with</a:t>
            </a:r>
            <a:r>
              <a:rPr spc="-25"/>
              <a:t> </a:t>
            </a:r>
            <a:r>
              <a:t>visible</a:t>
            </a:r>
            <a:r>
              <a:rPr spc="-20"/>
              <a:t> </a:t>
            </a:r>
            <a:r>
              <a:rPr spc="-10"/>
              <a:t>research-</a:t>
            </a:r>
            <a:r>
              <a:t>prototype</a:t>
            </a:r>
            <a:r>
              <a:rPr spc="-55"/>
              <a:t> </a:t>
            </a:r>
            <a:r>
              <a:rPr spc="-10"/>
              <a:t>warnings.</a:t>
            </a:r>
          </a:p>
        </p:txBody>
      </p:sp>
      <p:grpSp>
        <p:nvGrpSpPr>
          <p:cNvPr id="94" name="object 7"/>
          <p:cNvGrpSpPr/>
          <p:nvPr/>
        </p:nvGrpSpPr>
        <p:grpSpPr>
          <a:xfrm>
            <a:off x="7407401" y="1098042"/>
            <a:ext cx="4343401" cy="3840480"/>
            <a:chOff x="0" y="0"/>
            <a:chExt cx="4343400" cy="3840479"/>
          </a:xfrm>
        </p:grpSpPr>
        <p:sp>
          <p:nvSpPr>
            <p:cNvPr id="92" name="object 8"/>
            <p:cNvSpPr/>
            <p:nvPr/>
          </p:nvSpPr>
          <p:spPr>
            <a:xfrm>
              <a:off x="0" y="0"/>
              <a:ext cx="4343401" cy="38404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36" y="0"/>
                  </a:moveTo>
                  <a:lnTo>
                    <a:pt x="764" y="0"/>
                  </a:lnTo>
                  <a:lnTo>
                    <a:pt x="523" y="44"/>
                  </a:lnTo>
                  <a:lnTo>
                    <a:pt x="313" y="167"/>
                  </a:lnTo>
                  <a:lnTo>
                    <a:pt x="147" y="354"/>
                  </a:lnTo>
                  <a:lnTo>
                    <a:pt x="39" y="591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39" y="21009"/>
                  </a:lnTo>
                  <a:lnTo>
                    <a:pt x="147" y="21246"/>
                  </a:lnTo>
                  <a:lnTo>
                    <a:pt x="313" y="21433"/>
                  </a:lnTo>
                  <a:lnTo>
                    <a:pt x="523" y="21556"/>
                  </a:lnTo>
                  <a:lnTo>
                    <a:pt x="764" y="21600"/>
                  </a:lnTo>
                  <a:lnTo>
                    <a:pt x="20836" y="21600"/>
                  </a:lnTo>
                  <a:lnTo>
                    <a:pt x="21077" y="21556"/>
                  </a:lnTo>
                  <a:lnTo>
                    <a:pt x="21287" y="21433"/>
                  </a:lnTo>
                  <a:lnTo>
                    <a:pt x="21452" y="21246"/>
                  </a:lnTo>
                  <a:lnTo>
                    <a:pt x="21561" y="21009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61" y="591"/>
                  </a:lnTo>
                  <a:lnTo>
                    <a:pt x="21452" y="354"/>
                  </a:lnTo>
                  <a:lnTo>
                    <a:pt x="21287" y="167"/>
                  </a:lnTo>
                  <a:lnTo>
                    <a:pt x="21077" y="44"/>
                  </a:lnTo>
                  <a:lnTo>
                    <a:pt x="20836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3" name="object 9"/>
            <p:cNvSpPr/>
            <p:nvPr/>
          </p:nvSpPr>
          <p:spPr>
            <a:xfrm>
              <a:off x="0" y="0"/>
              <a:ext cx="4343401" cy="38404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39" y="591"/>
                  </a:lnTo>
                  <a:lnTo>
                    <a:pt x="147" y="354"/>
                  </a:lnTo>
                  <a:lnTo>
                    <a:pt x="313" y="167"/>
                  </a:lnTo>
                  <a:lnTo>
                    <a:pt x="523" y="44"/>
                  </a:lnTo>
                  <a:lnTo>
                    <a:pt x="764" y="0"/>
                  </a:lnTo>
                  <a:lnTo>
                    <a:pt x="20836" y="0"/>
                  </a:lnTo>
                  <a:lnTo>
                    <a:pt x="21077" y="44"/>
                  </a:lnTo>
                  <a:lnTo>
                    <a:pt x="21287" y="167"/>
                  </a:lnTo>
                  <a:lnTo>
                    <a:pt x="21452" y="354"/>
                  </a:lnTo>
                  <a:lnTo>
                    <a:pt x="21561" y="591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61" y="21009"/>
                  </a:lnTo>
                  <a:lnTo>
                    <a:pt x="21452" y="21246"/>
                  </a:lnTo>
                  <a:lnTo>
                    <a:pt x="21287" y="21433"/>
                  </a:lnTo>
                  <a:lnTo>
                    <a:pt x="21077" y="21556"/>
                  </a:lnTo>
                  <a:lnTo>
                    <a:pt x="20836" y="21600"/>
                  </a:lnTo>
                  <a:lnTo>
                    <a:pt x="764" y="21600"/>
                  </a:lnTo>
                  <a:lnTo>
                    <a:pt x="523" y="21556"/>
                  </a:lnTo>
                  <a:lnTo>
                    <a:pt x="313" y="21433"/>
                  </a:lnTo>
                  <a:lnTo>
                    <a:pt x="147" y="21246"/>
                  </a:lnTo>
                  <a:lnTo>
                    <a:pt x="39" y="21009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1F395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5" name="object 10"/>
          <p:cNvSpPr txBox="1"/>
          <p:nvPr/>
        </p:nvSpPr>
        <p:spPr>
          <a:xfrm>
            <a:off x="7549642" y="1183952"/>
            <a:ext cx="3926841" cy="244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0"/>
              </a:spcBef>
              <a:defRPr b="1" sz="1700">
                <a:solidFill>
                  <a:srgbClr val="13203C"/>
                </a:solidFill>
              </a:defRPr>
            </a:pPr>
            <a:r>
              <a:t>Industry</a:t>
            </a:r>
            <a:r>
              <a:rPr spc="-50"/>
              <a:t> </a:t>
            </a:r>
            <a:r>
              <a:rPr spc="-10"/>
              <a:t>relevance</a:t>
            </a:r>
          </a:p>
          <a:p>
            <a:pPr marR="191770" indent="12700">
              <a:spcBef>
                <a:spcPts val="800"/>
              </a:spcBef>
              <a:defRPr spc="-10" sz="1400">
                <a:solidFill>
                  <a:srgbClr val="13203C"/>
                </a:solidFill>
              </a:defRPr>
            </a:pPr>
            <a:r>
              <a:t>Healthcare </a:t>
            </a:r>
            <a:r>
              <a:rPr spc="0"/>
              <a:t>AI</a:t>
            </a:r>
            <a:r>
              <a:rPr spc="-35"/>
              <a:t> </a:t>
            </a:r>
            <a:r>
              <a:rPr spc="0"/>
              <a:t>and</a:t>
            </a:r>
            <a:r>
              <a:rPr spc="-25"/>
              <a:t> </a:t>
            </a:r>
            <a:r>
              <a:t>augmentation</a:t>
            </a:r>
            <a:r>
              <a:rPr spc="0"/>
              <a:t> </a:t>
            </a:r>
            <a:r>
              <a:t>research:</a:t>
            </a:r>
            <a:r>
              <a:rPr spc="-25"/>
              <a:t> </a:t>
            </a:r>
            <a:r>
              <a:rPr spc="0"/>
              <a:t>fair</a:t>
            </a:r>
            <a:r>
              <a:rPr spc="-35"/>
              <a:t> </a:t>
            </a:r>
            <a:r>
              <a:t>tests </a:t>
            </a:r>
            <a:r>
              <a:rPr spc="0"/>
              <a:t>need</a:t>
            </a:r>
            <a:r>
              <a:t> </a:t>
            </a:r>
            <a:r>
              <a:rPr spc="0"/>
              <a:t>a</a:t>
            </a:r>
            <a:r>
              <a:rPr spc="-20"/>
              <a:t> </a:t>
            </a:r>
            <a:r>
              <a:t>size-matched</a:t>
            </a:r>
            <a:r>
              <a:rPr spc="-20"/>
              <a:t> </a:t>
            </a:r>
            <a:r>
              <a:t>real-</a:t>
            </a:r>
            <a:r>
              <a:rPr spc="0"/>
              <a:t>only</a:t>
            </a:r>
            <a:r>
              <a:rPr spc="-20"/>
              <a:t> </a:t>
            </a:r>
            <a:r>
              <a:t>control.</a:t>
            </a:r>
          </a:p>
          <a:p>
            <a:pPr marR="308609" indent="12700">
              <a:spcBef>
                <a:spcPts val="800"/>
              </a:spcBef>
              <a:defRPr spc="-10" sz="1400">
                <a:solidFill>
                  <a:srgbClr val="13203C"/>
                </a:solidFill>
              </a:defRPr>
            </a:pPr>
            <a:r>
              <a:t>Medical-</a:t>
            </a:r>
            <a:r>
              <a:rPr spc="0"/>
              <a:t>image</a:t>
            </a:r>
            <a:r>
              <a:rPr spc="-40"/>
              <a:t> </a:t>
            </a:r>
            <a:r>
              <a:rPr spc="0"/>
              <a:t>computing:</a:t>
            </a:r>
            <a:r>
              <a:rPr spc="-35"/>
              <a:t> </a:t>
            </a:r>
            <a:r>
              <a:t>reproducible</a:t>
            </a:r>
            <a:r>
              <a:rPr spc="-30"/>
              <a:t> </a:t>
            </a:r>
            <a:r>
              <a:t>duplicate </a:t>
            </a:r>
            <a:r>
              <a:rPr spc="0"/>
              <a:t>audits</a:t>
            </a:r>
            <a:r>
              <a:rPr spc="-25"/>
              <a:t> </a:t>
            </a:r>
            <a:r>
              <a:rPr spc="0"/>
              <a:t>and</a:t>
            </a:r>
            <a:r>
              <a:rPr spc="-45"/>
              <a:t> </a:t>
            </a:r>
            <a:r>
              <a:t>cluster-</a:t>
            </a:r>
            <a:r>
              <a:rPr spc="0"/>
              <a:t>disjoint</a:t>
            </a:r>
            <a:r>
              <a:rPr spc="-40"/>
              <a:t> </a:t>
            </a:r>
            <a:r>
              <a:t>splits.</a:t>
            </a:r>
          </a:p>
          <a:p>
            <a:pPr indent="12700">
              <a:spcBef>
                <a:spcPts val="700"/>
              </a:spcBef>
              <a:defRPr spc="-10" sz="1400">
                <a:solidFill>
                  <a:srgbClr val="13203C"/>
                </a:solidFill>
              </a:defRPr>
            </a:pPr>
            <a:r>
              <a:t>Responsible</a:t>
            </a:r>
            <a:r>
              <a:rPr spc="-15"/>
              <a:t> </a:t>
            </a:r>
            <a:r>
              <a:t>evaluation:</a:t>
            </a:r>
            <a:r>
              <a:rPr spc="15"/>
              <a:t> </a:t>
            </a:r>
            <a:r>
              <a:rPr spc="-20"/>
              <a:t>uncertainty,</a:t>
            </a:r>
            <a:r>
              <a:rPr spc="0"/>
              <a:t> limits</a:t>
            </a:r>
            <a:r>
              <a:rPr spc="-5"/>
              <a:t> </a:t>
            </a:r>
            <a:r>
              <a:rPr spc="0"/>
              <a:t>and</a:t>
            </a:r>
            <a:r>
              <a:rPr spc="-20"/>
              <a:t> </a:t>
            </a:r>
            <a:r>
              <a:t>honest</a:t>
            </a:r>
          </a:p>
          <a:p>
            <a:pPr indent="12700">
              <a:defRPr spc="-10" sz="1400">
                <a:solidFill>
                  <a:srgbClr val="13203C"/>
                </a:solidFill>
              </a:defRPr>
            </a:pPr>
            <a:r>
              <a:t>reporting.</a:t>
            </a:r>
          </a:p>
          <a:p>
            <a:pPr marR="93980" indent="12700">
              <a:spcBef>
                <a:spcPts val="800"/>
              </a:spcBef>
              <a:defRPr spc="-10" sz="1400">
                <a:solidFill>
                  <a:srgbClr val="13203C"/>
                </a:solidFill>
              </a:defRPr>
            </a:pPr>
            <a:r>
              <a:t>Software</a:t>
            </a:r>
            <a:r>
              <a:rPr spc="-70"/>
              <a:t> </a:t>
            </a:r>
            <a:r>
              <a:rPr spc="0"/>
              <a:t>delivery:</a:t>
            </a:r>
            <a:r>
              <a:rPr spc="-40"/>
              <a:t> </a:t>
            </a:r>
            <a:r>
              <a:t>saved</a:t>
            </a:r>
            <a:r>
              <a:rPr spc="-40"/>
              <a:t> </a:t>
            </a:r>
            <a:r>
              <a:rPr spc="0"/>
              <a:t>results</a:t>
            </a:r>
            <a:r>
              <a:rPr spc="-20"/>
              <a:t> </a:t>
            </a:r>
            <a:r>
              <a:rPr spc="0"/>
              <a:t>and</a:t>
            </a:r>
            <a:r>
              <a:rPr spc="-40"/>
              <a:t> </a:t>
            </a:r>
            <a:r>
              <a:rPr spc="0"/>
              <a:t>models</a:t>
            </a:r>
            <a:r>
              <a:rPr spc="-40"/>
              <a:t> </a:t>
            </a:r>
            <a:r>
              <a:t>exposed </a:t>
            </a:r>
            <a:r>
              <a:rPr spc="0"/>
              <a:t>through</a:t>
            </a:r>
            <a:r>
              <a:rPr spc="-40"/>
              <a:t> </a:t>
            </a:r>
            <a:r>
              <a:rPr spc="0"/>
              <a:t>a</a:t>
            </a:r>
            <a:r>
              <a:rPr spc="-30"/>
              <a:t> </a:t>
            </a:r>
            <a:r>
              <a:t>validated</a:t>
            </a:r>
            <a:r>
              <a:rPr spc="-30"/>
              <a:t> </a:t>
            </a:r>
            <a:r>
              <a:rPr spc="-20"/>
              <a:t>API.</a:t>
            </a:r>
          </a:p>
        </p:txBody>
      </p:sp>
      <p:grpSp>
        <p:nvGrpSpPr>
          <p:cNvPr id="98" name="object 11"/>
          <p:cNvGrpSpPr/>
          <p:nvPr/>
        </p:nvGrpSpPr>
        <p:grpSpPr>
          <a:xfrm>
            <a:off x="7407401" y="5075682"/>
            <a:ext cx="4343401" cy="1188720"/>
            <a:chOff x="0" y="0"/>
            <a:chExt cx="4343400" cy="1188719"/>
          </a:xfrm>
        </p:grpSpPr>
        <p:sp>
          <p:nvSpPr>
            <p:cNvPr id="96" name="object 12"/>
            <p:cNvSpPr/>
            <p:nvPr/>
          </p:nvSpPr>
          <p:spPr>
            <a:xfrm>
              <a:off x="0" y="0"/>
              <a:ext cx="4343401" cy="118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64" y="0"/>
                  </a:moveTo>
                  <a:lnTo>
                    <a:pt x="236" y="0"/>
                  </a:lnTo>
                  <a:lnTo>
                    <a:pt x="144" y="68"/>
                  </a:lnTo>
                  <a:lnTo>
                    <a:pt x="69" y="253"/>
                  </a:lnTo>
                  <a:lnTo>
                    <a:pt x="19" y="528"/>
                  </a:lnTo>
                  <a:lnTo>
                    <a:pt x="0" y="863"/>
                  </a:lnTo>
                  <a:lnTo>
                    <a:pt x="0" y="20736"/>
                  </a:lnTo>
                  <a:lnTo>
                    <a:pt x="19" y="21072"/>
                  </a:lnTo>
                  <a:lnTo>
                    <a:pt x="69" y="21347"/>
                  </a:lnTo>
                  <a:lnTo>
                    <a:pt x="144" y="21532"/>
                  </a:lnTo>
                  <a:lnTo>
                    <a:pt x="236" y="21600"/>
                  </a:lnTo>
                  <a:lnTo>
                    <a:pt x="21364" y="21600"/>
                  </a:lnTo>
                  <a:lnTo>
                    <a:pt x="21456" y="21532"/>
                  </a:lnTo>
                  <a:lnTo>
                    <a:pt x="21531" y="21347"/>
                  </a:lnTo>
                  <a:lnTo>
                    <a:pt x="21581" y="21072"/>
                  </a:lnTo>
                  <a:lnTo>
                    <a:pt x="21600" y="20736"/>
                  </a:lnTo>
                  <a:lnTo>
                    <a:pt x="21600" y="863"/>
                  </a:lnTo>
                  <a:lnTo>
                    <a:pt x="21581" y="528"/>
                  </a:lnTo>
                  <a:lnTo>
                    <a:pt x="21531" y="253"/>
                  </a:lnTo>
                  <a:lnTo>
                    <a:pt x="21456" y="68"/>
                  </a:lnTo>
                  <a:lnTo>
                    <a:pt x="21364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" name="object 13"/>
            <p:cNvSpPr/>
            <p:nvPr/>
          </p:nvSpPr>
          <p:spPr>
            <a:xfrm>
              <a:off x="0" y="0"/>
              <a:ext cx="4343401" cy="118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3"/>
                  </a:moveTo>
                  <a:lnTo>
                    <a:pt x="19" y="528"/>
                  </a:lnTo>
                  <a:lnTo>
                    <a:pt x="69" y="253"/>
                  </a:lnTo>
                  <a:lnTo>
                    <a:pt x="144" y="68"/>
                  </a:lnTo>
                  <a:lnTo>
                    <a:pt x="236" y="0"/>
                  </a:lnTo>
                  <a:lnTo>
                    <a:pt x="21364" y="0"/>
                  </a:lnTo>
                  <a:lnTo>
                    <a:pt x="21456" y="68"/>
                  </a:lnTo>
                  <a:lnTo>
                    <a:pt x="21531" y="253"/>
                  </a:lnTo>
                  <a:lnTo>
                    <a:pt x="21581" y="528"/>
                  </a:lnTo>
                  <a:lnTo>
                    <a:pt x="21600" y="863"/>
                  </a:lnTo>
                  <a:lnTo>
                    <a:pt x="21600" y="20736"/>
                  </a:lnTo>
                  <a:lnTo>
                    <a:pt x="21581" y="21072"/>
                  </a:lnTo>
                  <a:lnTo>
                    <a:pt x="21531" y="21347"/>
                  </a:lnTo>
                  <a:lnTo>
                    <a:pt x="21456" y="21532"/>
                  </a:lnTo>
                  <a:lnTo>
                    <a:pt x="21364" y="21600"/>
                  </a:lnTo>
                  <a:lnTo>
                    <a:pt x="236" y="21600"/>
                  </a:lnTo>
                  <a:lnTo>
                    <a:pt x="144" y="21532"/>
                  </a:lnTo>
                  <a:lnTo>
                    <a:pt x="69" y="21347"/>
                  </a:lnTo>
                  <a:lnTo>
                    <a:pt x="19" y="21072"/>
                  </a:lnTo>
                  <a:lnTo>
                    <a:pt x="0" y="20736"/>
                  </a:lnTo>
                  <a:lnTo>
                    <a:pt x="0" y="863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9" name="object 14"/>
          <p:cNvSpPr txBox="1"/>
          <p:nvPr/>
        </p:nvSpPr>
        <p:spPr>
          <a:xfrm>
            <a:off x="7518654" y="5133361"/>
            <a:ext cx="3898901" cy="60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z="1300">
                <a:solidFill>
                  <a:srgbClr val="13203C"/>
                </a:solidFill>
              </a:defRPr>
            </a:pPr>
            <a:r>
              <a:t>SDG</a:t>
            </a:r>
            <a:r>
              <a:rPr spc="-55"/>
              <a:t> </a:t>
            </a:r>
            <a:r>
              <a:t>links</a:t>
            </a:r>
            <a:r>
              <a:rPr spc="-60"/>
              <a:t> </a:t>
            </a:r>
            <a:r>
              <a:t>(research</a:t>
            </a:r>
            <a:r>
              <a:rPr spc="-45"/>
              <a:t> </a:t>
            </a:r>
            <a:r>
              <a:t>direction</a:t>
            </a:r>
            <a:r>
              <a:rPr spc="-35"/>
              <a:t> </a:t>
            </a:r>
            <a:r>
              <a:rPr spc="-10"/>
              <a:t>only)</a:t>
            </a:r>
          </a:p>
          <a:p>
            <a:pPr indent="12700">
              <a:spcBef>
                <a:spcPts val="400"/>
              </a:spcBef>
              <a:defRPr sz="1200">
                <a:solidFill>
                  <a:srgbClr val="13203C"/>
                </a:solidFill>
              </a:defRPr>
            </a:pPr>
            <a:r>
              <a:t>SDG</a:t>
            </a:r>
            <a:r>
              <a:rPr spc="-5"/>
              <a:t> </a:t>
            </a:r>
            <a:r>
              <a:t>3 Good</a:t>
            </a:r>
            <a:r>
              <a:rPr spc="-10"/>
              <a:t> </a:t>
            </a:r>
            <a:r>
              <a:t>Health</a:t>
            </a:r>
            <a:r>
              <a:rPr spc="-5"/>
              <a:t> </a:t>
            </a:r>
            <a:r>
              <a:t>and</a:t>
            </a:r>
            <a:r>
              <a:rPr spc="-20"/>
              <a:t> </a:t>
            </a:r>
            <a:r>
              <a:rPr spc="-10"/>
              <a:t>Well-</a:t>
            </a:r>
            <a:r>
              <a:t>being;</a:t>
            </a:r>
            <a:r>
              <a:rPr spc="-35"/>
              <a:t> </a:t>
            </a:r>
            <a:r>
              <a:t>SDG</a:t>
            </a:r>
            <a:r>
              <a:rPr spc="5"/>
              <a:t> </a:t>
            </a:r>
            <a:r>
              <a:t>9 </a:t>
            </a:r>
            <a:r>
              <a:rPr spc="-20"/>
              <a:t>Industry,</a:t>
            </a:r>
            <a:r>
              <a:rPr spc="-40"/>
              <a:t> </a:t>
            </a:r>
            <a:r>
              <a:rPr spc="-10"/>
              <a:t>Innovation</a:t>
            </a:r>
          </a:p>
          <a:p>
            <a:pPr indent="12700">
              <a:defRPr sz="1200">
                <a:solidFill>
                  <a:srgbClr val="13203C"/>
                </a:solidFill>
              </a:defRPr>
            </a:pPr>
            <a:r>
              <a:t>and</a:t>
            </a:r>
            <a:r>
              <a:rPr spc="-20"/>
              <a:t> </a:t>
            </a:r>
            <a:r>
              <a:rPr spc="-10"/>
              <a:t>Infrastructure.</a:t>
            </a:r>
            <a:r>
              <a:rPr spc="-35"/>
              <a:t> </a:t>
            </a:r>
            <a:r>
              <a:t>Not</a:t>
            </a:r>
            <a:r>
              <a:rPr spc="-5"/>
              <a:t> </a:t>
            </a:r>
            <a:r>
              <a:rPr spc="-10"/>
              <a:t>approved</a:t>
            </a:r>
            <a:r>
              <a:rPr spc="-30"/>
              <a:t> </a:t>
            </a:r>
            <a:r>
              <a:t>for</a:t>
            </a:r>
            <a:r>
              <a:rPr spc="-20"/>
              <a:t> </a:t>
            </a:r>
            <a:r>
              <a:t>clinical</a:t>
            </a:r>
            <a:r>
              <a:rPr spc="5"/>
              <a:t> </a:t>
            </a:r>
            <a:r>
              <a:rPr spc="-20"/>
              <a:t>use.</a:t>
            </a:r>
          </a:p>
        </p:txBody>
      </p:sp>
      <p:sp>
        <p:nvSpPr>
          <p:cNvPr id="100" name="object 15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>
              <a:defRPr spc="-100"/>
            </a:pPr>
            <a:r>
              <a:t>Literature </a:t>
            </a:r>
            <a:r>
              <a:rPr spc="0"/>
              <a:t>review</a:t>
            </a:r>
            <a:r>
              <a:t> </a:t>
            </a:r>
            <a:r>
              <a:rPr spc="0"/>
              <a:t>and</a:t>
            </a:r>
            <a:r>
              <a:rPr spc="-200"/>
              <a:t> </a:t>
            </a:r>
            <a:r>
              <a:rPr spc="0"/>
              <a:t>research</a:t>
            </a:r>
            <a:r>
              <a:t> gap</a:t>
            </a:r>
          </a:p>
        </p:txBody>
      </p:sp>
      <p:graphicFrame>
        <p:nvGraphicFramePr>
          <p:cNvPr id="103" name="object 3"/>
          <p:cNvGraphicFramePr/>
          <p:nvPr/>
        </p:nvGraphicFramePr>
        <p:xfrm>
          <a:off x="450850" y="1136650"/>
          <a:ext cx="11247118" cy="36576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383279"/>
                <a:gridCol w="2926079"/>
                <a:gridCol w="2651759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b="1" spc="-20" sz="1300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b="1" spc="-10" sz="1300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Used</a:t>
                      </a:r>
                      <a:r>
                        <a:rPr spc="-25"/>
                        <a:t> </a:t>
                      </a:r>
                      <a:r>
                        <a:t>in</a:t>
                      </a:r>
                      <a:r>
                        <a:rPr spc="-20"/>
                        <a:t> </a:t>
                      </a:r>
                      <a:r>
                        <a:t>this</a:t>
                      </a:r>
                      <a:r>
                        <a:rPr spc="-10"/>
                        <a:t> project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Open</a:t>
                      </a:r>
                      <a:r>
                        <a:rPr spc="-35"/>
                        <a:t> </a:t>
                      </a:r>
                      <a:r>
                        <a:t>for</a:t>
                      </a:r>
                      <a:r>
                        <a:rPr spc="-35"/>
                        <a:t> </a:t>
                      </a:r>
                      <a:r>
                        <a:rPr spc="-25"/>
                        <a:t>MRI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GAN</a:t>
                      </a:r>
                      <a:r>
                        <a:rPr spc="-20"/>
                        <a:t> </a:t>
                      </a:r>
                      <a:r>
                        <a:t>–</a:t>
                      </a:r>
                      <a:r>
                        <a:rPr spc="-30"/>
                        <a:t> </a:t>
                      </a:r>
                      <a:r>
                        <a:t>Goodfellow et</a:t>
                      </a:r>
                      <a:r>
                        <a:rPr spc="-25"/>
                        <a:t> </a:t>
                      </a:r>
                      <a:r>
                        <a:t>al.</a:t>
                      </a:r>
                      <a:r>
                        <a:rPr spc="-40"/>
                        <a:t> </a:t>
                      </a:r>
                      <a:r>
                        <a:rPr spc="-25"/>
                        <a:t>[1]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Adversarial</a:t>
                      </a:r>
                      <a:r>
                        <a:rPr spc="5"/>
                        <a:t> </a:t>
                      </a:r>
                      <a:r>
                        <a:t>generator</a:t>
                      </a:r>
                      <a:r>
                        <a:rPr spc="-5"/>
                        <a:t> </a:t>
                      </a:r>
                      <a:r>
                        <a:rPr spc="0"/>
                        <a:t>vs</a:t>
                      </a:r>
                      <a:r>
                        <a:t> discriminator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DCGAN</a:t>
                      </a:r>
                      <a:r>
                        <a:rPr spc="-45"/>
                        <a:t> </a:t>
                      </a:r>
                      <a:r>
                        <a:t>objective</a:t>
                      </a:r>
                      <a:r>
                        <a:rPr spc="-45"/>
                        <a:t> </a:t>
                      </a:r>
                      <a:r>
                        <a:rPr spc="-20"/>
                        <a:t>(BCE)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Instability;</a:t>
                      </a:r>
                      <a:r>
                        <a:rPr spc="5"/>
                        <a:t> </a:t>
                      </a:r>
                      <a:r>
                        <a:rPr spc="0"/>
                        <a:t>no</a:t>
                      </a:r>
                      <a:r>
                        <a:rPr spc="5"/>
                        <a:t> </a:t>
                      </a:r>
                      <a:r>
                        <a:rPr spc="0"/>
                        <a:t>clinical</a:t>
                      </a:r>
                      <a:r>
                        <a:rPr spc="-15"/>
                        <a:t> </a:t>
                      </a:r>
                      <a:r>
                        <a:t>check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cGAN</a:t>
                      </a:r>
                      <a:r>
                        <a:rPr spc="-25"/>
                        <a:t> </a:t>
                      </a:r>
                      <a:r>
                        <a:t>–</a:t>
                      </a:r>
                      <a:r>
                        <a:rPr spc="-25"/>
                        <a:t> </a:t>
                      </a:r>
                      <a:r>
                        <a:t>Mirza</a:t>
                      </a:r>
                      <a:r>
                        <a:rPr spc="-30"/>
                        <a:t> </a:t>
                      </a:r>
                      <a:r>
                        <a:t>&amp;</a:t>
                      </a:r>
                      <a:r>
                        <a:rPr spc="-30"/>
                        <a:t> </a:t>
                      </a:r>
                      <a:r>
                        <a:t>Osindero</a:t>
                      </a:r>
                      <a:r>
                        <a:rPr spc="-5"/>
                        <a:t> </a:t>
                      </a:r>
                      <a:r>
                        <a:rPr spc="-25"/>
                        <a:t>[2]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Condition</a:t>
                      </a:r>
                      <a:r>
                        <a:rPr spc="-20"/>
                        <a:t> </a:t>
                      </a:r>
                      <a:r>
                        <a:t>on</a:t>
                      </a:r>
                      <a:r>
                        <a:rPr spc="-20"/>
                        <a:t> </a:t>
                      </a:r>
                      <a:r>
                        <a:t>a</a:t>
                      </a:r>
                      <a:r>
                        <a:rPr spc="-25"/>
                        <a:t> </a:t>
                      </a:r>
                      <a:r>
                        <a:rPr spc="-10"/>
                        <a:t>label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Label</a:t>
                      </a:r>
                      <a:r>
                        <a:rPr spc="-35"/>
                        <a:t> </a:t>
                      </a:r>
                      <a:r>
                        <a:t>embedding</a:t>
                      </a:r>
                      <a:r>
                        <a:rPr spc="-25"/>
                        <a:t> </a:t>
                      </a:r>
                      <a:r>
                        <a:t>in</a:t>
                      </a:r>
                      <a:r>
                        <a:rPr spc="-30"/>
                        <a:t> </a:t>
                      </a:r>
                      <a:r>
                        <a:rPr spc="-10"/>
                        <a:t>generator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Labels</a:t>
                      </a:r>
                      <a:r>
                        <a:rPr spc="-15"/>
                        <a:t> </a:t>
                      </a:r>
                      <a:r>
                        <a:t>may</a:t>
                      </a:r>
                      <a:r>
                        <a:rPr spc="-15"/>
                        <a:t> </a:t>
                      </a:r>
                      <a:r>
                        <a:t>not</a:t>
                      </a:r>
                      <a:r>
                        <a:rPr spc="-20"/>
                        <a:t> </a:t>
                      </a:r>
                      <a:r>
                        <a:t>be</a:t>
                      </a:r>
                      <a:r>
                        <a:rPr spc="-30"/>
                        <a:t> </a:t>
                      </a:r>
                      <a:r>
                        <a:rPr spc="-10"/>
                        <a:t>learned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63500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DCGAN</a:t>
                      </a:r>
                      <a:r>
                        <a:rPr spc="-20"/>
                        <a:t> </a:t>
                      </a:r>
                      <a:r>
                        <a:t>–</a:t>
                      </a:r>
                      <a:r>
                        <a:rPr spc="-25"/>
                        <a:t> </a:t>
                      </a:r>
                      <a:r>
                        <a:t>Radford</a:t>
                      </a:r>
                      <a:r>
                        <a:rPr spc="-30"/>
                        <a:t> </a:t>
                      </a:r>
                      <a:r>
                        <a:t>et</a:t>
                      </a:r>
                      <a:r>
                        <a:rPr spc="-25"/>
                        <a:t> </a:t>
                      </a:r>
                      <a:r>
                        <a:t>al.</a:t>
                      </a:r>
                      <a:r>
                        <a:rPr spc="-35"/>
                        <a:t> </a:t>
                      </a:r>
                      <a:r>
                        <a:rPr spc="-25"/>
                        <a:t>[3]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Stable</a:t>
                      </a:r>
                      <a:r>
                        <a:rPr spc="-40"/>
                        <a:t> </a:t>
                      </a:r>
                      <a:r>
                        <a:t>conv</a:t>
                      </a:r>
                      <a:r>
                        <a:rPr spc="-50"/>
                        <a:t> </a:t>
                      </a:r>
                      <a:r>
                        <a:rPr spc="-10"/>
                        <a:t>architecture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64×64 </a:t>
                      </a:r>
                      <a:r>
                        <a:rPr spc="-10"/>
                        <a:t>generator</a:t>
                      </a:r>
                      <a:r>
                        <a:rPr spc="-15"/>
                        <a:t> </a:t>
                      </a:r>
                      <a:r>
                        <a:t>/</a:t>
                      </a:r>
                      <a:r>
                        <a:rPr spc="-15"/>
                        <a:t> </a:t>
                      </a:r>
                      <a:r>
                        <a:rPr spc="-10"/>
                        <a:t>discriminator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Large</a:t>
                      </a:r>
                      <a:r>
                        <a:rPr spc="-40"/>
                        <a:t> </a:t>
                      </a:r>
                      <a:r>
                        <a:rPr spc="-10"/>
                        <a:t>natural-</a:t>
                      </a:r>
                      <a:r>
                        <a:t>image</a:t>
                      </a:r>
                      <a:r>
                        <a:rPr spc="-15"/>
                        <a:t> </a:t>
                      </a:r>
                      <a:r>
                        <a:rPr spc="-20"/>
                        <a:t>data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pc="-20" sz="1300">
                          <a:solidFill>
                            <a:srgbClr val="13203C"/>
                          </a:solidFill>
                        </a:defRPr>
                      </a:pPr>
                      <a:r>
                        <a:t>WGAN-</a:t>
                      </a:r>
                      <a:r>
                        <a:rPr spc="0"/>
                        <a:t>GP</a:t>
                      </a:r>
                      <a:r>
                        <a:rPr spc="5"/>
                        <a:t> </a:t>
                      </a:r>
                      <a:r>
                        <a:rPr spc="0"/>
                        <a:t>–</a:t>
                      </a:r>
                      <a:r>
                        <a:rPr spc="-25"/>
                        <a:t> </a:t>
                      </a:r>
                      <a:r>
                        <a:rPr spc="0"/>
                        <a:t>Arjovsky</a:t>
                      </a:r>
                      <a:r>
                        <a:rPr spc="-25"/>
                        <a:t> </a:t>
                      </a:r>
                      <a:r>
                        <a:rPr spc="0"/>
                        <a:t>[4],</a:t>
                      </a:r>
                      <a:r>
                        <a:rPr spc="-15"/>
                        <a:t> </a:t>
                      </a:r>
                      <a:r>
                        <a:rPr spc="0"/>
                        <a:t>Gulrajani</a:t>
                      </a:r>
                      <a:r>
                        <a:rPr spc="-15"/>
                        <a:t> </a:t>
                      </a:r>
                      <a:r>
                        <a:rPr spc="-25"/>
                        <a:t>[5]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Wasserstein</a:t>
                      </a:r>
                      <a:r>
                        <a:rPr spc="5"/>
                        <a:t> </a:t>
                      </a:r>
                      <a:r>
                        <a:rPr spc="0"/>
                        <a:t>critic</a:t>
                      </a:r>
                      <a:r>
                        <a:rPr spc="-45"/>
                        <a:t> </a:t>
                      </a:r>
                      <a:r>
                        <a:rPr spc="0"/>
                        <a:t>+</a:t>
                      </a:r>
                      <a:r>
                        <a:rPr spc="-35"/>
                        <a:t> </a:t>
                      </a:r>
                      <a:r>
                        <a:rPr spc="0"/>
                        <a:t>gradient</a:t>
                      </a:r>
                      <a:r>
                        <a:rPr spc="-30"/>
                        <a:t> </a:t>
                      </a:r>
                      <a:r>
                        <a:t>penalty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pc="-20" sz="1300">
                          <a:solidFill>
                            <a:srgbClr val="13203C"/>
                          </a:solidFill>
                        </a:defRPr>
                      </a:pPr>
                      <a:r>
                        <a:t>WGAN-</a:t>
                      </a:r>
                      <a:r>
                        <a:rPr spc="0"/>
                        <a:t>GP</a:t>
                      </a:r>
                      <a:r>
                        <a:rPr spc="60"/>
                        <a:t> </a:t>
                      </a:r>
                      <a:r>
                        <a:rPr spc="0"/>
                        <a:t>and</a:t>
                      </a:r>
                      <a:r>
                        <a:rPr spc="45"/>
                        <a:t> </a:t>
                      </a:r>
                      <a:r>
                        <a:t>cWGAN-</a:t>
                      </a:r>
                      <a:r>
                        <a:rPr spc="-25"/>
                        <a:t>GP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More</a:t>
                      </a:r>
                      <a:r>
                        <a:rPr spc="-55"/>
                        <a:t> </a:t>
                      </a:r>
                      <a:r>
                        <a:t>compute;</a:t>
                      </a:r>
                      <a:r>
                        <a:rPr spc="-35"/>
                        <a:t> </a:t>
                      </a:r>
                      <a:r>
                        <a:t>not</a:t>
                      </a:r>
                      <a:r>
                        <a:rPr spc="-45"/>
                        <a:t> </a:t>
                      </a:r>
                      <a:r>
                        <a:t>better</a:t>
                      </a:r>
                      <a:r>
                        <a:rPr spc="-35"/>
                        <a:t> </a:t>
                      </a:r>
                      <a:r>
                        <a:rPr spc="-20"/>
                        <a:t>here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63500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FID</a:t>
                      </a:r>
                      <a:r>
                        <a:rPr spc="-10"/>
                        <a:t> </a:t>
                      </a:r>
                      <a:r>
                        <a:t>–</a:t>
                      </a:r>
                      <a:r>
                        <a:rPr spc="-15"/>
                        <a:t> </a:t>
                      </a:r>
                      <a:r>
                        <a:t>Heusel</a:t>
                      </a:r>
                      <a:r>
                        <a:rPr spc="10"/>
                        <a:t> </a:t>
                      </a:r>
                      <a:r>
                        <a:t>et</a:t>
                      </a:r>
                      <a:r>
                        <a:rPr spc="-10"/>
                        <a:t> </a:t>
                      </a:r>
                      <a:r>
                        <a:t>al.</a:t>
                      </a:r>
                      <a:r>
                        <a:rPr spc="-15"/>
                        <a:t> </a:t>
                      </a:r>
                      <a:r>
                        <a:rPr spc="-25"/>
                        <a:t>[6]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Inception-</a:t>
                      </a:r>
                      <a:r>
                        <a:rPr spc="0"/>
                        <a:t>feature</a:t>
                      </a:r>
                      <a:r>
                        <a:rPr spc="-35"/>
                        <a:t> </a:t>
                      </a:r>
                      <a:r>
                        <a:rPr spc="0"/>
                        <a:t>Fréchet</a:t>
                      </a:r>
                      <a:r>
                        <a:rPr spc="-50"/>
                        <a:t> </a:t>
                      </a:r>
                      <a:r>
                        <a:t>distance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Main</a:t>
                      </a:r>
                      <a:r>
                        <a:rPr spc="-15"/>
                        <a:t> </a:t>
                      </a:r>
                      <a:r>
                        <a:t>quality</a:t>
                      </a:r>
                      <a:r>
                        <a:rPr spc="-20"/>
                        <a:t> score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ImageNet</a:t>
                      </a:r>
                      <a:r>
                        <a:rPr spc="-10"/>
                        <a:t> features;</a:t>
                      </a:r>
                      <a:r>
                        <a:rPr spc="-15"/>
                        <a:t> </a:t>
                      </a:r>
                      <a:r>
                        <a:rPr spc="-10"/>
                        <a:t>small-</a:t>
                      </a:r>
                      <a:r>
                        <a:t>n </a:t>
                      </a:r>
                      <a:r>
                        <a:rPr spc="-20"/>
                        <a:t>bias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KID</a:t>
                      </a:r>
                      <a:r>
                        <a:rPr spc="-10"/>
                        <a:t> </a:t>
                      </a:r>
                      <a:r>
                        <a:t>–</a:t>
                      </a:r>
                      <a:r>
                        <a:rPr spc="-15"/>
                        <a:t> </a:t>
                      </a:r>
                      <a:r>
                        <a:rPr spc="-10"/>
                        <a:t>Bińkowski</a:t>
                      </a:r>
                      <a:r>
                        <a:rPr spc="10"/>
                        <a:t> </a:t>
                      </a:r>
                      <a:r>
                        <a:t>et</a:t>
                      </a:r>
                      <a:r>
                        <a:rPr spc="-5"/>
                        <a:t> </a:t>
                      </a:r>
                      <a:r>
                        <a:t>al.</a:t>
                      </a:r>
                      <a:r>
                        <a:rPr spc="-20"/>
                        <a:t> </a:t>
                      </a:r>
                      <a:r>
                        <a:rPr spc="-25"/>
                        <a:t>[7]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Unbiased</a:t>
                      </a:r>
                      <a:r>
                        <a:rPr spc="-15"/>
                        <a:t> </a:t>
                      </a:r>
                      <a:r>
                        <a:t>MMD</a:t>
                      </a:r>
                      <a:r>
                        <a:rPr spc="-25"/>
                        <a:t> </a:t>
                      </a:r>
                      <a:r>
                        <a:t>on</a:t>
                      </a:r>
                      <a:r>
                        <a:rPr spc="-40"/>
                        <a:t> </a:t>
                      </a:r>
                      <a:r>
                        <a:t>Inception</a:t>
                      </a:r>
                      <a:r>
                        <a:rPr spc="-20"/>
                        <a:t> </a:t>
                      </a:r>
                      <a:r>
                        <a:rPr spc="-10"/>
                        <a:t>features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Second</a:t>
                      </a:r>
                      <a:r>
                        <a:rPr spc="-25"/>
                        <a:t> </a:t>
                      </a:r>
                      <a:r>
                        <a:t>quality</a:t>
                      </a:r>
                      <a:r>
                        <a:rPr spc="-25"/>
                        <a:t> </a:t>
                      </a:r>
                      <a:r>
                        <a:rPr spc="-20"/>
                        <a:t>score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Same</a:t>
                      </a:r>
                      <a:r>
                        <a:rPr spc="-25"/>
                        <a:t> </a:t>
                      </a:r>
                      <a:r>
                        <a:t>domain</a:t>
                      </a:r>
                      <a:r>
                        <a:rPr spc="-25"/>
                        <a:t> gap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63500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Projection</a:t>
                      </a:r>
                      <a:r>
                        <a:rPr spc="-25"/>
                        <a:t> </a:t>
                      </a:r>
                      <a:r>
                        <a:t>critic</a:t>
                      </a:r>
                      <a:r>
                        <a:rPr spc="-30"/>
                        <a:t> </a:t>
                      </a:r>
                      <a:r>
                        <a:t>–</a:t>
                      </a:r>
                      <a:r>
                        <a:rPr spc="-40"/>
                        <a:t> </a:t>
                      </a:r>
                      <a:r>
                        <a:t>Miyato</a:t>
                      </a:r>
                      <a:r>
                        <a:rPr spc="-20"/>
                        <a:t> </a:t>
                      </a:r>
                      <a:r>
                        <a:t>&amp;</a:t>
                      </a:r>
                      <a:r>
                        <a:rPr spc="-35"/>
                        <a:t> </a:t>
                      </a:r>
                      <a:r>
                        <a:rPr spc="-10"/>
                        <a:t>Koyama</a:t>
                      </a:r>
                      <a:r>
                        <a:rPr spc="-20"/>
                        <a:t> </a:t>
                      </a:r>
                      <a:r>
                        <a:rPr spc="-25"/>
                        <a:t>[8]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Class</a:t>
                      </a:r>
                      <a:r>
                        <a:rPr spc="-40"/>
                        <a:t> </a:t>
                      </a:r>
                      <a:r>
                        <a:t>embedding</a:t>
                      </a:r>
                      <a:r>
                        <a:rPr spc="-25"/>
                        <a:t> </a:t>
                      </a:r>
                      <a:r>
                        <a:t>projected</a:t>
                      </a:r>
                      <a:r>
                        <a:rPr spc="-30"/>
                        <a:t> </a:t>
                      </a:r>
                      <a:r>
                        <a:t>on</a:t>
                      </a:r>
                      <a:r>
                        <a:rPr spc="-30"/>
                        <a:t> </a:t>
                      </a:r>
                      <a:r>
                        <a:rPr spc="-10"/>
                        <a:t>features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defRPr spc="-20" sz="1300">
                          <a:solidFill>
                            <a:srgbClr val="13203C"/>
                          </a:solidFill>
                        </a:defRPr>
                      </a:pPr>
                      <a:r>
                        <a:t>cWGAN-</a:t>
                      </a:r>
                      <a:r>
                        <a:rPr spc="0"/>
                        <a:t>GP</a:t>
                      </a:r>
                      <a:r>
                        <a:rPr spc="70"/>
                        <a:t> </a:t>
                      </a:r>
                      <a:r>
                        <a:rPr spc="-10"/>
                        <a:t>critic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Needs</a:t>
                      </a:r>
                      <a:r>
                        <a:rPr spc="-35"/>
                        <a:t> </a:t>
                      </a:r>
                      <a:r>
                        <a:t>reliable</a:t>
                      </a:r>
                      <a:r>
                        <a:rPr spc="-40"/>
                        <a:t> </a:t>
                      </a:r>
                      <a:r>
                        <a:rPr spc="-10"/>
                        <a:t>labels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grpSp>
        <p:nvGrpSpPr>
          <p:cNvPr id="106" name="object 4"/>
          <p:cNvGrpSpPr/>
          <p:nvPr/>
        </p:nvGrpSpPr>
        <p:grpSpPr>
          <a:xfrm>
            <a:off x="457961" y="5075682"/>
            <a:ext cx="11247119" cy="1188720"/>
            <a:chOff x="0" y="0"/>
            <a:chExt cx="11247118" cy="1188719"/>
          </a:xfrm>
        </p:grpSpPr>
        <p:sp>
          <p:nvSpPr>
            <p:cNvPr id="104" name="object 5"/>
            <p:cNvSpPr/>
            <p:nvPr/>
          </p:nvSpPr>
          <p:spPr>
            <a:xfrm>
              <a:off x="0" y="0"/>
              <a:ext cx="11247120" cy="118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509" y="0"/>
                  </a:moveTo>
                  <a:lnTo>
                    <a:pt x="91" y="0"/>
                  </a:lnTo>
                  <a:lnTo>
                    <a:pt x="56" y="68"/>
                  </a:lnTo>
                  <a:lnTo>
                    <a:pt x="27" y="253"/>
                  </a:lnTo>
                  <a:lnTo>
                    <a:pt x="7" y="528"/>
                  </a:lnTo>
                  <a:lnTo>
                    <a:pt x="0" y="863"/>
                  </a:lnTo>
                  <a:lnTo>
                    <a:pt x="0" y="20736"/>
                  </a:lnTo>
                  <a:lnTo>
                    <a:pt x="7" y="21072"/>
                  </a:lnTo>
                  <a:lnTo>
                    <a:pt x="27" y="21347"/>
                  </a:lnTo>
                  <a:lnTo>
                    <a:pt x="56" y="21532"/>
                  </a:lnTo>
                  <a:lnTo>
                    <a:pt x="91" y="21600"/>
                  </a:lnTo>
                  <a:lnTo>
                    <a:pt x="21509" y="21600"/>
                  </a:lnTo>
                  <a:lnTo>
                    <a:pt x="21544" y="21532"/>
                  </a:lnTo>
                  <a:lnTo>
                    <a:pt x="21573" y="21347"/>
                  </a:lnTo>
                  <a:lnTo>
                    <a:pt x="21593" y="21072"/>
                  </a:lnTo>
                  <a:lnTo>
                    <a:pt x="21600" y="20736"/>
                  </a:lnTo>
                  <a:lnTo>
                    <a:pt x="21600" y="863"/>
                  </a:lnTo>
                  <a:lnTo>
                    <a:pt x="21593" y="528"/>
                  </a:lnTo>
                  <a:lnTo>
                    <a:pt x="21573" y="253"/>
                  </a:lnTo>
                  <a:lnTo>
                    <a:pt x="21544" y="68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E3F1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" name="object 6"/>
            <p:cNvSpPr/>
            <p:nvPr/>
          </p:nvSpPr>
          <p:spPr>
            <a:xfrm>
              <a:off x="0" y="0"/>
              <a:ext cx="11247120" cy="118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3"/>
                  </a:moveTo>
                  <a:lnTo>
                    <a:pt x="7" y="528"/>
                  </a:lnTo>
                  <a:lnTo>
                    <a:pt x="27" y="253"/>
                  </a:lnTo>
                  <a:lnTo>
                    <a:pt x="56" y="68"/>
                  </a:lnTo>
                  <a:lnTo>
                    <a:pt x="91" y="0"/>
                  </a:lnTo>
                  <a:lnTo>
                    <a:pt x="21509" y="0"/>
                  </a:lnTo>
                  <a:lnTo>
                    <a:pt x="21544" y="68"/>
                  </a:lnTo>
                  <a:lnTo>
                    <a:pt x="21573" y="253"/>
                  </a:lnTo>
                  <a:lnTo>
                    <a:pt x="21593" y="528"/>
                  </a:lnTo>
                  <a:lnTo>
                    <a:pt x="21600" y="863"/>
                  </a:lnTo>
                  <a:lnTo>
                    <a:pt x="21600" y="20736"/>
                  </a:lnTo>
                  <a:lnTo>
                    <a:pt x="21593" y="21072"/>
                  </a:lnTo>
                  <a:lnTo>
                    <a:pt x="21573" y="21347"/>
                  </a:lnTo>
                  <a:lnTo>
                    <a:pt x="21544" y="21532"/>
                  </a:lnTo>
                  <a:lnTo>
                    <a:pt x="21509" y="21600"/>
                  </a:lnTo>
                  <a:lnTo>
                    <a:pt x="91" y="21600"/>
                  </a:lnTo>
                  <a:lnTo>
                    <a:pt x="56" y="21532"/>
                  </a:lnTo>
                  <a:lnTo>
                    <a:pt x="27" y="21347"/>
                  </a:lnTo>
                  <a:lnTo>
                    <a:pt x="7" y="21072"/>
                  </a:lnTo>
                  <a:lnTo>
                    <a:pt x="0" y="20736"/>
                  </a:lnTo>
                  <a:lnTo>
                    <a:pt x="0" y="863"/>
                  </a:lnTo>
                  <a:close/>
                </a:path>
              </a:pathLst>
            </a:custGeom>
            <a:noFill/>
            <a:ln w="19812" cap="flat">
              <a:solidFill>
                <a:srgbClr val="2A9D8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7" name="object 7"/>
          <p:cNvSpPr txBox="1"/>
          <p:nvPr/>
        </p:nvSpPr>
        <p:spPr>
          <a:xfrm>
            <a:off x="568248" y="5132602"/>
            <a:ext cx="10731501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pc="-10" sz="1400">
                <a:solidFill>
                  <a:srgbClr val="13203C"/>
                </a:solidFill>
              </a:defRPr>
            </a:pPr>
            <a:r>
              <a:t>Research </a:t>
            </a:r>
            <a:r>
              <a:rPr spc="-25"/>
              <a:t>gap</a:t>
            </a:r>
          </a:p>
          <a:p>
            <a:pPr indent="12700">
              <a:spcBef>
                <a:spcPts val="400"/>
              </a:spcBef>
              <a:defRPr sz="1300">
                <a:solidFill>
                  <a:srgbClr val="13203C"/>
                </a:solidFill>
              </a:defRPr>
            </a:pPr>
            <a:r>
              <a:t>Are</a:t>
            </a:r>
            <a:r>
              <a:rPr spc="-35"/>
              <a:t> </a:t>
            </a:r>
            <a:r>
              <a:rPr spc="-10"/>
              <a:t>label-</a:t>
            </a:r>
            <a:r>
              <a:t>conditional</a:t>
            </a:r>
            <a:r>
              <a:rPr spc="5"/>
              <a:t> </a:t>
            </a:r>
            <a:r>
              <a:rPr spc="-20"/>
              <a:t>WGAN-</a:t>
            </a:r>
            <a:r>
              <a:t>GP images</a:t>
            </a:r>
            <a:r>
              <a:rPr spc="-25"/>
              <a:t> </a:t>
            </a:r>
            <a:r>
              <a:rPr spc="-10"/>
              <a:t>class-</a:t>
            </a:r>
            <a:r>
              <a:t>faithful</a:t>
            </a:r>
            <a:r>
              <a:rPr spc="15"/>
              <a:t> </a:t>
            </a:r>
            <a:r>
              <a:t>at</a:t>
            </a:r>
            <a:r>
              <a:rPr spc="-30"/>
              <a:t> </a:t>
            </a:r>
            <a:r>
              <a:t>64×64?</a:t>
            </a:r>
            <a:r>
              <a:rPr spc="245"/>
              <a:t> </a:t>
            </a:r>
            <a:r>
              <a:t>Does</a:t>
            </a:r>
            <a:r>
              <a:rPr spc="-10"/>
              <a:t> augmentation</a:t>
            </a:r>
            <a:r>
              <a:t> still</a:t>
            </a:r>
            <a:r>
              <a:rPr spc="-15"/>
              <a:t> </a:t>
            </a:r>
            <a:r>
              <a:t>help</a:t>
            </a:r>
            <a:r>
              <a:rPr spc="-20"/>
              <a:t> </a:t>
            </a:r>
            <a:r>
              <a:t>once</a:t>
            </a:r>
            <a:r>
              <a:rPr spc="-30"/>
              <a:t> </a:t>
            </a:r>
            <a:r>
              <a:t>training</a:t>
            </a:r>
            <a:r>
              <a:rPr spc="-20"/>
              <a:t> </a:t>
            </a:r>
            <a:r>
              <a:t>size</a:t>
            </a:r>
            <a:r>
              <a:rPr spc="-30"/>
              <a:t> </a:t>
            </a:r>
            <a:r>
              <a:t>is</a:t>
            </a:r>
            <a:r>
              <a:rPr spc="-40"/>
              <a:t> </a:t>
            </a:r>
            <a:r>
              <a:t>controlled?</a:t>
            </a:r>
            <a:r>
              <a:rPr spc="254"/>
              <a:t> </a:t>
            </a:r>
            <a:r>
              <a:t>Do</a:t>
            </a:r>
            <a:r>
              <a:rPr spc="-20"/>
              <a:t> </a:t>
            </a:r>
            <a:r>
              <a:t>gains</a:t>
            </a:r>
            <a:r>
              <a:rPr spc="-25"/>
              <a:t> </a:t>
            </a:r>
            <a:r>
              <a:t>survive</a:t>
            </a:r>
            <a:r>
              <a:rPr spc="-15"/>
              <a:t> </a:t>
            </a:r>
            <a:r>
              <a:t>removal</a:t>
            </a:r>
            <a:r>
              <a:rPr spc="-35"/>
              <a:t> </a:t>
            </a:r>
            <a:r>
              <a:t>of</a:t>
            </a:r>
            <a:r>
              <a:rPr spc="-30"/>
              <a:t> </a:t>
            </a:r>
            <a:r>
              <a:rPr spc="-10"/>
              <a:t>near-</a:t>
            </a:r>
          </a:p>
          <a:p>
            <a:pPr indent="12700">
              <a:defRPr sz="1300">
                <a:solidFill>
                  <a:srgbClr val="13203C"/>
                </a:solidFill>
              </a:defRPr>
            </a:pPr>
            <a:r>
              <a:t>duplicates?</a:t>
            </a:r>
            <a:r>
              <a:rPr spc="254"/>
              <a:t> </a:t>
            </a:r>
            <a:r>
              <a:rPr spc="-10"/>
              <a:t>(Foundational</a:t>
            </a:r>
            <a:r>
              <a:rPr spc="-5"/>
              <a:t> </a:t>
            </a:r>
            <a:r>
              <a:t>methods only;</a:t>
            </a:r>
            <a:r>
              <a:rPr spc="-15"/>
              <a:t> </a:t>
            </a:r>
            <a:r>
              <a:t>not</a:t>
            </a:r>
            <a:r>
              <a:rPr spc="-20"/>
              <a:t> </a:t>
            </a:r>
            <a:r>
              <a:t>a</a:t>
            </a:r>
            <a:r>
              <a:rPr spc="-25"/>
              <a:t> </a:t>
            </a:r>
            <a:r>
              <a:t>survey</a:t>
            </a:r>
            <a:r>
              <a:rPr spc="-20"/>
              <a:t> </a:t>
            </a:r>
            <a:r>
              <a:t>of</a:t>
            </a:r>
            <a:r>
              <a:rPr spc="-20"/>
              <a:t> </a:t>
            </a:r>
            <a:r>
              <a:t>medical</a:t>
            </a:r>
            <a:r>
              <a:rPr spc="-15"/>
              <a:t> </a:t>
            </a:r>
            <a:r>
              <a:t>GAN</a:t>
            </a:r>
            <a:r>
              <a:rPr spc="-15"/>
              <a:t> </a:t>
            </a:r>
            <a:r>
              <a:rPr spc="-10"/>
              <a:t>applications.)</a:t>
            </a:r>
          </a:p>
        </p:txBody>
      </p:sp>
      <p:sp>
        <p:nvSpPr>
          <p:cNvPr id="108" name="object 8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Dataset,</a:t>
            </a:r>
            <a:r>
              <a:rPr spc="-100"/>
              <a:t> de-</a:t>
            </a:r>
            <a:r>
              <a:t>duplication</a:t>
            </a:r>
            <a:r>
              <a:rPr spc="-100"/>
              <a:t> </a:t>
            </a:r>
            <a:r>
              <a:t>and</a:t>
            </a:r>
            <a:r>
              <a:rPr spc="-100"/>
              <a:t> </a:t>
            </a:r>
            <a:r>
              <a:t>final</a:t>
            </a:r>
            <a:r>
              <a:rPr spc="-100"/>
              <a:t> split</a:t>
            </a:r>
          </a:p>
        </p:txBody>
      </p:sp>
      <p:sp>
        <p:nvSpPr>
          <p:cNvPr id="111" name="object 3"/>
          <p:cNvSpPr txBox="1"/>
          <p:nvPr/>
        </p:nvSpPr>
        <p:spPr>
          <a:xfrm>
            <a:off x="554226" y="1140840"/>
            <a:ext cx="5807712" cy="2234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8435" marR="169545" indent="-165735">
              <a:spcBef>
                <a:spcPts val="1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Source:</a:t>
            </a:r>
            <a:r>
              <a:rPr spc="-45"/>
              <a:t> </a:t>
            </a:r>
            <a:r>
              <a:t>matches</a:t>
            </a:r>
            <a:r>
              <a:rPr spc="-20"/>
              <a:t> </a:t>
            </a:r>
            <a:r>
              <a:t>Kaggle</a:t>
            </a:r>
            <a:r>
              <a:rPr spc="-30"/>
              <a:t> </a:t>
            </a:r>
            <a:r>
              <a:t>‘Brain</a:t>
            </a:r>
            <a:r>
              <a:rPr spc="-35"/>
              <a:t> </a:t>
            </a:r>
            <a:r>
              <a:rPr spc="-20"/>
              <a:t>Tumor</a:t>
            </a:r>
            <a:r>
              <a:rPr spc="-40"/>
              <a:t> </a:t>
            </a:r>
            <a:r>
              <a:t>MRI</a:t>
            </a:r>
            <a:r>
              <a:rPr spc="-45"/>
              <a:t> </a:t>
            </a:r>
            <a:r>
              <a:t>Dataset’</a:t>
            </a:r>
            <a:r>
              <a:rPr spc="-10"/>
              <a:t> </a:t>
            </a:r>
            <a:r>
              <a:t>v2</a:t>
            </a:r>
            <a:r>
              <a:rPr spc="-30"/>
              <a:t> </a:t>
            </a:r>
            <a:r>
              <a:t>(M.</a:t>
            </a:r>
            <a:r>
              <a:rPr spc="-40"/>
              <a:t> </a:t>
            </a:r>
            <a:r>
              <a:rPr spc="-20"/>
              <a:t>Nickparvar,</a:t>
            </a:r>
            <a:r>
              <a:rPr spc="-35"/>
              <a:t> </a:t>
            </a:r>
            <a:r>
              <a:t>CC</a:t>
            </a:r>
            <a:r>
              <a:rPr spc="-30"/>
              <a:t> </a:t>
            </a:r>
            <a:r>
              <a:rPr spc="-25"/>
              <a:t>BY </a:t>
            </a:r>
            <a:r>
              <a:t>4.0)</a:t>
            </a:r>
            <a:r>
              <a:rPr spc="-45"/>
              <a:t> </a:t>
            </a:r>
            <a:r>
              <a:t>on</a:t>
            </a:r>
            <a:r>
              <a:rPr spc="-40"/>
              <a:t> </a:t>
            </a:r>
            <a:r>
              <a:t>counts</a:t>
            </a:r>
            <a:r>
              <a:rPr spc="-25"/>
              <a:t> </a:t>
            </a:r>
            <a:r>
              <a:t>and</a:t>
            </a:r>
            <a:r>
              <a:rPr spc="-30"/>
              <a:t> </a:t>
            </a:r>
            <a:r>
              <a:t>size:</a:t>
            </a:r>
            <a:r>
              <a:rPr spc="-25"/>
              <a:t> </a:t>
            </a:r>
            <a:r>
              <a:t>7,200</a:t>
            </a:r>
            <a:r>
              <a:rPr spc="-20"/>
              <a:t> </a:t>
            </a:r>
            <a:r>
              <a:t>images,</a:t>
            </a:r>
            <a:r>
              <a:rPr spc="-40"/>
              <a:t> </a:t>
            </a:r>
            <a:r>
              <a:t>1,400</a:t>
            </a:r>
            <a:r>
              <a:rPr spc="-25"/>
              <a:t> </a:t>
            </a:r>
            <a:r>
              <a:t>/</a:t>
            </a:r>
            <a:r>
              <a:rPr spc="-40"/>
              <a:t> </a:t>
            </a:r>
            <a:r>
              <a:t>400</a:t>
            </a:r>
            <a:r>
              <a:rPr spc="-30"/>
              <a:t> </a:t>
            </a:r>
            <a:r>
              <a:t>per</a:t>
            </a:r>
            <a:r>
              <a:rPr spc="-25"/>
              <a:t> </a:t>
            </a:r>
            <a:r>
              <a:t>class.</a:t>
            </a:r>
            <a:r>
              <a:rPr spc="-45"/>
              <a:t> </a:t>
            </a:r>
            <a:r>
              <a:t>Local</a:t>
            </a:r>
            <a:r>
              <a:rPr spc="-35"/>
              <a:t> </a:t>
            </a:r>
            <a:r>
              <a:rPr spc="-10"/>
              <a:t>download record</a:t>
            </a:r>
            <a:r>
              <a:rPr spc="-60"/>
              <a:t> </a:t>
            </a:r>
            <a:r>
              <a:t>UNVERIFIED;</a:t>
            </a:r>
            <a:r>
              <a:rPr spc="-50"/>
              <a:t> </a:t>
            </a:r>
            <a:r>
              <a:t>upstream</a:t>
            </a:r>
            <a:r>
              <a:rPr spc="-40"/>
              <a:t> </a:t>
            </a:r>
            <a:r>
              <a:t>sources</a:t>
            </a:r>
            <a:r>
              <a:rPr spc="-50"/>
              <a:t> </a:t>
            </a:r>
            <a:r>
              <a:t>may</a:t>
            </a:r>
            <a:r>
              <a:rPr spc="-45"/>
              <a:t> </a:t>
            </a:r>
            <a:r>
              <a:t>carry</a:t>
            </a:r>
            <a:r>
              <a:rPr spc="-60"/>
              <a:t> </a:t>
            </a:r>
            <a:r>
              <a:rPr spc="-10"/>
              <a:t>separate</a:t>
            </a:r>
            <a:r>
              <a:rPr spc="-45"/>
              <a:t> </a:t>
            </a:r>
            <a:r>
              <a:t>terms;</a:t>
            </a:r>
            <a:r>
              <a:rPr spc="-50"/>
              <a:t> </a:t>
            </a:r>
            <a:r>
              <a:rPr spc="-25"/>
              <a:t>not </a:t>
            </a:r>
            <a:r>
              <a:rPr spc="-10"/>
              <a:t>redistributed.</a:t>
            </a:r>
          </a:p>
          <a:p>
            <a:pPr marL="179070" indent="-166370">
              <a:spcBef>
                <a:spcPts val="5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Audit:</a:t>
            </a:r>
            <a:r>
              <a:rPr spc="-20"/>
              <a:t> </a:t>
            </a:r>
            <a:r>
              <a:t>1,076</a:t>
            </a:r>
            <a:r>
              <a:rPr spc="-20"/>
              <a:t> </a:t>
            </a:r>
            <a:r>
              <a:t>of</a:t>
            </a:r>
            <a:r>
              <a:rPr spc="-45"/>
              <a:t> </a:t>
            </a:r>
            <a:r>
              <a:t>1,600</a:t>
            </a:r>
            <a:r>
              <a:rPr spc="-30"/>
              <a:t> </a:t>
            </a:r>
            <a:r>
              <a:t>original</a:t>
            </a:r>
            <a:r>
              <a:rPr spc="-25"/>
              <a:t> </a:t>
            </a:r>
            <a:r>
              <a:t>test</a:t>
            </a:r>
            <a:r>
              <a:rPr spc="-40"/>
              <a:t> </a:t>
            </a:r>
            <a:r>
              <a:t>images</a:t>
            </a:r>
            <a:r>
              <a:rPr spc="-30"/>
              <a:t> </a:t>
            </a:r>
            <a:r>
              <a:t>had</a:t>
            </a:r>
            <a:r>
              <a:rPr spc="-35"/>
              <a:t> </a:t>
            </a:r>
            <a:r>
              <a:t>a</a:t>
            </a:r>
            <a:r>
              <a:rPr spc="-40"/>
              <a:t> </a:t>
            </a:r>
            <a:r>
              <a:rPr spc="-10"/>
              <a:t>near-</a:t>
            </a:r>
            <a:r>
              <a:t>identical</a:t>
            </a:r>
            <a:r>
              <a:rPr spc="-5"/>
              <a:t> </a:t>
            </a:r>
            <a:r>
              <a:rPr spc="-10"/>
              <a:t>training</a:t>
            </a:r>
            <a:r>
              <a:rPr spc="-30"/>
              <a:t> </a:t>
            </a:r>
            <a:r>
              <a:rPr spc="-10"/>
              <a:t>copy.</a:t>
            </a:r>
          </a:p>
          <a:p>
            <a:pPr marL="178435" indent="-165735">
              <a:spcBef>
                <a:spcPts val="6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Method:</a:t>
            </a:r>
            <a:r>
              <a:rPr spc="-25"/>
              <a:t> </a:t>
            </a:r>
            <a:r>
              <a:t>32×32</a:t>
            </a:r>
            <a:r>
              <a:rPr spc="-15"/>
              <a:t> </a:t>
            </a:r>
            <a:r>
              <a:t>cosine</a:t>
            </a:r>
            <a:r>
              <a:rPr spc="-40"/>
              <a:t> </a:t>
            </a:r>
            <a:r>
              <a:t>similarity</a:t>
            </a:r>
            <a:r>
              <a:rPr spc="-25"/>
              <a:t> </a:t>
            </a:r>
            <a:r>
              <a:t>over</a:t>
            </a:r>
            <a:r>
              <a:rPr spc="-50"/>
              <a:t> </a:t>
            </a:r>
            <a:r>
              <a:t>8</a:t>
            </a:r>
            <a:r>
              <a:rPr spc="-40"/>
              <a:t> </a:t>
            </a:r>
            <a:r>
              <a:rPr spc="-10"/>
              <a:t>orientations</a:t>
            </a:r>
            <a:r>
              <a:rPr spc="-25"/>
              <a:t> </a:t>
            </a:r>
            <a:r>
              <a:t>(≥</a:t>
            </a:r>
            <a:r>
              <a:rPr spc="-25"/>
              <a:t> </a:t>
            </a:r>
            <a:r>
              <a:t>0.98)</a:t>
            </a:r>
            <a:r>
              <a:rPr spc="-30"/>
              <a:t> </a:t>
            </a:r>
            <a:r>
              <a:t>→</a:t>
            </a:r>
            <a:r>
              <a:rPr spc="-50"/>
              <a:t> </a:t>
            </a:r>
            <a:r>
              <a:t>3,479</a:t>
            </a:r>
            <a:r>
              <a:rPr spc="-15"/>
              <a:t> </a:t>
            </a:r>
            <a:r>
              <a:rPr spc="-10"/>
              <a:t>clusters.</a:t>
            </a:r>
          </a:p>
          <a:p>
            <a:pPr marL="178435" marR="527684" indent="-165735">
              <a:spcBef>
                <a:spcPts val="600"/>
              </a:spcBef>
              <a:buSzPct val="100000"/>
              <a:buChar char="•"/>
              <a:tabLst>
                <a:tab pos="177800" algn="l"/>
              </a:tabLst>
              <a:defRPr spc="-10" sz="1400">
                <a:solidFill>
                  <a:srgbClr val="13203C"/>
                </a:solidFill>
              </a:defRPr>
            </a:pPr>
            <a:r>
              <a:t>Quarantined </a:t>
            </a:r>
            <a:r>
              <a:rPr spc="0"/>
              <a:t>207</a:t>
            </a:r>
            <a:r>
              <a:rPr spc="-20"/>
              <a:t> </a:t>
            </a:r>
            <a:r>
              <a:rPr spc="0"/>
              <a:t>images</a:t>
            </a:r>
            <a:r>
              <a:rPr spc="-15"/>
              <a:t> </a:t>
            </a:r>
            <a:r>
              <a:rPr spc="0"/>
              <a:t>(label</a:t>
            </a:r>
            <a:r>
              <a:rPr spc="-20"/>
              <a:t> </a:t>
            </a:r>
            <a:r>
              <a:rPr spc="0"/>
              <a:t>conflicts,</a:t>
            </a:r>
            <a:r>
              <a:rPr spc="-25"/>
              <a:t> </a:t>
            </a:r>
            <a:r>
              <a:rPr spc="-20"/>
              <a:t>augmented-</a:t>
            </a:r>
            <a:r>
              <a:rPr spc="0"/>
              <a:t>only</a:t>
            </a:r>
            <a:r>
              <a:rPr spc="-5"/>
              <a:t> </a:t>
            </a:r>
            <a:r>
              <a:t>clusters,</a:t>
            </a:r>
            <a:r>
              <a:rPr spc="-25"/>
              <a:t> </a:t>
            </a:r>
            <a:r>
              <a:rPr spc="-50"/>
              <a:t>4 </a:t>
            </a:r>
            <a:r>
              <a:t>refinement</a:t>
            </a:r>
            <a:r>
              <a:rPr spc="-15"/>
              <a:t> </a:t>
            </a:r>
            <a:r>
              <a:t>removals)</a:t>
            </a:r>
            <a:r>
              <a:rPr spc="-35"/>
              <a:t> </a:t>
            </a:r>
            <a:r>
              <a:rPr spc="0"/>
              <a:t>→</a:t>
            </a:r>
            <a:r>
              <a:rPr spc="-45"/>
              <a:t> </a:t>
            </a:r>
            <a:r>
              <a:rPr spc="0"/>
              <a:t>3,295</a:t>
            </a:r>
            <a:r>
              <a:rPr spc="-15"/>
              <a:t> </a:t>
            </a:r>
            <a:r>
              <a:rPr spc="0"/>
              <a:t>unique</a:t>
            </a:r>
            <a:r>
              <a:rPr spc="-15"/>
              <a:t> </a:t>
            </a:r>
            <a:r>
              <a:rPr spc="0"/>
              <a:t>images;</a:t>
            </a:r>
            <a:r>
              <a:rPr spc="-25"/>
              <a:t> </a:t>
            </a:r>
            <a:r>
              <a:rPr spc="0"/>
              <a:t>0</a:t>
            </a:r>
            <a:r>
              <a:rPr spc="-35"/>
              <a:t> </a:t>
            </a:r>
            <a:r>
              <a:t>clusters</a:t>
            </a:r>
            <a:r>
              <a:rPr spc="-30"/>
              <a:t> </a:t>
            </a:r>
            <a:r>
              <a:rPr spc="0"/>
              <a:t>cross</a:t>
            </a:r>
            <a:r>
              <a:rPr spc="-40"/>
              <a:t> </a:t>
            </a:r>
            <a:r>
              <a:t>partitions.</a:t>
            </a:r>
          </a:p>
        </p:txBody>
      </p:sp>
      <p:graphicFrame>
        <p:nvGraphicFramePr>
          <p:cNvPr id="112" name="object 4"/>
          <p:cNvGraphicFramePr/>
          <p:nvPr/>
        </p:nvGraphicFramePr>
        <p:xfrm>
          <a:off x="6760209" y="1182369"/>
          <a:ext cx="4937760" cy="15341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05839"/>
                <a:gridCol w="777240"/>
                <a:gridCol w="777240"/>
                <a:gridCol w="914400"/>
                <a:gridCol w="731520"/>
                <a:gridCol w="731520"/>
              </a:tblGrid>
              <a:tr h="3835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b="1" spc="-10" sz="1300">
                          <a:solidFill>
                            <a:srgbClr val="FFFFFF"/>
                          </a:solidFill>
                        </a:rPr>
                        <a:t>Partition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b="1" spc="-10" sz="1300">
                          <a:solidFill>
                            <a:srgbClr val="FFFFFF"/>
                          </a:solidFill>
                        </a:rPr>
                        <a:t>Glioma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b="1" spc="-10" sz="1300">
                          <a:solidFill>
                            <a:srgbClr val="FFFFFF"/>
                          </a:solidFill>
                        </a:rPr>
                        <a:t>Menin.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2540" algn="ctr">
                        <a:spcBef>
                          <a:spcPts val="100"/>
                        </a:spcBef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  <a:r>
                        <a:rPr spc="-10"/>
                        <a:t> tumour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b="1" spc="-10" sz="1300">
                          <a:solidFill>
                            <a:srgbClr val="FFFFFF"/>
                          </a:solidFill>
                        </a:rPr>
                        <a:t>Pituit.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b="1" spc="-10" sz="13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spc="-10" sz="1300">
                          <a:solidFill>
                            <a:srgbClr val="13203C"/>
                          </a:solidFill>
                        </a:rPr>
                        <a:t>Train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918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566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227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600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0" sz="1300">
                          <a:solidFill>
                            <a:srgbClr val="13203C"/>
                          </a:solidFill>
                        </a:rPr>
                        <a:t>2,311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Val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196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122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46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128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492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pc="-20" sz="1300">
                          <a:solidFill>
                            <a:srgbClr val="13203C"/>
                          </a:solidFill>
                        </a:rPr>
                        <a:t>Test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196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122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46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128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pc="-25" sz="1300">
                          <a:solidFill>
                            <a:srgbClr val="13203C"/>
                          </a:solidFill>
                        </a:rPr>
                        <a:t>492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pic>
        <p:nvPicPr>
          <p:cNvPr id="113" name="object 5" descr="object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6559" y="3227832"/>
            <a:ext cx="4937760" cy="90525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6" name="object 6"/>
          <p:cNvGrpSpPr/>
          <p:nvPr/>
        </p:nvGrpSpPr>
        <p:grpSpPr>
          <a:xfrm>
            <a:off x="457961" y="4755641"/>
            <a:ext cx="11247119" cy="1508760"/>
            <a:chOff x="0" y="0"/>
            <a:chExt cx="11247118" cy="1508759"/>
          </a:xfrm>
        </p:grpSpPr>
        <p:sp>
          <p:nvSpPr>
            <p:cNvPr id="114" name="object 7"/>
            <p:cNvSpPr/>
            <p:nvPr/>
          </p:nvSpPr>
          <p:spPr>
            <a:xfrm>
              <a:off x="0" y="0"/>
              <a:ext cx="11247120" cy="1508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84" y="0"/>
                  </a:moveTo>
                  <a:lnTo>
                    <a:pt x="116" y="0"/>
                  </a:lnTo>
                  <a:lnTo>
                    <a:pt x="71" y="68"/>
                  </a:lnTo>
                  <a:lnTo>
                    <a:pt x="34" y="253"/>
                  </a:lnTo>
                  <a:lnTo>
                    <a:pt x="9" y="528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9" y="21072"/>
                  </a:lnTo>
                  <a:lnTo>
                    <a:pt x="34" y="21347"/>
                  </a:lnTo>
                  <a:lnTo>
                    <a:pt x="71" y="21532"/>
                  </a:lnTo>
                  <a:lnTo>
                    <a:pt x="116" y="21600"/>
                  </a:lnTo>
                  <a:lnTo>
                    <a:pt x="21484" y="21600"/>
                  </a:lnTo>
                  <a:lnTo>
                    <a:pt x="21529" y="21532"/>
                  </a:lnTo>
                  <a:lnTo>
                    <a:pt x="21566" y="21347"/>
                  </a:lnTo>
                  <a:lnTo>
                    <a:pt x="21591" y="21072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91" y="528"/>
                  </a:lnTo>
                  <a:lnTo>
                    <a:pt x="21566" y="253"/>
                  </a:lnTo>
                  <a:lnTo>
                    <a:pt x="21529" y="68"/>
                  </a:lnTo>
                  <a:lnTo>
                    <a:pt x="21484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5" name="object 8"/>
            <p:cNvSpPr/>
            <p:nvPr/>
          </p:nvSpPr>
          <p:spPr>
            <a:xfrm>
              <a:off x="0" y="0"/>
              <a:ext cx="11247120" cy="1508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9" y="528"/>
                  </a:lnTo>
                  <a:lnTo>
                    <a:pt x="34" y="253"/>
                  </a:lnTo>
                  <a:lnTo>
                    <a:pt x="71" y="68"/>
                  </a:lnTo>
                  <a:lnTo>
                    <a:pt x="116" y="0"/>
                  </a:lnTo>
                  <a:lnTo>
                    <a:pt x="21484" y="0"/>
                  </a:lnTo>
                  <a:lnTo>
                    <a:pt x="21529" y="68"/>
                  </a:lnTo>
                  <a:lnTo>
                    <a:pt x="21566" y="253"/>
                  </a:lnTo>
                  <a:lnTo>
                    <a:pt x="21591" y="528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91" y="21072"/>
                  </a:lnTo>
                  <a:lnTo>
                    <a:pt x="21566" y="21347"/>
                  </a:lnTo>
                  <a:lnTo>
                    <a:pt x="21529" y="21532"/>
                  </a:lnTo>
                  <a:lnTo>
                    <a:pt x="21484" y="21600"/>
                  </a:lnTo>
                  <a:lnTo>
                    <a:pt x="116" y="21600"/>
                  </a:lnTo>
                  <a:lnTo>
                    <a:pt x="71" y="21532"/>
                  </a:lnTo>
                  <a:lnTo>
                    <a:pt x="34" y="21347"/>
                  </a:lnTo>
                  <a:lnTo>
                    <a:pt x="9" y="21072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7" name="object 9"/>
          <p:cNvSpPr txBox="1"/>
          <p:nvPr/>
        </p:nvSpPr>
        <p:spPr>
          <a:xfrm>
            <a:off x="571905" y="4390898"/>
            <a:ext cx="10955022" cy="133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6304915">
              <a:defRPr sz="1000">
                <a:solidFill>
                  <a:srgbClr val="545F6F"/>
                </a:solidFill>
              </a:defRPr>
            </a:pPr>
            <a:r>
              <a:t>Testing</a:t>
            </a:r>
            <a:r>
              <a:rPr spc="-9"/>
              <a:t> </a:t>
            </a:r>
            <a:r>
              <a:t>images</a:t>
            </a:r>
            <a:r>
              <a:rPr spc="-25"/>
              <a:t> </a:t>
            </a:r>
            <a:r>
              <a:t>(top)</a:t>
            </a:r>
            <a:r>
              <a:rPr spc="-39"/>
              <a:t> </a:t>
            </a:r>
            <a:r>
              <a:t>vs</a:t>
            </a:r>
            <a:r>
              <a:rPr spc="-19"/>
              <a:t> </a:t>
            </a:r>
            <a:r>
              <a:t>their</a:t>
            </a:r>
            <a:r>
              <a:rPr spc="-30"/>
              <a:t> </a:t>
            </a:r>
            <a:r>
              <a:rPr spc="-9"/>
              <a:t>Training</a:t>
            </a:r>
            <a:r>
              <a:rPr spc="-25"/>
              <a:t> </a:t>
            </a:r>
            <a:r>
              <a:t>copies</a:t>
            </a:r>
            <a:r>
              <a:rPr spc="-35"/>
              <a:t> </a:t>
            </a:r>
            <a:r>
              <a:t>(bottom);</a:t>
            </a:r>
            <a:r>
              <a:rPr spc="-35"/>
              <a:t> </a:t>
            </a:r>
            <a:r>
              <a:t>CC</a:t>
            </a:r>
            <a:r>
              <a:rPr spc="-19"/>
              <a:t> </a:t>
            </a:r>
            <a:r>
              <a:t>BY</a:t>
            </a:r>
            <a:r>
              <a:rPr spc="-19"/>
              <a:t> 4.0.</a:t>
            </a:r>
          </a:p>
          <a:p>
            <a:pPr>
              <a:spcBef>
                <a:spcPts val="900"/>
              </a:spcBef>
              <a:defRPr sz="1000"/>
            </a:pPr>
          </a:p>
          <a:p>
            <a:pPr indent="12700">
              <a:defRPr b="1" sz="1400">
                <a:solidFill>
                  <a:srgbClr val="13203C"/>
                </a:solidFill>
              </a:defRPr>
            </a:pPr>
            <a:r>
              <a:t>Residual</a:t>
            </a:r>
            <a:r>
              <a:rPr spc="-75"/>
              <a:t> </a:t>
            </a:r>
            <a:r>
              <a:rPr spc="-10"/>
              <a:t>uncertainty</a:t>
            </a:r>
          </a:p>
          <a:p>
            <a:pPr indent="12700">
              <a:spcBef>
                <a:spcPts val="400"/>
              </a:spcBef>
              <a:defRPr sz="1300">
                <a:solidFill>
                  <a:srgbClr val="13203C"/>
                </a:solidFill>
              </a:defRPr>
            </a:pPr>
            <a:r>
              <a:t>No</a:t>
            </a:r>
            <a:r>
              <a:rPr spc="-40"/>
              <a:t> </a:t>
            </a:r>
            <a:r>
              <a:t>patient</a:t>
            </a:r>
            <a:r>
              <a:rPr spc="-20"/>
              <a:t> </a:t>
            </a:r>
            <a:r>
              <a:t>identifiers:</a:t>
            </a:r>
            <a:r>
              <a:rPr spc="-25"/>
              <a:t> </a:t>
            </a:r>
            <a:r>
              <a:rPr spc="-10"/>
              <a:t>different</a:t>
            </a:r>
            <a:r>
              <a:rPr spc="-35"/>
              <a:t> </a:t>
            </a:r>
            <a:r>
              <a:t>slices</a:t>
            </a:r>
            <a:r>
              <a:rPr spc="-20"/>
              <a:t> </a:t>
            </a:r>
            <a:r>
              <a:t>of</a:t>
            </a:r>
            <a:r>
              <a:rPr spc="-30"/>
              <a:t> </a:t>
            </a:r>
            <a:r>
              <a:t>the</a:t>
            </a:r>
            <a:r>
              <a:rPr spc="-40"/>
              <a:t> </a:t>
            </a:r>
            <a:r>
              <a:t>same</a:t>
            </a:r>
            <a:r>
              <a:rPr spc="-15"/>
              <a:t> </a:t>
            </a:r>
            <a:r>
              <a:t>patient</a:t>
            </a:r>
            <a:r>
              <a:rPr spc="-20"/>
              <a:t> </a:t>
            </a:r>
            <a:r>
              <a:t>cannot</a:t>
            </a:r>
            <a:r>
              <a:rPr spc="-30"/>
              <a:t> </a:t>
            </a:r>
            <a:r>
              <a:t>be</a:t>
            </a:r>
            <a:r>
              <a:rPr spc="-40"/>
              <a:t> </a:t>
            </a:r>
            <a:r>
              <a:t>detected,</a:t>
            </a:r>
            <a:r>
              <a:rPr spc="-15"/>
              <a:t> </a:t>
            </a:r>
            <a:r>
              <a:t>so</a:t>
            </a:r>
            <a:r>
              <a:rPr spc="-35"/>
              <a:t> </a:t>
            </a:r>
            <a:r>
              <a:rPr spc="-10"/>
              <a:t>patient-</a:t>
            </a:r>
            <a:r>
              <a:t>level</a:t>
            </a:r>
            <a:r>
              <a:rPr spc="-10"/>
              <a:t> </a:t>
            </a:r>
            <a:r>
              <a:t>independence</a:t>
            </a:r>
            <a:r>
              <a:rPr spc="-15"/>
              <a:t> </a:t>
            </a:r>
            <a:r>
              <a:t>is</a:t>
            </a:r>
            <a:r>
              <a:rPr spc="-30"/>
              <a:t> </a:t>
            </a:r>
            <a:r>
              <a:t>NOT</a:t>
            </a:r>
            <a:r>
              <a:rPr spc="-40"/>
              <a:t> </a:t>
            </a:r>
            <a:r>
              <a:rPr spc="-10"/>
              <a:t>proven.</a:t>
            </a:r>
            <a:r>
              <a:rPr spc="-45"/>
              <a:t> </a:t>
            </a:r>
            <a:r>
              <a:rPr spc="-10"/>
              <a:t>Near-</a:t>
            </a:r>
            <a:r>
              <a:t>duplicate</a:t>
            </a:r>
            <a:r>
              <a:rPr spc="-15"/>
              <a:t> </a:t>
            </a:r>
            <a:r>
              <a:t>detection</a:t>
            </a:r>
            <a:r>
              <a:rPr spc="-20"/>
              <a:t> </a:t>
            </a:r>
            <a:r>
              <a:t>is</a:t>
            </a:r>
            <a:r>
              <a:rPr spc="-45"/>
              <a:t> </a:t>
            </a:r>
            <a:r>
              <a:t>a</a:t>
            </a:r>
            <a:r>
              <a:rPr spc="-30"/>
              <a:t> </a:t>
            </a:r>
            <a:r>
              <a:rPr spc="-10"/>
              <a:t>heuristic</a:t>
            </a:r>
          </a:p>
          <a:p>
            <a:pPr indent="12700">
              <a:defRPr sz="1300">
                <a:solidFill>
                  <a:srgbClr val="13203C"/>
                </a:solidFill>
              </a:defRPr>
            </a:pPr>
            <a:r>
              <a:t>and</a:t>
            </a:r>
            <a:r>
              <a:rPr spc="-30"/>
              <a:t> </a:t>
            </a:r>
            <a:r>
              <a:t>may</a:t>
            </a:r>
            <a:r>
              <a:rPr spc="-40"/>
              <a:t> </a:t>
            </a:r>
            <a:r>
              <a:t>miss</a:t>
            </a:r>
            <a:r>
              <a:rPr spc="-20"/>
              <a:t> </a:t>
            </a:r>
            <a:r>
              <a:t>rescaled</a:t>
            </a:r>
            <a:r>
              <a:rPr spc="-40"/>
              <a:t> </a:t>
            </a:r>
            <a:r>
              <a:rPr spc="-10"/>
              <a:t>copies.</a:t>
            </a:r>
          </a:p>
          <a:p>
            <a:pPr indent="12700">
              <a:spcBef>
                <a:spcPts val="300"/>
              </a:spcBef>
              <a:defRPr sz="1300">
                <a:solidFill>
                  <a:srgbClr val="13203C"/>
                </a:solidFill>
              </a:defRPr>
            </a:pPr>
            <a:r>
              <a:t>Cost:</a:t>
            </a:r>
            <a:r>
              <a:rPr spc="-20"/>
              <a:t> </a:t>
            </a:r>
            <a:r>
              <a:t>only</a:t>
            </a:r>
            <a:r>
              <a:rPr spc="-15"/>
              <a:t> </a:t>
            </a:r>
            <a:r>
              <a:t>3,295</a:t>
            </a:r>
            <a:r>
              <a:rPr spc="-10"/>
              <a:t> </a:t>
            </a:r>
            <a:r>
              <a:t>of</a:t>
            </a:r>
            <a:r>
              <a:rPr spc="-15"/>
              <a:t> </a:t>
            </a:r>
            <a:r>
              <a:t>7,200</a:t>
            </a:r>
            <a:r>
              <a:rPr spc="-10"/>
              <a:t> </a:t>
            </a:r>
            <a:r>
              <a:t>images</a:t>
            </a:r>
            <a:r>
              <a:rPr spc="-15"/>
              <a:t> </a:t>
            </a:r>
            <a:r>
              <a:t>usable;</a:t>
            </a:r>
            <a:r>
              <a:rPr spc="-5"/>
              <a:t> </a:t>
            </a:r>
            <a:r>
              <a:rPr spc="-10"/>
              <a:t>no-</a:t>
            </a:r>
            <a:r>
              <a:t>tumour has</a:t>
            </a:r>
            <a:r>
              <a:rPr spc="-15"/>
              <a:t> </a:t>
            </a:r>
            <a:r>
              <a:t>227</a:t>
            </a:r>
            <a:r>
              <a:rPr spc="-15"/>
              <a:t> </a:t>
            </a:r>
            <a:r>
              <a:t>training</a:t>
            </a:r>
            <a:r>
              <a:rPr spc="-25"/>
              <a:t> </a:t>
            </a:r>
            <a:r>
              <a:t>and</a:t>
            </a:r>
            <a:r>
              <a:rPr spc="-10"/>
              <a:t> </a:t>
            </a:r>
            <a:r>
              <a:t>46</a:t>
            </a:r>
            <a:r>
              <a:rPr spc="-25"/>
              <a:t> </a:t>
            </a:r>
            <a:r>
              <a:t>test</a:t>
            </a:r>
            <a:r>
              <a:rPr spc="-5"/>
              <a:t> </a:t>
            </a:r>
            <a:r>
              <a:rPr spc="-10"/>
              <a:t>images.</a:t>
            </a:r>
          </a:p>
        </p:txBody>
      </p:sp>
      <p:sp>
        <p:nvSpPr>
          <p:cNvPr id="118" name="object 10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Proposed</a:t>
            </a:r>
            <a:r>
              <a:rPr spc="-100"/>
              <a:t> </a:t>
            </a:r>
            <a:r>
              <a:t>methodology</a:t>
            </a:r>
            <a:r>
              <a:rPr spc="-100"/>
              <a:t> </a:t>
            </a:r>
            <a:r>
              <a:t>and</a:t>
            </a:r>
            <a:r>
              <a:rPr spc="-100"/>
              <a:t> experiment pipeline</a:t>
            </a:r>
          </a:p>
        </p:txBody>
      </p:sp>
      <p:pic>
        <p:nvPicPr>
          <p:cNvPr id="12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062" y="1051560"/>
            <a:ext cx="5102354" cy="534924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object 4"/>
          <p:cNvSpPr txBox="1"/>
          <p:nvPr/>
        </p:nvSpPr>
        <p:spPr>
          <a:xfrm>
            <a:off x="6132957" y="1231010"/>
            <a:ext cx="5541646" cy="3460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05740" marR="198120" indent="-193040">
              <a:buSzPct val="100000"/>
              <a:buChar char="•"/>
              <a:tabLst>
                <a:tab pos="203200" algn="l"/>
              </a:tabLst>
              <a:defRPr sz="1600">
                <a:solidFill>
                  <a:srgbClr val="13203C"/>
                </a:solidFill>
              </a:defRPr>
            </a:pPr>
            <a:r>
              <a:t>All</a:t>
            </a:r>
            <a:r>
              <a:rPr spc="-40"/>
              <a:t> </a:t>
            </a:r>
            <a:r>
              <a:t>three</a:t>
            </a:r>
            <a:r>
              <a:rPr spc="-15"/>
              <a:t> </a:t>
            </a:r>
            <a:r>
              <a:t>GANs</a:t>
            </a:r>
            <a:r>
              <a:rPr spc="-20"/>
              <a:t> </a:t>
            </a:r>
            <a:r>
              <a:t>train</a:t>
            </a:r>
            <a:r>
              <a:rPr spc="-35"/>
              <a:t> </a:t>
            </a:r>
            <a:r>
              <a:t>on</a:t>
            </a:r>
            <a:r>
              <a:rPr spc="-20"/>
              <a:t> </a:t>
            </a:r>
            <a:r>
              <a:t>the</a:t>
            </a:r>
            <a:r>
              <a:rPr spc="-20"/>
              <a:t> 2,311-</a:t>
            </a:r>
            <a:r>
              <a:t>image</a:t>
            </a:r>
            <a:r>
              <a:rPr spc="-15"/>
              <a:t> </a:t>
            </a:r>
            <a:r>
              <a:t>training</a:t>
            </a:r>
            <a:r>
              <a:rPr spc="-45"/>
              <a:t> </a:t>
            </a:r>
            <a:r>
              <a:t>partition</a:t>
            </a:r>
            <a:r>
              <a:rPr spc="-45"/>
              <a:t> </a:t>
            </a:r>
            <a:r>
              <a:rPr spc="-20"/>
              <a:t>only </a:t>
            </a:r>
            <a:r>
              <a:rPr spc="-10"/>
              <a:t>(hash-</a:t>
            </a:r>
            <a:r>
              <a:t>verified):</a:t>
            </a:r>
            <a:r>
              <a:rPr spc="-45"/>
              <a:t> </a:t>
            </a:r>
            <a:r>
              <a:t>64×64</a:t>
            </a:r>
            <a:r>
              <a:rPr spc="-5"/>
              <a:t> </a:t>
            </a:r>
            <a:r>
              <a:rPr spc="-10"/>
              <a:t>grayscale,</a:t>
            </a:r>
            <a:r>
              <a:rPr spc="-50"/>
              <a:t> </a:t>
            </a:r>
            <a:r>
              <a:t>batch</a:t>
            </a:r>
            <a:r>
              <a:rPr spc="-55"/>
              <a:t> </a:t>
            </a:r>
            <a:r>
              <a:t>16,</a:t>
            </a:r>
            <a:r>
              <a:rPr spc="-25"/>
              <a:t> </a:t>
            </a:r>
            <a:r>
              <a:t>seed</a:t>
            </a:r>
            <a:r>
              <a:rPr spc="-25"/>
              <a:t> </a:t>
            </a:r>
            <a:r>
              <a:t>42,</a:t>
            </a:r>
            <a:r>
              <a:rPr spc="-35"/>
              <a:t> </a:t>
            </a:r>
            <a:r>
              <a:rPr spc="-10"/>
              <a:t>3,000 generator</a:t>
            </a:r>
            <a:r>
              <a:rPr spc="-35"/>
              <a:t> </a:t>
            </a:r>
            <a:r>
              <a:rPr spc="-10"/>
              <a:t>updates.</a:t>
            </a:r>
          </a:p>
          <a:p>
            <a:pPr marL="205740" marR="332740" indent="-193040">
              <a:spcBef>
                <a:spcPts val="900"/>
              </a:spcBef>
              <a:buSzPct val="100000"/>
              <a:buChar char="•"/>
              <a:tabLst>
                <a:tab pos="203200" algn="l"/>
              </a:tabLst>
              <a:defRPr sz="1600">
                <a:solidFill>
                  <a:srgbClr val="13203C"/>
                </a:solidFill>
              </a:defRPr>
            </a:pPr>
            <a:r>
              <a:t>FID</a:t>
            </a:r>
            <a:r>
              <a:rPr spc="-25"/>
              <a:t> </a:t>
            </a:r>
            <a:r>
              <a:t>/</a:t>
            </a:r>
            <a:r>
              <a:rPr spc="-15"/>
              <a:t> </a:t>
            </a:r>
            <a:r>
              <a:t>KID:</a:t>
            </a:r>
            <a:r>
              <a:rPr spc="-15"/>
              <a:t> </a:t>
            </a:r>
            <a:r>
              <a:rPr spc="-20"/>
              <a:t>torch-</a:t>
            </a:r>
            <a:r>
              <a:t>fidelity</a:t>
            </a:r>
            <a:r>
              <a:rPr spc="-35"/>
              <a:t> </a:t>
            </a:r>
            <a:r>
              <a:rPr spc="-10"/>
              <a:t>Inception-</a:t>
            </a:r>
            <a:r>
              <a:t>v3</a:t>
            </a:r>
            <a:r>
              <a:rPr spc="-20"/>
              <a:t> </a:t>
            </a:r>
            <a:r>
              <a:t>pool3,</a:t>
            </a:r>
            <a:r>
              <a:rPr spc="-15"/>
              <a:t> </a:t>
            </a:r>
            <a:r>
              <a:t>492</a:t>
            </a:r>
            <a:r>
              <a:rPr spc="5"/>
              <a:t> </a:t>
            </a:r>
            <a:r>
              <a:rPr spc="-10"/>
              <a:t>generated</a:t>
            </a:r>
            <a:r>
              <a:rPr spc="-15"/>
              <a:t> </a:t>
            </a:r>
            <a:r>
              <a:rPr spc="-25"/>
              <a:t>vs </a:t>
            </a:r>
            <a:r>
              <a:t>492</a:t>
            </a:r>
            <a:r>
              <a:rPr spc="-20"/>
              <a:t> </a:t>
            </a:r>
            <a:r>
              <a:t>real</a:t>
            </a:r>
            <a:r>
              <a:rPr spc="-25"/>
              <a:t> </a:t>
            </a:r>
            <a:r>
              <a:t>test</a:t>
            </a:r>
            <a:r>
              <a:rPr spc="-35"/>
              <a:t> </a:t>
            </a:r>
            <a:r>
              <a:t>images</a:t>
            </a:r>
            <a:r>
              <a:rPr spc="-40"/>
              <a:t> </a:t>
            </a:r>
            <a:r>
              <a:t>per</a:t>
            </a:r>
            <a:r>
              <a:rPr spc="-20"/>
              <a:t> </a:t>
            </a:r>
            <a:r>
              <a:t>seed,</a:t>
            </a:r>
            <a:r>
              <a:rPr spc="-15"/>
              <a:t> </a:t>
            </a:r>
            <a:r>
              <a:t>3</a:t>
            </a:r>
            <a:r>
              <a:rPr spc="-30"/>
              <a:t> </a:t>
            </a:r>
            <a:r>
              <a:rPr spc="-10"/>
              <a:t>generation</a:t>
            </a:r>
            <a:r>
              <a:rPr spc="-25"/>
              <a:t> </a:t>
            </a:r>
            <a:r>
              <a:t>seeds,</a:t>
            </a:r>
            <a:r>
              <a:rPr spc="-15"/>
              <a:t> </a:t>
            </a:r>
            <a:r>
              <a:t>KID</a:t>
            </a:r>
            <a:r>
              <a:rPr spc="-30"/>
              <a:t> </a:t>
            </a:r>
            <a:r>
              <a:t>=</a:t>
            </a:r>
            <a:r>
              <a:rPr spc="-15"/>
              <a:t> </a:t>
            </a:r>
            <a:r>
              <a:rPr spc="-25"/>
              <a:t>100 </a:t>
            </a:r>
            <a:r>
              <a:t>subsets</a:t>
            </a:r>
            <a:r>
              <a:rPr spc="-20"/>
              <a:t> </a:t>
            </a:r>
            <a:r>
              <a:t>of</a:t>
            </a:r>
            <a:r>
              <a:rPr spc="-5"/>
              <a:t> </a:t>
            </a:r>
            <a:r>
              <a:t>300,</a:t>
            </a:r>
            <a:r>
              <a:rPr spc="-10"/>
              <a:t> </a:t>
            </a:r>
            <a:r>
              <a:t>plus</a:t>
            </a:r>
            <a:r>
              <a:rPr spc="-25"/>
              <a:t> </a:t>
            </a:r>
            <a:r>
              <a:t>a</a:t>
            </a:r>
            <a:r>
              <a:rPr spc="-35"/>
              <a:t> </a:t>
            </a:r>
            <a:r>
              <a:rPr spc="-20"/>
              <a:t>real-</a:t>
            </a:r>
            <a:r>
              <a:rPr spc="-10"/>
              <a:t>vs-</a:t>
            </a:r>
            <a:r>
              <a:t>real</a:t>
            </a:r>
            <a:r>
              <a:rPr spc="-5"/>
              <a:t> </a:t>
            </a:r>
            <a:r>
              <a:rPr spc="-10"/>
              <a:t>floor.</a:t>
            </a:r>
          </a:p>
          <a:p>
            <a:pPr marL="205740" marR="5080" indent="-193040">
              <a:spcBef>
                <a:spcPts val="900"/>
              </a:spcBef>
              <a:buSzPct val="100000"/>
              <a:buChar char="•"/>
              <a:tabLst>
                <a:tab pos="203200" algn="l"/>
              </a:tabLst>
              <a:defRPr spc="-10" sz="1600">
                <a:solidFill>
                  <a:srgbClr val="13203C"/>
                </a:solidFill>
              </a:defRPr>
            </a:pPr>
            <a:r>
              <a:t>Downstream</a:t>
            </a:r>
            <a:r>
              <a:rPr spc="-15"/>
              <a:t> </a:t>
            </a:r>
            <a:r>
              <a:rPr spc="0"/>
              <a:t>CNN</a:t>
            </a:r>
            <a:r>
              <a:rPr spc="-25"/>
              <a:t> </a:t>
            </a:r>
            <a:r>
              <a:rPr spc="0"/>
              <a:t>(4</a:t>
            </a:r>
            <a:r>
              <a:rPr spc="-25"/>
              <a:t> </a:t>
            </a:r>
            <a:r>
              <a:rPr spc="0"/>
              <a:t>conv</a:t>
            </a:r>
            <a:r>
              <a:rPr spc="-35"/>
              <a:t> </a:t>
            </a:r>
            <a:r>
              <a:rPr spc="0"/>
              <a:t>blocks,</a:t>
            </a:r>
            <a:r>
              <a:rPr spc="-30"/>
              <a:t> </a:t>
            </a:r>
            <a:r>
              <a:rPr spc="0"/>
              <a:t>15</a:t>
            </a:r>
            <a:r>
              <a:rPr spc="-25"/>
              <a:t> </a:t>
            </a:r>
            <a:r>
              <a:rPr spc="0"/>
              <a:t>epochs,</a:t>
            </a:r>
            <a:r>
              <a:rPr spc="-25"/>
              <a:t> </a:t>
            </a:r>
            <a:r>
              <a:rPr spc="0"/>
              <a:t>3</a:t>
            </a:r>
            <a:r>
              <a:rPr spc="-30"/>
              <a:t> </a:t>
            </a:r>
            <a:r>
              <a:rPr spc="0"/>
              <a:t>seeds):</a:t>
            </a:r>
            <a:r>
              <a:rPr spc="-30"/>
              <a:t> </a:t>
            </a:r>
            <a:r>
              <a:rPr spc="0"/>
              <a:t>A</a:t>
            </a:r>
            <a:r>
              <a:rPr spc="-45"/>
              <a:t> </a:t>
            </a:r>
            <a:r>
              <a:rPr spc="-20"/>
              <a:t>real </a:t>
            </a:r>
            <a:r>
              <a:rPr spc="0"/>
              <a:t>only;</a:t>
            </a:r>
            <a:r>
              <a:rPr spc="-35"/>
              <a:t> </a:t>
            </a:r>
            <a:r>
              <a:rPr spc="0"/>
              <a:t>B</a:t>
            </a:r>
            <a:r>
              <a:rPr spc="-30"/>
              <a:t> </a:t>
            </a:r>
            <a:r>
              <a:rPr spc="0"/>
              <a:t>real</a:t>
            </a:r>
            <a:r>
              <a:rPr spc="-25"/>
              <a:t> </a:t>
            </a:r>
            <a:r>
              <a:rPr spc="0"/>
              <a:t>+</a:t>
            </a:r>
            <a:r>
              <a:rPr spc="-25"/>
              <a:t> </a:t>
            </a:r>
            <a:r>
              <a:rPr spc="0"/>
              <a:t>2,888</a:t>
            </a:r>
            <a:r>
              <a:rPr spc="-5"/>
              <a:t> </a:t>
            </a:r>
            <a:r>
              <a:rPr spc="-20"/>
              <a:t>cWGAN-</a:t>
            </a:r>
            <a:r>
              <a:rPr spc="0"/>
              <a:t>GP</a:t>
            </a:r>
            <a:r>
              <a:rPr spc="-20"/>
              <a:t> </a:t>
            </a:r>
            <a:r>
              <a:rPr spc="0"/>
              <a:t>images;</a:t>
            </a:r>
            <a:r>
              <a:rPr spc="-45"/>
              <a:t> </a:t>
            </a:r>
            <a:r>
              <a:rPr spc="0"/>
              <a:t>C</a:t>
            </a:r>
            <a:r>
              <a:rPr spc="-35"/>
              <a:t> </a:t>
            </a:r>
            <a:r>
              <a:rPr spc="0"/>
              <a:t>real</a:t>
            </a:r>
            <a:r>
              <a:rPr spc="-25"/>
              <a:t> </a:t>
            </a:r>
            <a:r>
              <a:t>resampled</a:t>
            </a:r>
            <a:r>
              <a:rPr spc="-20"/>
              <a:t> </a:t>
            </a:r>
            <a:r>
              <a:rPr spc="0"/>
              <a:t>to</a:t>
            </a:r>
            <a:r>
              <a:rPr spc="-25"/>
              <a:t> </a:t>
            </a:r>
            <a:r>
              <a:t>B’s</a:t>
            </a:r>
            <a:r>
              <a:rPr spc="-25"/>
              <a:t> </a:t>
            </a:r>
            <a:r>
              <a:rPr spc="-20"/>
              <a:t>size </a:t>
            </a:r>
            <a:r>
              <a:rPr spc="0"/>
              <a:t>and</a:t>
            </a:r>
            <a:r>
              <a:rPr spc="-30"/>
              <a:t> </a:t>
            </a:r>
            <a:r>
              <a:rPr spc="0"/>
              <a:t>class</a:t>
            </a:r>
            <a:r>
              <a:rPr spc="-15"/>
              <a:t> </a:t>
            </a:r>
            <a:r>
              <a:rPr spc="-20"/>
              <a:t>mix.</a:t>
            </a:r>
          </a:p>
          <a:p>
            <a:pPr marL="205740" marR="152400" indent="-193040">
              <a:spcBef>
                <a:spcPts val="900"/>
              </a:spcBef>
              <a:buSzPct val="100000"/>
              <a:buChar char="•"/>
              <a:tabLst>
                <a:tab pos="203200" algn="l"/>
              </a:tabLst>
              <a:defRPr sz="1600">
                <a:solidFill>
                  <a:srgbClr val="13203C"/>
                </a:solidFill>
              </a:defRPr>
            </a:pPr>
            <a:r>
              <a:t>Why</a:t>
            </a:r>
            <a:r>
              <a:rPr spc="-15"/>
              <a:t> </a:t>
            </a:r>
            <a:r>
              <a:t>C</a:t>
            </a:r>
            <a:r>
              <a:rPr spc="-25"/>
              <a:t> </a:t>
            </a:r>
            <a:r>
              <a:rPr spc="-10"/>
              <a:t>matters:</a:t>
            </a:r>
            <a:r>
              <a:rPr spc="-25"/>
              <a:t> </a:t>
            </a:r>
            <a:r>
              <a:t>it</a:t>
            </a:r>
            <a:r>
              <a:rPr spc="-35"/>
              <a:t> </a:t>
            </a:r>
            <a:r>
              <a:rPr spc="-10"/>
              <a:t>controls training-</a:t>
            </a:r>
            <a:r>
              <a:t>set</a:t>
            </a:r>
            <a:r>
              <a:rPr spc="-30"/>
              <a:t> </a:t>
            </a:r>
            <a:r>
              <a:t>size,</a:t>
            </a:r>
            <a:r>
              <a:rPr spc="-30"/>
              <a:t> </a:t>
            </a:r>
            <a:r>
              <a:t>so</a:t>
            </a:r>
            <a:r>
              <a:rPr spc="-5"/>
              <a:t> </a:t>
            </a:r>
            <a:r>
              <a:t>only</a:t>
            </a:r>
            <a:r>
              <a:rPr spc="-25"/>
              <a:t> </a:t>
            </a:r>
            <a:r>
              <a:t>B</a:t>
            </a:r>
            <a:r>
              <a:rPr spc="-20"/>
              <a:t> </a:t>
            </a:r>
            <a:r>
              <a:t>&gt;</a:t>
            </a:r>
            <a:r>
              <a:rPr spc="-15"/>
              <a:t> </a:t>
            </a:r>
            <a:r>
              <a:t>C</a:t>
            </a:r>
            <a:r>
              <a:rPr spc="-20"/>
              <a:t> </a:t>
            </a:r>
            <a:r>
              <a:rPr spc="-10"/>
              <a:t>would </a:t>
            </a:r>
            <a:r>
              <a:t>indicate</a:t>
            </a:r>
            <a:r>
              <a:rPr spc="-65"/>
              <a:t> </a:t>
            </a:r>
            <a:r>
              <a:t>a</a:t>
            </a:r>
            <a:r>
              <a:rPr spc="-50"/>
              <a:t> </a:t>
            </a:r>
            <a:r>
              <a:t>benefit</a:t>
            </a:r>
            <a:r>
              <a:rPr spc="-40"/>
              <a:t> </a:t>
            </a:r>
            <a:r>
              <a:t>specific</a:t>
            </a:r>
            <a:r>
              <a:rPr spc="-55"/>
              <a:t> </a:t>
            </a:r>
            <a:r>
              <a:t>to</a:t>
            </a:r>
            <a:r>
              <a:rPr spc="-30"/>
              <a:t> </a:t>
            </a:r>
            <a:r>
              <a:rPr spc="-10"/>
              <a:t>synthetic</a:t>
            </a:r>
            <a:r>
              <a:rPr spc="-55"/>
              <a:t> </a:t>
            </a:r>
            <a:r>
              <a:rPr spc="-10"/>
              <a:t>images.</a:t>
            </a:r>
          </a:p>
          <a:p>
            <a:pPr marL="205740" indent="-193039">
              <a:spcBef>
                <a:spcPts val="900"/>
              </a:spcBef>
              <a:buSzPct val="100000"/>
              <a:buChar char="•"/>
              <a:tabLst>
                <a:tab pos="203200" algn="l"/>
              </a:tabLst>
              <a:defRPr spc="-10" sz="1600">
                <a:solidFill>
                  <a:srgbClr val="13203C"/>
                </a:solidFill>
              </a:defRPr>
            </a:pPr>
            <a:r>
              <a:t>Hardware:</a:t>
            </a:r>
            <a:r>
              <a:rPr spc="-20"/>
              <a:t> </a:t>
            </a:r>
            <a:r>
              <a:rPr spc="0"/>
              <a:t>Apple</a:t>
            </a:r>
            <a:r>
              <a:rPr spc="-40"/>
              <a:t> </a:t>
            </a:r>
            <a:r>
              <a:rPr spc="0"/>
              <a:t>M4</a:t>
            </a:r>
            <a:r>
              <a:rPr spc="-40"/>
              <a:t> </a:t>
            </a:r>
            <a:r>
              <a:rPr spc="0"/>
              <a:t>MacBook</a:t>
            </a:r>
            <a:r>
              <a:t> </a:t>
            </a:r>
            <a:r>
              <a:rPr spc="-25"/>
              <a:t>Air,</a:t>
            </a:r>
            <a:r>
              <a:rPr spc="-40"/>
              <a:t> </a:t>
            </a:r>
            <a:r>
              <a:rPr spc="-20"/>
              <a:t>PyTorch</a:t>
            </a:r>
            <a:r>
              <a:rPr spc="-15"/>
              <a:t> </a:t>
            </a:r>
            <a:r>
              <a:rPr spc="0"/>
              <a:t>on</a:t>
            </a:r>
            <a:r>
              <a:rPr spc="-25"/>
              <a:t> </a:t>
            </a:r>
            <a:r>
              <a:rPr spc="-20"/>
              <a:t>MPS.</a:t>
            </a:r>
          </a:p>
        </p:txBody>
      </p:sp>
      <p:sp>
        <p:nvSpPr>
          <p:cNvPr id="123" name="object 5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DCGAN</a:t>
            </a:r>
            <a:r>
              <a:rPr spc="-100"/>
              <a:t> </a:t>
            </a:r>
            <a:r>
              <a:t>vs</a:t>
            </a:r>
            <a:r>
              <a:rPr spc="-100"/>
              <a:t> WGAN-</a:t>
            </a:r>
            <a:r>
              <a:t>GP</a:t>
            </a:r>
            <a:r>
              <a:rPr spc="-100"/>
              <a:t> </a:t>
            </a:r>
            <a:r>
              <a:t>vs</a:t>
            </a:r>
            <a:r>
              <a:rPr spc="-100"/>
              <a:t> </a:t>
            </a:r>
            <a:r>
              <a:t>conditional</a:t>
            </a:r>
            <a:r>
              <a:rPr spc="-100"/>
              <a:t> WGAN-GP</a:t>
            </a:r>
          </a:p>
        </p:txBody>
      </p:sp>
      <p:graphicFrame>
        <p:nvGraphicFramePr>
          <p:cNvPr id="126" name="object 3"/>
          <p:cNvGraphicFramePr/>
          <p:nvPr/>
        </p:nvGraphicFramePr>
        <p:xfrm>
          <a:off x="450850" y="1136650"/>
          <a:ext cx="11247119" cy="352488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3120"/>
                <a:gridCol w="2926080"/>
                <a:gridCol w="2926079"/>
                <a:gridCol w="3291839"/>
              </a:tblGrid>
              <a:tr h="502919">
                <a:tc>
                  <a:txBody>
                    <a:bodyPr/>
                    <a:lstStyle/>
                    <a:p>
                      <a:pPr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spcBef>
                          <a:spcPts val="100"/>
                        </a:spcBef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DCGAN</a:t>
                      </a:r>
                      <a:r>
                        <a:rPr spc="-40"/>
                        <a:t> </a:t>
                      </a:r>
                      <a:r>
                        <a:rPr spc="-25"/>
                        <a:t>[3]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64135">
                        <a:spcBef>
                          <a:spcPts val="100"/>
                        </a:spcBef>
                        <a:defRPr b="1" spc="-20" sz="1300">
                          <a:solidFill>
                            <a:srgbClr val="FFFFFF"/>
                          </a:solidFill>
                        </a:defRPr>
                      </a:pPr>
                      <a:r>
                        <a:t>WGAN-</a:t>
                      </a:r>
                      <a:r>
                        <a:rPr spc="0"/>
                        <a:t>GP</a:t>
                      </a:r>
                      <a:r>
                        <a:rPr spc="15"/>
                        <a:t> </a:t>
                      </a:r>
                      <a:r>
                        <a:rPr spc="0"/>
                        <a:t>[4,</a:t>
                      </a:r>
                      <a:r>
                        <a:rPr spc="30"/>
                        <a:t> </a:t>
                      </a:r>
                      <a:r>
                        <a:rPr spc="-25"/>
                        <a:t>5]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64768">
                        <a:spcBef>
                          <a:spcPts val="100"/>
                        </a:spcBef>
                        <a:defRPr b="1" spc="-20" sz="1300">
                          <a:solidFill>
                            <a:srgbClr val="FFFFFF"/>
                          </a:solidFill>
                        </a:defRPr>
                      </a:pPr>
                      <a:r>
                        <a:t>cWGAN-</a:t>
                      </a:r>
                      <a:r>
                        <a:rPr spc="0"/>
                        <a:t>GP</a:t>
                      </a:r>
                      <a:r>
                        <a:rPr spc="20"/>
                        <a:t> </a:t>
                      </a:r>
                      <a:r>
                        <a:rPr spc="-10"/>
                        <a:t>(proposed)</a:t>
                      </a:r>
                      <a:r>
                        <a:rPr spc="5"/>
                        <a:t> </a:t>
                      </a:r>
                      <a:r>
                        <a:rPr spc="0"/>
                        <a:t>[2,</a:t>
                      </a:r>
                      <a:r>
                        <a:rPr spc="20"/>
                        <a:t> </a:t>
                      </a:r>
                      <a:r>
                        <a:rPr spc="0"/>
                        <a:t>5,</a:t>
                      </a:r>
                      <a:r>
                        <a:rPr spc="20"/>
                        <a:t> </a:t>
                      </a:r>
                      <a:r>
                        <a:rPr spc="-25"/>
                        <a:t>8]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300">
                          <a:solidFill>
                            <a:srgbClr val="13203C"/>
                          </a:solidFill>
                        </a:rPr>
                        <a:t>Generator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R="826769" indent="64135" algn="ctr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z</a:t>
                      </a:r>
                      <a:r>
                        <a:rPr spc="-5"/>
                        <a:t> </a:t>
                      </a:r>
                      <a:r>
                        <a:rPr spc="-10"/>
                        <a:t>(100-</a:t>
                      </a:r>
                      <a:r>
                        <a:t>d)</a:t>
                      </a:r>
                      <a:r>
                        <a:rPr spc="20"/>
                        <a:t> </a:t>
                      </a:r>
                      <a:r>
                        <a:t>→</a:t>
                      </a:r>
                      <a:r>
                        <a:rPr spc="-5"/>
                        <a:t> </a:t>
                      </a:r>
                      <a:r>
                        <a:rPr spc="-10"/>
                        <a:t>transposed</a:t>
                      </a:r>
                      <a:r>
                        <a:rPr spc="20"/>
                        <a:t> </a:t>
                      </a:r>
                      <a:r>
                        <a:rPr spc="-10"/>
                        <a:t>convs, </a:t>
                      </a:r>
                      <a:r>
                        <a:t>BatchNorm,</a:t>
                      </a:r>
                      <a:r>
                        <a:rPr spc="-75"/>
                        <a:t> </a:t>
                      </a:r>
                      <a:r>
                        <a:rPr spc="-20"/>
                        <a:t>Tanh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0" sz="1300">
                          <a:solidFill>
                            <a:srgbClr val="13203C"/>
                          </a:solidFill>
                        </a:rPr>
                        <a:t>Same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 algn="ctr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Label</a:t>
                      </a:r>
                      <a:r>
                        <a:rPr spc="-15"/>
                        <a:t> </a:t>
                      </a:r>
                      <a:r>
                        <a:t>embedding</a:t>
                      </a:r>
                      <a:r>
                        <a:rPr spc="-10"/>
                        <a:t> (50-</a:t>
                      </a:r>
                      <a:r>
                        <a:t>d)</a:t>
                      </a:r>
                      <a:r>
                        <a:rPr spc="-5"/>
                        <a:t> </a:t>
                      </a:r>
                      <a:r>
                        <a:rPr spc="-10"/>
                        <a:t>concatenated</a:t>
                      </a:r>
                      <a:r>
                        <a:rPr spc="-5"/>
                        <a:t> </a:t>
                      </a:r>
                      <a:r>
                        <a:t>to</a:t>
                      </a:r>
                      <a:r>
                        <a:rPr spc="-20"/>
                        <a:t> </a:t>
                      </a:r>
                      <a:r>
                        <a:rPr spc="-50"/>
                        <a:t>z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indent="63500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Discriminator</a:t>
                      </a:r>
                      <a:r>
                        <a:rPr spc="35"/>
                        <a:t> </a:t>
                      </a:r>
                      <a:r>
                        <a:rPr spc="0"/>
                        <a:t>/ </a:t>
                      </a:r>
                      <a:r>
                        <a:t>critic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Conv</a:t>
                      </a:r>
                      <a:r>
                        <a:rPr spc="-40"/>
                        <a:t> </a:t>
                      </a:r>
                      <a:r>
                        <a:t>+</a:t>
                      </a:r>
                      <a:r>
                        <a:rPr spc="-40"/>
                        <a:t> </a:t>
                      </a:r>
                      <a:r>
                        <a:t>BatchNorm,</a:t>
                      </a:r>
                      <a:r>
                        <a:rPr spc="-35"/>
                        <a:t> </a:t>
                      </a:r>
                      <a:r>
                        <a:rPr spc="-20"/>
                        <a:t>logit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spcBef>
                          <a:spcPts val="100"/>
                        </a:spcBef>
                        <a:defRPr spc="-20" sz="1300">
                          <a:solidFill>
                            <a:srgbClr val="13203C"/>
                          </a:solidFill>
                        </a:defRPr>
                      </a:pPr>
                      <a:r>
                        <a:t>Conv,</a:t>
                      </a:r>
                      <a:r>
                        <a:rPr spc="-50"/>
                        <a:t> </a:t>
                      </a:r>
                      <a:r>
                        <a:rPr spc="0"/>
                        <a:t>no</a:t>
                      </a:r>
                      <a:r>
                        <a:rPr spc="-40"/>
                        <a:t> </a:t>
                      </a:r>
                      <a:r>
                        <a:rPr spc="0"/>
                        <a:t>BatchNorm,</a:t>
                      </a:r>
                      <a:r>
                        <a:rPr spc="-40"/>
                        <a:t> </a:t>
                      </a:r>
                      <a:r>
                        <a:rPr spc="0"/>
                        <a:t>scalar</a:t>
                      </a:r>
                      <a:r>
                        <a:rPr spc="-45"/>
                        <a:t> </a:t>
                      </a:r>
                      <a:r>
                        <a:t>score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4365" indent="64768" algn="ctr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Projection</a:t>
                      </a:r>
                      <a:r>
                        <a:rPr spc="-35"/>
                        <a:t> </a:t>
                      </a:r>
                      <a:r>
                        <a:t>critic:</a:t>
                      </a:r>
                      <a:r>
                        <a:rPr spc="-50"/>
                        <a:t> </a:t>
                      </a:r>
                      <a:r>
                        <a:t>ψ(h(x))</a:t>
                      </a:r>
                      <a:r>
                        <a:rPr spc="-10"/>
                        <a:t> </a:t>
                      </a:r>
                      <a:r>
                        <a:t>+</a:t>
                      </a:r>
                      <a:r>
                        <a:rPr spc="-45"/>
                        <a:t> </a:t>
                      </a:r>
                      <a:r>
                        <a:t>E(y)·h(x),</a:t>
                      </a:r>
                      <a:r>
                        <a:rPr spc="-30"/>
                        <a:t> </a:t>
                      </a:r>
                      <a:r>
                        <a:rPr spc="-25"/>
                        <a:t>no </a:t>
                      </a:r>
                      <a:r>
                        <a:rPr spc="-10"/>
                        <a:t>BatchNorm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300">
                          <a:solidFill>
                            <a:srgbClr val="13203C"/>
                          </a:solidFill>
                        </a:rPr>
                        <a:t>Objective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Non-</a:t>
                      </a:r>
                      <a:r>
                        <a:rPr spc="0"/>
                        <a:t>saturating</a:t>
                      </a:r>
                      <a:r>
                        <a:rPr spc="-65"/>
                        <a:t> </a:t>
                      </a:r>
                      <a:r>
                        <a:rPr spc="-25"/>
                        <a:t>BCE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Wasserstein</a:t>
                      </a:r>
                      <a:r>
                        <a:rPr spc="15"/>
                        <a:t> </a:t>
                      </a:r>
                      <a:r>
                        <a:rPr spc="0"/>
                        <a:t>+</a:t>
                      </a:r>
                      <a:r>
                        <a:rPr spc="-25"/>
                        <a:t> </a:t>
                      </a:r>
                      <a:r>
                        <a:rPr spc="0"/>
                        <a:t>gradient</a:t>
                      </a:r>
                      <a:r>
                        <a:rPr spc="-20"/>
                        <a:t> </a:t>
                      </a:r>
                      <a:r>
                        <a:rPr spc="0"/>
                        <a:t>penalty</a:t>
                      </a:r>
                      <a:r>
                        <a:rPr spc="-20"/>
                        <a:t> </a:t>
                      </a:r>
                      <a:r>
                        <a:rPr spc="0"/>
                        <a:t>(λ</a:t>
                      </a:r>
                      <a:r>
                        <a:rPr spc="-25"/>
                        <a:t> </a:t>
                      </a:r>
                      <a:r>
                        <a:rPr spc="0"/>
                        <a:t>=</a:t>
                      </a:r>
                      <a:r>
                        <a:rPr spc="-25"/>
                        <a:t> 10)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 algn="ctr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Same</a:t>
                      </a:r>
                      <a:r>
                        <a:rPr spc="-15"/>
                        <a:t> </a:t>
                      </a:r>
                      <a:r>
                        <a:t>loss;</a:t>
                      </a:r>
                      <a:r>
                        <a:rPr spc="-5"/>
                        <a:t> </a:t>
                      </a:r>
                      <a:r>
                        <a:t>real</a:t>
                      </a:r>
                      <a:r>
                        <a:rPr spc="-30"/>
                        <a:t> </a:t>
                      </a:r>
                      <a:r>
                        <a:t>and</a:t>
                      </a:r>
                      <a:r>
                        <a:rPr spc="-10"/>
                        <a:t> fake</a:t>
                      </a:r>
                      <a:r>
                        <a:rPr spc="-25"/>
                        <a:t> </a:t>
                      </a:r>
                      <a:r>
                        <a:t>share</a:t>
                      </a:r>
                      <a:r>
                        <a:rPr spc="-25"/>
                        <a:t> </a:t>
                      </a:r>
                      <a:r>
                        <a:t>the</a:t>
                      </a:r>
                      <a:r>
                        <a:rPr spc="-10"/>
                        <a:t> </a:t>
                      </a:r>
                      <a:r>
                        <a:rPr spc="-20"/>
                        <a:t>label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indent="63500" algn="ctr">
                        <a:spcBef>
                          <a:spcPts val="100"/>
                        </a:spcBef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Optimiser</a:t>
                      </a:r>
                      <a:r>
                        <a:rPr spc="-30"/>
                        <a:t> </a:t>
                      </a:r>
                      <a:r>
                        <a:rPr spc="-10"/>
                        <a:t>(Adam)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2e-</a:t>
                      </a:r>
                      <a:r>
                        <a:rPr spc="0"/>
                        <a:t>4,</a:t>
                      </a:r>
                      <a:r>
                        <a:rPr spc="5"/>
                        <a:t> </a:t>
                      </a:r>
                      <a:r>
                        <a:rPr spc="0"/>
                        <a:t>β</a:t>
                      </a:r>
                      <a:r>
                        <a:t> </a:t>
                      </a:r>
                      <a:r>
                        <a:rPr spc="0"/>
                        <a:t>(0.5,</a:t>
                      </a:r>
                      <a:r>
                        <a:rPr spc="5"/>
                        <a:t> </a:t>
                      </a:r>
                      <a:r>
                        <a:t>0.999)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1e-</a:t>
                      </a:r>
                      <a:r>
                        <a:rPr spc="0"/>
                        <a:t>4, β</a:t>
                      </a:r>
                      <a:r>
                        <a:t> </a:t>
                      </a:r>
                      <a:r>
                        <a:rPr spc="0"/>
                        <a:t>(0.5,</a:t>
                      </a:r>
                      <a:r>
                        <a:rPr spc="10"/>
                        <a:t> </a:t>
                      </a:r>
                      <a:r>
                        <a:rPr spc="-20"/>
                        <a:t>0.9)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1e-</a:t>
                      </a:r>
                      <a:r>
                        <a:rPr spc="0"/>
                        <a:t>4,</a:t>
                      </a:r>
                      <a:r>
                        <a:rPr spc="5"/>
                        <a:t> </a:t>
                      </a:r>
                      <a:r>
                        <a:rPr spc="0"/>
                        <a:t>β</a:t>
                      </a:r>
                      <a:r>
                        <a:t> </a:t>
                      </a:r>
                      <a:r>
                        <a:rPr spc="0"/>
                        <a:t>(0.5,</a:t>
                      </a:r>
                      <a:r>
                        <a:rPr spc="5"/>
                        <a:t> </a:t>
                      </a:r>
                      <a:r>
                        <a:rPr spc="-20"/>
                        <a:t>0.9)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96569">
                <a:tc>
                  <a:txBody>
                    <a:bodyPr/>
                    <a:lstStyle/>
                    <a:p>
                      <a:pPr indent="63500" algn="ctr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Updates</a:t>
                      </a:r>
                      <a:r>
                        <a:rPr spc="-25"/>
                        <a:t> </a:t>
                      </a:r>
                      <a:r>
                        <a:t>for</a:t>
                      </a:r>
                      <a:r>
                        <a:rPr spc="-50"/>
                        <a:t> </a:t>
                      </a:r>
                      <a:r>
                        <a:t>3,000</a:t>
                      </a:r>
                      <a:r>
                        <a:rPr spc="-35"/>
                        <a:t> </a:t>
                      </a:r>
                      <a:r>
                        <a:rPr spc="-20"/>
                        <a:t>steps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3,000</a:t>
                      </a:r>
                      <a:r>
                        <a:rPr spc="-15"/>
                        <a:t> </a:t>
                      </a:r>
                      <a:r>
                        <a:rPr spc="-10"/>
                        <a:t>discriminator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135" algn="ctr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15,000</a:t>
                      </a:r>
                      <a:r>
                        <a:rPr spc="-5"/>
                        <a:t> </a:t>
                      </a:r>
                      <a:r>
                        <a:t>critic</a:t>
                      </a:r>
                      <a:r>
                        <a:rPr spc="-20"/>
                        <a:t> </a:t>
                      </a:r>
                      <a:r>
                        <a:t>(5</a:t>
                      </a:r>
                      <a:r>
                        <a:rPr spc="-15"/>
                        <a:t> </a:t>
                      </a:r>
                      <a:r>
                        <a:t>per</a:t>
                      </a:r>
                      <a:r>
                        <a:rPr spc="-15"/>
                        <a:t> </a:t>
                      </a:r>
                      <a:r>
                        <a:rPr spc="-10"/>
                        <a:t>step)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64768" algn="ctr">
                        <a:defRPr sz="1300">
                          <a:solidFill>
                            <a:srgbClr val="13203C"/>
                          </a:solidFill>
                        </a:defRPr>
                      </a:pPr>
                      <a:r>
                        <a:t>15,000</a:t>
                      </a:r>
                      <a:r>
                        <a:rPr spc="-5"/>
                        <a:t> </a:t>
                      </a:r>
                      <a:r>
                        <a:t>critic</a:t>
                      </a:r>
                      <a:r>
                        <a:rPr spc="-20"/>
                        <a:t> </a:t>
                      </a:r>
                      <a:r>
                        <a:t>(5</a:t>
                      </a:r>
                      <a:r>
                        <a:rPr spc="-15"/>
                        <a:t> </a:t>
                      </a:r>
                      <a:r>
                        <a:t>per</a:t>
                      </a:r>
                      <a:r>
                        <a:rPr spc="-15"/>
                        <a:t> </a:t>
                      </a:r>
                      <a:r>
                        <a:rPr spc="-10"/>
                        <a:t>step)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</a:tr>
              <a:tr h="50863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300">
                          <a:solidFill>
                            <a:srgbClr val="13203C"/>
                          </a:solidFill>
                        </a:rPr>
                        <a:t>Conditioning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0" sz="1300">
                          <a:solidFill>
                            <a:srgbClr val="13203C"/>
                          </a:solidFill>
                        </a:rPr>
                        <a:t>None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20" sz="1300">
                          <a:solidFill>
                            <a:srgbClr val="13203C"/>
                          </a:solidFill>
                        </a:rPr>
                        <a:t>None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4768" algn="ctr">
                        <a:spcBef>
                          <a:spcPts val="100"/>
                        </a:spcBef>
                        <a:defRPr spc="-10" sz="1300">
                          <a:solidFill>
                            <a:srgbClr val="13203C"/>
                          </a:solidFill>
                        </a:defRPr>
                      </a:pPr>
                      <a:r>
                        <a:t>Requested</a:t>
                      </a:r>
                      <a:r>
                        <a:rPr spc="0"/>
                        <a:t> class;</a:t>
                      </a:r>
                      <a:r>
                        <a:t> </a:t>
                      </a:r>
                      <a:r>
                        <a:rPr spc="0"/>
                        <a:t>no</a:t>
                      </a:r>
                      <a:r>
                        <a:t> </a:t>
                      </a:r>
                      <a:r>
                        <a:rPr spc="0"/>
                        <a:t>classifier</a:t>
                      </a:r>
                      <a:r>
                        <a:rPr spc="-5"/>
                        <a:t> </a:t>
                      </a:r>
                      <a:r>
                        <a:t>guidance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29" name="object 4"/>
          <p:cNvGrpSpPr/>
          <p:nvPr/>
        </p:nvGrpSpPr>
        <p:grpSpPr>
          <a:xfrm>
            <a:off x="457961" y="4892802"/>
            <a:ext cx="11247119" cy="1371601"/>
            <a:chOff x="0" y="0"/>
            <a:chExt cx="11247118" cy="1371600"/>
          </a:xfrm>
        </p:grpSpPr>
        <p:sp>
          <p:nvSpPr>
            <p:cNvPr id="127" name="object 5"/>
            <p:cNvSpPr/>
            <p:nvPr/>
          </p:nvSpPr>
          <p:spPr>
            <a:xfrm>
              <a:off x="0" y="0"/>
              <a:ext cx="11247120" cy="1371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5" y="0"/>
                  </a:moveTo>
                  <a:lnTo>
                    <a:pt x="105" y="0"/>
                  </a:lnTo>
                  <a:lnTo>
                    <a:pt x="64" y="68"/>
                  </a:lnTo>
                  <a:lnTo>
                    <a:pt x="31" y="253"/>
                  </a:lnTo>
                  <a:lnTo>
                    <a:pt x="8" y="527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8" y="21072"/>
                  </a:lnTo>
                  <a:lnTo>
                    <a:pt x="31" y="21347"/>
                  </a:lnTo>
                  <a:lnTo>
                    <a:pt x="64" y="21532"/>
                  </a:lnTo>
                  <a:lnTo>
                    <a:pt x="105" y="21600"/>
                  </a:lnTo>
                  <a:lnTo>
                    <a:pt x="21495" y="21600"/>
                  </a:lnTo>
                  <a:lnTo>
                    <a:pt x="21536" y="21532"/>
                  </a:lnTo>
                  <a:lnTo>
                    <a:pt x="21569" y="21347"/>
                  </a:lnTo>
                  <a:lnTo>
                    <a:pt x="21592" y="21072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92" y="527"/>
                  </a:lnTo>
                  <a:lnTo>
                    <a:pt x="21569" y="253"/>
                  </a:lnTo>
                  <a:lnTo>
                    <a:pt x="21536" y="68"/>
                  </a:lnTo>
                  <a:lnTo>
                    <a:pt x="21495" y="0"/>
                  </a:lnTo>
                  <a:close/>
                </a:path>
              </a:pathLst>
            </a:custGeom>
            <a:solidFill>
              <a:srgbClr val="E3F1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8" name="object 6"/>
            <p:cNvSpPr/>
            <p:nvPr/>
          </p:nvSpPr>
          <p:spPr>
            <a:xfrm>
              <a:off x="0" y="0"/>
              <a:ext cx="11247120" cy="1371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8" y="527"/>
                  </a:lnTo>
                  <a:lnTo>
                    <a:pt x="31" y="253"/>
                  </a:lnTo>
                  <a:lnTo>
                    <a:pt x="64" y="68"/>
                  </a:lnTo>
                  <a:lnTo>
                    <a:pt x="105" y="0"/>
                  </a:lnTo>
                  <a:lnTo>
                    <a:pt x="21495" y="0"/>
                  </a:lnTo>
                  <a:lnTo>
                    <a:pt x="21536" y="68"/>
                  </a:lnTo>
                  <a:lnTo>
                    <a:pt x="21569" y="253"/>
                  </a:lnTo>
                  <a:lnTo>
                    <a:pt x="21592" y="527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92" y="21072"/>
                  </a:lnTo>
                  <a:lnTo>
                    <a:pt x="21569" y="21347"/>
                  </a:lnTo>
                  <a:lnTo>
                    <a:pt x="21536" y="21532"/>
                  </a:lnTo>
                  <a:lnTo>
                    <a:pt x="21495" y="21600"/>
                  </a:lnTo>
                  <a:lnTo>
                    <a:pt x="105" y="21600"/>
                  </a:lnTo>
                  <a:lnTo>
                    <a:pt x="64" y="21532"/>
                  </a:lnTo>
                  <a:lnTo>
                    <a:pt x="31" y="21347"/>
                  </a:lnTo>
                  <a:lnTo>
                    <a:pt x="8" y="21072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2A9D8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30" name="object 7"/>
          <p:cNvSpPr txBox="1"/>
          <p:nvPr/>
        </p:nvSpPr>
        <p:spPr>
          <a:xfrm>
            <a:off x="570381" y="4951615"/>
            <a:ext cx="10523222" cy="976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z="1500">
                <a:solidFill>
                  <a:srgbClr val="13203C"/>
                </a:solidFill>
              </a:defRPr>
            </a:pPr>
            <a:r>
              <a:t>Reading</a:t>
            </a:r>
            <a:r>
              <a:rPr spc="-55"/>
              <a:t> </a:t>
            </a:r>
            <a:r>
              <a:t>the</a:t>
            </a:r>
            <a:r>
              <a:rPr spc="-40"/>
              <a:t> </a:t>
            </a:r>
            <a:r>
              <a:rPr spc="-10"/>
              <a:t>comparison</a:t>
            </a:r>
          </a:p>
          <a:p>
            <a:pPr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Only</a:t>
            </a:r>
            <a:r>
              <a:rPr spc="-30"/>
              <a:t> </a:t>
            </a:r>
            <a:r>
              <a:t>the</a:t>
            </a:r>
            <a:r>
              <a:rPr spc="-35"/>
              <a:t> </a:t>
            </a:r>
            <a:r>
              <a:rPr spc="-10"/>
              <a:t>cWGAN-</a:t>
            </a:r>
            <a:r>
              <a:t>GP</a:t>
            </a:r>
            <a:r>
              <a:rPr spc="-50"/>
              <a:t> </a:t>
            </a:r>
            <a:r>
              <a:rPr spc="-10"/>
              <a:t>receives</a:t>
            </a:r>
            <a:r>
              <a:rPr spc="-30"/>
              <a:t> </a:t>
            </a:r>
            <a:r>
              <a:t>the</a:t>
            </a:r>
            <a:r>
              <a:rPr spc="-30"/>
              <a:t> </a:t>
            </a:r>
            <a:r>
              <a:t>class</a:t>
            </a:r>
            <a:r>
              <a:rPr spc="-40"/>
              <a:t> </a:t>
            </a:r>
            <a:r>
              <a:t>label;</a:t>
            </a:r>
            <a:r>
              <a:rPr spc="-25"/>
              <a:t> </a:t>
            </a:r>
            <a:r>
              <a:t>all</a:t>
            </a:r>
            <a:r>
              <a:rPr spc="-30"/>
              <a:t> </a:t>
            </a:r>
            <a:r>
              <a:t>three</a:t>
            </a:r>
            <a:r>
              <a:rPr spc="-25"/>
              <a:t> </a:t>
            </a:r>
            <a:r>
              <a:t>share</a:t>
            </a:r>
            <a:r>
              <a:rPr spc="-35"/>
              <a:t> </a:t>
            </a:r>
            <a:r>
              <a:t>the</a:t>
            </a:r>
            <a:r>
              <a:rPr spc="-35"/>
              <a:t> </a:t>
            </a:r>
            <a:r>
              <a:rPr spc="-10"/>
              <a:t>generator</a:t>
            </a:r>
            <a:r>
              <a:rPr spc="-20"/>
              <a:t> </a:t>
            </a:r>
            <a:r>
              <a:t>stack</a:t>
            </a:r>
            <a:r>
              <a:rPr spc="-45"/>
              <a:t> </a:t>
            </a:r>
            <a:r>
              <a:t>and</a:t>
            </a:r>
            <a:r>
              <a:rPr spc="-30"/>
              <a:t> </a:t>
            </a:r>
            <a:r>
              <a:t>the</a:t>
            </a:r>
            <a:r>
              <a:rPr spc="-35"/>
              <a:t> </a:t>
            </a:r>
            <a:r>
              <a:t>same</a:t>
            </a:r>
            <a:r>
              <a:rPr spc="-40"/>
              <a:t> </a:t>
            </a:r>
            <a:r>
              <a:t>data,</a:t>
            </a:r>
            <a:r>
              <a:rPr spc="-20"/>
              <a:t> </a:t>
            </a:r>
            <a:r>
              <a:t>seed</a:t>
            </a:r>
            <a:r>
              <a:rPr spc="-40"/>
              <a:t> </a:t>
            </a:r>
            <a:r>
              <a:t>and</a:t>
            </a:r>
            <a:r>
              <a:rPr spc="-35"/>
              <a:t> </a:t>
            </a:r>
            <a:r>
              <a:t>batch</a:t>
            </a:r>
            <a:r>
              <a:rPr spc="-30"/>
              <a:t> </a:t>
            </a:r>
            <a:r>
              <a:rPr spc="-10"/>
              <a:t>size.</a:t>
            </a:r>
          </a:p>
          <a:p>
            <a:pPr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The</a:t>
            </a:r>
            <a:r>
              <a:rPr spc="-30"/>
              <a:t> </a:t>
            </a:r>
            <a:r>
              <a:t>WGAN</a:t>
            </a:r>
            <a:r>
              <a:rPr spc="-40"/>
              <a:t> </a:t>
            </a:r>
            <a:r>
              <a:rPr spc="-10"/>
              <a:t>variants</a:t>
            </a:r>
            <a:r>
              <a:rPr spc="-25"/>
              <a:t> </a:t>
            </a:r>
            <a:r>
              <a:t>use</a:t>
            </a:r>
            <a:r>
              <a:rPr spc="-30"/>
              <a:t> </a:t>
            </a:r>
            <a:r>
              <a:t>5x</a:t>
            </a:r>
            <a:r>
              <a:rPr spc="-25"/>
              <a:t> </a:t>
            </a:r>
            <a:r>
              <a:t>more</a:t>
            </a:r>
            <a:r>
              <a:rPr spc="-35"/>
              <a:t> </a:t>
            </a:r>
            <a:r>
              <a:t>critic</a:t>
            </a:r>
            <a:r>
              <a:rPr spc="-45"/>
              <a:t> </a:t>
            </a:r>
            <a:r>
              <a:t>updates</a:t>
            </a:r>
            <a:r>
              <a:rPr spc="-15"/>
              <a:t> </a:t>
            </a:r>
            <a:r>
              <a:t>than</a:t>
            </a:r>
            <a:r>
              <a:rPr spc="-20"/>
              <a:t> </a:t>
            </a:r>
            <a:r>
              <a:t>DCGAN's</a:t>
            </a:r>
            <a:r>
              <a:rPr spc="-40"/>
              <a:t> </a:t>
            </a:r>
            <a:r>
              <a:rPr spc="-10"/>
              <a:t>discriminator</a:t>
            </a:r>
            <a:r>
              <a:rPr spc="-30"/>
              <a:t> </a:t>
            </a:r>
            <a:r>
              <a:t>updates,</a:t>
            </a:r>
            <a:r>
              <a:rPr spc="-15"/>
              <a:t> </a:t>
            </a:r>
            <a:r>
              <a:t>so</a:t>
            </a:r>
            <a:r>
              <a:rPr spc="-30"/>
              <a:t> </a:t>
            </a:r>
            <a:r>
              <a:t>the</a:t>
            </a:r>
            <a:r>
              <a:rPr spc="-30"/>
              <a:t> </a:t>
            </a:r>
            <a:r>
              <a:t>comparison</a:t>
            </a:r>
            <a:r>
              <a:rPr spc="-40"/>
              <a:t> </a:t>
            </a:r>
            <a:r>
              <a:t>is</a:t>
            </a:r>
            <a:r>
              <a:rPr spc="-40"/>
              <a:t> </a:t>
            </a:r>
            <a:r>
              <a:t>not</a:t>
            </a:r>
            <a:r>
              <a:rPr spc="-25"/>
              <a:t> </a:t>
            </a:r>
            <a:r>
              <a:rPr spc="-10"/>
              <a:t>compute-matched;</a:t>
            </a:r>
            <a:r>
              <a:rPr spc="-20"/>
              <a:t> </a:t>
            </a:r>
            <a:r>
              <a:t>the</a:t>
            </a:r>
            <a:r>
              <a:rPr spc="-25"/>
              <a:t> </a:t>
            </a:r>
            <a:r>
              <a:rPr spc="-10"/>
              <a:t>architecture</a:t>
            </a:r>
          </a:p>
          <a:p>
            <a:pPr indent="12700">
              <a:defRPr sz="1400">
                <a:solidFill>
                  <a:srgbClr val="13203C"/>
                </a:solidFill>
              </a:defRPr>
            </a:pPr>
            <a:r>
              <a:t>diagram</a:t>
            </a:r>
            <a:r>
              <a:rPr spc="-55"/>
              <a:t> </a:t>
            </a:r>
            <a:r>
              <a:t>is</a:t>
            </a:r>
            <a:r>
              <a:rPr spc="-45"/>
              <a:t> </a:t>
            </a:r>
            <a:r>
              <a:t>in</a:t>
            </a:r>
            <a:r>
              <a:rPr spc="-40"/>
              <a:t> </a:t>
            </a:r>
            <a:r>
              <a:t>the</a:t>
            </a:r>
            <a:r>
              <a:rPr spc="-40"/>
              <a:t> </a:t>
            </a:r>
            <a:r>
              <a:t>report</a:t>
            </a:r>
            <a:r>
              <a:rPr spc="-40"/>
              <a:t> </a:t>
            </a:r>
            <a:r>
              <a:t>(Figure</a:t>
            </a:r>
            <a:r>
              <a:rPr spc="-45"/>
              <a:t> </a:t>
            </a:r>
            <a:r>
              <a:rPr spc="-20"/>
              <a:t>3.4).</a:t>
            </a:r>
          </a:p>
        </p:txBody>
      </p:sp>
      <p:sp>
        <p:nvSpPr>
          <p:cNvPr id="131" name="object 8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NeuroVision</a:t>
            </a:r>
            <a:r>
              <a:rPr spc="-100"/>
              <a:t> </a:t>
            </a:r>
            <a:r>
              <a:t>AI:</a:t>
            </a:r>
            <a:r>
              <a:rPr spc="-100"/>
              <a:t> architecture </a:t>
            </a:r>
            <a:r>
              <a:t>and</a:t>
            </a:r>
            <a:r>
              <a:rPr spc="-100"/>
              <a:t> interface</a:t>
            </a:r>
          </a:p>
        </p:txBody>
      </p:sp>
      <p:pic>
        <p:nvPicPr>
          <p:cNvPr id="13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1072896"/>
            <a:ext cx="5212080" cy="48950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70803" y="1097280"/>
            <a:ext cx="3014473" cy="2377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78240" y="1114044"/>
            <a:ext cx="3017521" cy="234391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9" name="object 6"/>
          <p:cNvGrpSpPr/>
          <p:nvPr/>
        </p:nvGrpSpPr>
        <p:grpSpPr>
          <a:xfrm>
            <a:off x="5670041" y="4709921"/>
            <a:ext cx="6126481" cy="1097282"/>
            <a:chOff x="0" y="0"/>
            <a:chExt cx="6126479" cy="1097281"/>
          </a:xfrm>
        </p:grpSpPr>
        <p:sp>
          <p:nvSpPr>
            <p:cNvPr id="137" name="object 7"/>
            <p:cNvSpPr/>
            <p:nvPr/>
          </p:nvSpPr>
          <p:spPr>
            <a:xfrm>
              <a:off x="0" y="0"/>
              <a:ext cx="6126481" cy="1097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45" y="0"/>
                  </a:moveTo>
                  <a:lnTo>
                    <a:pt x="155" y="0"/>
                  </a:lnTo>
                  <a:lnTo>
                    <a:pt x="95" y="68"/>
                  </a:lnTo>
                  <a:lnTo>
                    <a:pt x="45" y="253"/>
                  </a:lnTo>
                  <a:lnTo>
                    <a:pt x="12" y="528"/>
                  </a:lnTo>
                  <a:lnTo>
                    <a:pt x="0" y="865"/>
                  </a:lnTo>
                  <a:lnTo>
                    <a:pt x="0" y="20736"/>
                  </a:lnTo>
                  <a:lnTo>
                    <a:pt x="12" y="21072"/>
                  </a:lnTo>
                  <a:lnTo>
                    <a:pt x="45" y="21347"/>
                  </a:lnTo>
                  <a:lnTo>
                    <a:pt x="95" y="21532"/>
                  </a:lnTo>
                  <a:lnTo>
                    <a:pt x="155" y="21600"/>
                  </a:lnTo>
                  <a:lnTo>
                    <a:pt x="21445" y="21600"/>
                  </a:lnTo>
                  <a:lnTo>
                    <a:pt x="21505" y="21532"/>
                  </a:lnTo>
                  <a:lnTo>
                    <a:pt x="21555" y="21347"/>
                  </a:lnTo>
                  <a:lnTo>
                    <a:pt x="21588" y="21072"/>
                  </a:lnTo>
                  <a:lnTo>
                    <a:pt x="21600" y="20736"/>
                  </a:lnTo>
                  <a:lnTo>
                    <a:pt x="21600" y="865"/>
                  </a:lnTo>
                  <a:lnTo>
                    <a:pt x="21588" y="528"/>
                  </a:lnTo>
                  <a:lnTo>
                    <a:pt x="21555" y="253"/>
                  </a:lnTo>
                  <a:lnTo>
                    <a:pt x="21505" y="68"/>
                  </a:lnTo>
                  <a:lnTo>
                    <a:pt x="21445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object 8"/>
            <p:cNvSpPr/>
            <p:nvPr/>
          </p:nvSpPr>
          <p:spPr>
            <a:xfrm>
              <a:off x="0" y="0"/>
              <a:ext cx="6126481" cy="1097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5"/>
                  </a:moveTo>
                  <a:lnTo>
                    <a:pt x="12" y="528"/>
                  </a:lnTo>
                  <a:lnTo>
                    <a:pt x="45" y="253"/>
                  </a:lnTo>
                  <a:lnTo>
                    <a:pt x="95" y="68"/>
                  </a:lnTo>
                  <a:lnTo>
                    <a:pt x="155" y="0"/>
                  </a:lnTo>
                  <a:lnTo>
                    <a:pt x="21445" y="0"/>
                  </a:lnTo>
                  <a:lnTo>
                    <a:pt x="21505" y="68"/>
                  </a:lnTo>
                  <a:lnTo>
                    <a:pt x="21555" y="253"/>
                  </a:lnTo>
                  <a:lnTo>
                    <a:pt x="21588" y="528"/>
                  </a:lnTo>
                  <a:lnTo>
                    <a:pt x="21600" y="865"/>
                  </a:lnTo>
                  <a:lnTo>
                    <a:pt x="21600" y="20736"/>
                  </a:lnTo>
                  <a:lnTo>
                    <a:pt x="21588" y="21072"/>
                  </a:lnTo>
                  <a:lnTo>
                    <a:pt x="21555" y="21347"/>
                  </a:lnTo>
                  <a:lnTo>
                    <a:pt x="21505" y="21532"/>
                  </a:lnTo>
                  <a:lnTo>
                    <a:pt x="21445" y="21600"/>
                  </a:lnTo>
                  <a:lnTo>
                    <a:pt x="155" y="21600"/>
                  </a:lnTo>
                  <a:lnTo>
                    <a:pt x="95" y="21532"/>
                  </a:lnTo>
                  <a:lnTo>
                    <a:pt x="45" y="21347"/>
                  </a:lnTo>
                  <a:lnTo>
                    <a:pt x="12" y="21072"/>
                  </a:lnTo>
                  <a:lnTo>
                    <a:pt x="0" y="20736"/>
                  </a:lnTo>
                  <a:lnTo>
                    <a:pt x="0" y="865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40" name="object 9"/>
          <p:cNvSpPr txBox="1"/>
          <p:nvPr/>
        </p:nvSpPr>
        <p:spPr>
          <a:xfrm>
            <a:off x="5766942" y="3521710"/>
            <a:ext cx="5918836" cy="1833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000">
                <a:solidFill>
                  <a:srgbClr val="545F6F"/>
                </a:solidFill>
              </a:defRPr>
            </a:pPr>
            <a:r>
              <a:t>Genuine</a:t>
            </a:r>
            <a:r>
              <a:rPr spc="-35"/>
              <a:t> </a:t>
            </a:r>
            <a:r>
              <a:t>screenshots</a:t>
            </a:r>
            <a:r>
              <a:rPr spc="-15"/>
              <a:t> </a:t>
            </a:r>
            <a:r>
              <a:t>of</a:t>
            </a:r>
            <a:r>
              <a:rPr spc="-19"/>
              <a:t> </a:t>
            </a:r>
            <a:r>
              <a:t>the</a:t>
            </a:r>
            <a:r>
              <a:rPr spc="-9"/>
              <a:t> </a:t>
            </a:r>
            <a:r>
              <a:t>running</a:t>
            </a:r>
            <a:r>
              <a:rPr spc="-25"/>
              <a:t> </a:t>
            </a:r>
            <a:r>
              <a:t>application:</a:t>
            </a:r>
            <a:r>
              <a:rPr spc="-39"/>
              <a:t> </a:t>
            </a:r>
            <a:r>
              <a:t>dashboard</a:t>
            </a:r>
            <a:r>
              <a:rPr spc="-30"/>
              <a:t> </a:t>
            </a:r>
            <a:r>
              <a:t>(left)</a:t>
            </a:r>
            <a:r>
              <a:rPr spc="-30"/>
              <a:t> </a:t>
            </a:r>
            <a:r>
              <a:t>and</a:t>
            </a:r>
            <a:r>
              <a:rPr spc="-19"/>
              <a:t> </a:t>
            </a:r>
            <a:r>
              <a:t>generator</a:t>
            </a:r>
            <a:r>
              <a:rPr spc="-30"/>
              <a:t> </a:t>
            </a:r>
            <a:r>
              <a:rPr spc="-9"/>
              <a:t>(right).</a:t>
            </a:r>
          </a:p>
          <a:p>
            <a:pPr marR="5080" indent="12700">
              <a:spcBef>
                <a:spcPts val="1200"/>
              </a:spcBef>
              <a:defRPr sz="1200">
                <a:solidFill>
                  <a:srgbClr val="13203C"/>
                </a:solidFill>
              </a:defRPr>
            </a:pPr>
            <a:r>
              <a:t>Endpoints:</a:t>
            </a:r>
            <a:r>
              <a:rPr spc="-25"/>
              <a:t> </a:t>
            </a:r>
            <a:r>
              <a:rPr spc="-10"/>
              <a:t>/api/health,</a:t>
            </a:r>
            <a:r>
              <a:rPr spc="-5"/>
              <a:t> </a:t>
            </a:r>
            <a:r>
              <a:rPr spc="-10"/>
              <a:t>/models/status,</a:t>
            </a:r>
            <a:r>
              <a:rPr spc="-35"/>
              <a:t> </a:t>
            </a:r>
            <a:r>
              <a:rPr spc="-10"/>
              <a:t>/classify,</a:t>
            </a:r>
            <a:r>
              <a:rPr spc="-25"/>
              <a:t> </a:t>
            </a:r>
            <a:r>
              <a:rPr spc="-10"/>
              <a:t>/generate, </a:t>
            </a:r>
            <a:r>
              <a:t>/metrics,</a:t>
            </a:r>
            <a:r>
              <a:rPr spc="-10"/>
              <a:t> /experiment,</a:t>
            </a:r>
            <a:r>
              <a:rPr spc="-15"/>
              <a:t> </a:t>
            </a:r>
            <a:r>
              <a:rPr spc="-10"/>
              <a:t>/gallery. </a:t>
            </a:r>
            <a:r>
              <a:t>Models</a:t>
            </a:r>
            <a:r>
              <a:rPr spc="-20"/>
              <a:t> </a:t>
            </a:r>
            <a:r>
              <a:t>load</a:t>
            </a:r>
            <a:r>
              <a:rPr spc="-20"/>
              <a:t> </a:t>
            </a:r>
            <a:r>
              <a:t>once</a:t>
            </a:r>
            <a:r>
              <a:rPr spc="-15"/>
              <a:t> </a:t>
            </a:r>
            <a:r>
              <a:t>with</a:t>
            </a:r>
            <a:r>
              <a:rPr spc="-20"/>
              <a:t> </a:t>
            </a:r>
            <a:r>
              <a:t>strict</a:t>
            </a:r>
            <a:r>
              <a:rPr spc="-40"/>
              <a:t> </a:t>
            </a:r>
            <a:r>
              <a:t>checkpoint</a:t>
            </a:r>
            <a:r>
              <a:rPr spc="-20"/>
              <a:t> </a:t>
            </a:r>
            <a:r>
              <a:t>loading;</a:t>
            </a:r>
            <a:r>
              <a:rPr spc="-20"/>
              <a:t> </a:t>
            </a:r>
            <a:r>
              <a:t>an</a:t>
            </a:r>
            <a:r>
              <a:rPr spc="-15"/>
              <a:t> </a:t>
            </a:r>
            <a:r>
              <a:rPr spc="-10"/>
              <a:t>unavailable</a:t>
            </a:r>
            <a:r>
              <a:rPr spc="-5"/>
              <a:t> </a:t>
            </a:r>
            <a:r>
              <a:t>model</a:t>
            </a:r>
            <a:r>
              <a:rPr spc="-10"/>
              <a:t> </a:t>
            </a:r>
            <a:r>
              <a:t>gives</a:t>
            </a:r>
            <a:r>
              <a:rPr spc="-20"/>
              <a:t> </a:t>
            </a:r>
            <a:r>
              <a:t>an</a:t>
            </a:r>
            <a:r>
              <a:rPr spc="-15"/>
              <a:t> </a:t>
            </a:r>
            <a:r>
              <a:rPr spc="-10"/>
              <a:t>honest </a:t>
            </a:r>
            <a:r>
              <a:rPr spc="-20"/>
              <a:t>error,</a:t>
            </a:r>
            <a:r>
              <a:rPr spc="-15"/>
              <a:t> </a:t>
            </a:r>
            <a:r>
              <a:t>never</a:t>
            </a:r>
            <a:r>
              <a:rPr spc="-40"/>
              <a:t> </a:t>
            </a:r>
            <a:r>
              <a:t>a</a:t>
            </a:r>
            <a:r>
              <a:rPr spc="-25"/>
              <a:t> </a:t>
            </a:r>
            <a:r>
              <a:rPr spc="-10"/>
              <a:t>substitute.</a:t>
            </a:r>
          </a:p>
          <a:p>
            <a:pPr>
              <a:spcBef>
                <a:spcPts val="1200"/>
              </a:spcBef>
              <a:defRPr sz="1200"/>
            </a:pPr>
          </a:p>
          <a:p>
            <a:pPr indent="25400">
              <a:defRPr b="1" sz="1300">
                <a:solidFill>
                  <a:srgbClr val="13203C"/>
                </a:solidFill>
              </a:defRPr>
            </a:pPr>
            <a:r>
              <a:t>Critical</a:t>
            </a:r>
            <a:r>
              <a:rPr spc="-45"/>
              <a:t> </a:t>
            </a:r>
            <a:r>
              <a:rPr spc="-10"/>
              <a:t>distinction</a:t>
            </a:r>
          </a:p>
          <a:p>
            <a:pPr marR="636269" indent="25400">
              <a:spcBef>
                <a:spcPts val="400"/>
              </a:spcBef>
              <a:defRPr sz="1200">
                <a:solidFill>
                  <a:srgbClr val="13203C"/>
                </a:solidFill>
              </a:defRPr>
            </a:pPr>
            <a:r>
              <a:t>Classify</a:t>
            </a:r>
            <a:r>
              <a:rPr spc="-5"/>
              <a:t> </a:t>
            </a:r>
            <a:r>
              <a:t>MRI</a:t>
            </a:r>
            <a:r>
              <a:rPr spc="-10"/>
              <a:t> </a:t>
            </a:r>
            <a:r>
              <a:t>uses a</a:t>
            </a:r>
            <a:r>
              <a:rPr spc="-5"/>
              <a:t> </a:t>
            </a:r>
            <a:r>
              <a:rPr spc="-10"/>
              <a:t>third-</a:t>
            </a:r>
            <a:r>
              <a:t>party</a:t>
            </a:r>
            <a:r>
              <a:rPr spc="-35"/>
              <a:t> </a:t>
            </a:r>
            <a:r>
              <a:rPr spc="-10"/>
              <a:t>pretrained</a:t>
            </a:r>
            <a:r>
              <a:rPr spc="-45"/>
              <a:t> </a:t>
            </a:r>
            <a:r>
              <a:rPr spc="-10"/>
              <a:t>EfficientNet-</a:t>
            </a:r>
            <a:r>
              <a:t>B3</a:t>
            </a:r>
            <a:r>
              <a:rPr spc="-30"/>
              <a:t> </a:t>
            </a:r>
            <a:r>
              <a:t>[14,</a:t>
            </a:r>
            <a:r>
              <a:rPr spc="-10"/>
              <a:t> </a:t>
            </a:r>
            <a:r>
              <a:t>15].</a:t>
            </a:r>
            <a:r>
              <a:rPr spc="-5"/>
              <a:t> </a:t>
            </a:r>
            <a:r>
              <a:t>A/B/C</a:t>
            </a:r>
            <a:r>
              <a:rPr spc="-15"/>
              <a:t> </a:t>
            </a:r>
            <a:r>
              <a:t>did</a:t>
            </a:r>
            <a:r>
              <a:rPr spc="-20"/>
              <a:t> </a:t>
            </a:r>
            <a:r>
              <a:t>not </a:t>
            </a:r>
            <a:r>
              <a:rPr spc="-20"/>
              <a:t>save </a:t>
            </a:r>
            <a:r>
              <a:rPr spc="-10"/>
              <a:t>checkpoints. </a:t>
            </a:r>
            <a:r>
              <a:t>Its accuracy on</a:t>
            </a:r>
            <a:r>
              <a:rPr spc="10"/>
              <a:t> </a:t>
            </a:r>
            <a:r>
              <a:t>our</a:t>
            </a:r>
            <a:r>
              <a:rPr spc="-20"/>
              <a:t> </a:t>
            </a:r>
            <a:r>
              <a:t>test set</a:t>
            </a:r>
            <a:r>
              <a:rPr spc="5"/>
              <a:t> </a:t>
            </a:r>
            <a:r>
              <a:t>is</a:t>
            </a:r>
            <a:r>
              <a:rPr spc="15"/>
              <a:t> </a:t>
            </a:r>
            <a:r>
              <a:rPr spc="-10"/>
              <a:t>unknown;</a:t>
            </a:r>
            <a:r>
              <a:rPr spc="-30"/>
              <a:t> </a:t>
            </a:r>
            <a:r>
              <a:t>no</a:t>
            </a:r>
            <a:r>
              <a:rPr spc="5"/>
              <a:t> </a:t>
            </a:r>
            <a:r>
              <a:t>out-</a:t>
            </a:r>
            <a:r>
              <a:rPr spc="-10"/>
              <a:t>of-distribution</a:t>
            </a:r>
            <a:r>
              <a:rPr spc="-20"/>
              <a:t> </a:t>
            </a:r>
            <a:r>
              <a:rPr spc="-10"/>
              <a:t>check.</a:t>
            </a:r>
          </a:p>
        </p:txBody>
      </p:sp>
      <p:sp>
        <p:nvSpPr>
          <p:cNvPr id="141" name="object 10"/>
          <p:cNvSpPr txBox="1"/>
          <p:nvPr/>
        </p:nvSpPr>
        <p:spPr>
          <a:xfrm>
            <a:off x="5766942" y="5899098"/>
            <a:ext cx="5784216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spcBef>
                <a:spcPts val="100"/>
              </a:spcBef>
              <a:defRPr sz="1100">
                <a:solidFill>
                  <a:srgbClr val="545F6F"/>
                </a:solidFill>
              </a:defRPr>
            </a:pPr>
            <a:r>
              <a:t>Tests:</a:t>
            </a:r>
            <a:r>
              <a:rPr spc="-25"/>
              <a:t> </a:t>
            </a:r>
            <a:r>
              <a:t>16</a:t>
            </a:r>
            <a:r>
              <a:rPr spc="9"/>
              <a:t> </a:t>
            </a:r>
            <a:r>
              <a:t>backend</a:t>
            </a:r>
            <a:r>
              <a:rPr spc="-25"/>
              <a:t> </a:t>
            </a:r>
            <a:r>
              <a:t>pytest,</a:t>
            </a:r>
            <a:r>
              <a:rPr spc="-30"/>
              <a:t> </a:t>
            </a:r>
            <a:r>
              <a:t>6/6</a:t>
            </a:r>
            <a:r>
              <a:rPr spc="-4"/>
              <a:t> </a:t>
            </a:r>
            <a:r>
              <a:t>smoke</a:t>
            </a:r>
            <a:r>
              <a:rPr spc="-25"/>
              <a:t> </a:t>
            </a:r>
            <a:r>
              <a:t>checks,</a:t>
            </a:r>
            <a:r>
              <a:rPr spc="-19"/>
              <a:t> </a:t>
            </a:r>
            <a:r>
              <a:rPr spc="-9"/>
              <a:t>production</a:t>
            </a:r>
            <a:r>
              <a:rPr spc="-35"/>
              <a:t> </a:t>
            </a:r>
            <a:r>
              <a:t>build;</a:t>
            </a:r>
            <a:r>
              <a:rPr spc="-9"/>
              <a:t> </a:t>
            </a:r>
            <a:r>
              <a:t>manual</a:t>
            </a:r>
            <a:r>
              <a:rPr spc="-19"/>
              <a:t> </a:t>
            </a:r>
            <a:r>
              <a:t>browser</a:t>
            </a:r>
            <a:r>
              <a:rPr spc="-25"/>
              <a:t> </a:t>
            </a:r>
            <a:r>
              <a:t>checks;</a:t>
            </a:r>
            <a:r>
              <a:rPr spc="-9"/>
              <a:t> </a:t>
            </a:r>
            <a:r>
              <a:t>no</a:t>
            </a:r>
            <a:r>
              <a:rPr spc="-4"/>
              <a:t> </a:t>
            </a:r>
            <a:r>
              <a:rPr spc="-9"/>
              <a:t>automated browser-</a:t>
            </a:r>
            <a:r>
              <a:t>level</a:t>
            </a:r>
            <a:r>
              <a:rPr spc="35"/>
              <a:t> </a:t>
            </a:r>
            <a:r>
              <a:rPr spc="-9"/>
              <a:t>suite.</a:t>
            </a:r>
          </a:p>
        </p:txBody>
      </p:sp>
      <p:sp>
        <p:nvSpPr>
          <p:cNvPr id="142" name="object 11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>
              <a:defRPr spc="-100"/>
            </a:pPr>
            <a:r>
              <a:t>Generated </a:t>
            </a:r>
            <a:r>
              <a:rPr spc="0"/>
              <a:t>samples</a:t>
            </a:r>
            <a:r>
              <a:t> </a:t>
            </a:r>
            <a:r>
              <a:rPr spc="0"/>
              <a:t>and</a:t>
            </a:r>
            <a:r>
              <a:t> </a:t>
            </a:r>
            <a:r>
              <a:rPr spc="0"/>
              <a:t>conditioning</a:t>
            </a:r>
            <a:r>
              <a:t> findings</a:t>
            </a:r>
          </a:p>
        </p:txBody>
      </p:sp>
      <p:pic>
        <p:nvPicPr>
          <p:cNvPr id="14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8" y="1380744"/>
            <a:ext cx="5669281" cy="32278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6976" y="1097280"/>
            <a:ext cx="3919729" cy="219456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9" name="object 5"/>
          <p:cNvGrpSpPr/>
          <p:nvPr/>
        </p:nvGrpSpPr>
        <p:grpSpPr>
          <a:xfrm>
            <a:off x="457961" y="5075682"/>
            <a:ext cx="11247119" cy="1188720"/>
            <a:chOff x="0" y="0"/>
            <a:chExt cx="11247118" cy="1188719"/>
          </a:xfrm>
        </p:grpSpPr>
        <p:sp>
          <p:nvSpPr>
            <p:cNvPr id="147" name="object 6"/>
            <p:cNvSpPr/>
            <p:nvPr/>
          </p:nvSpPr>
          <p:spPr>
            <a:xfrm>
              <a:off x="0" y="0"/>
              <a:ext cx="11247120" cy="118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509" y="0"/>
                  </a:moveTo>
                  <a:lnTo>
                    <a:pt x="91" y="0"/>
                  </a:lnTo>
                  <a:lnTo>
                    <a:pt x="56" y="68"/>
                  </a:lnTo>
                  <a:lnTo>
                    <a:pt x="27" y="253"/>
                  </a:lnTo>
                  <a:lnTo>
                    <a:pt x="7" y="528"/>
                  </a:lnTo>
                  <a:lnTo>
                    <a:pt x="0" y="863"/>
                  </a:lnTo>
                  <a:lnTo>
                    <a:pt x="0" y="20736"/>
                  </a:lnTo>
                  <a:lnTo>
                    <a:pt x="7" y="21072"/>
                  </a:lnTo>
                  <a:lnTo>
                    <a:pt x="27" y="21347"/>
                  </a:lnTo>
                  <a:lnTo>
                    <a:pt x="56" y="21532"/>
                  </a:lnTo>
                  <a:lnTo>
                    <a:pt x="91" y="21600"/>
                  </a:lnTo>
                  <a:lnTo>
                    <a:pt x="21509" y="21600"/>
                  </a:lnTo>
                  <a:lnTo>
                    <a:pt x="21544" y="21532"/>
                  </a:lnTo>
                  <a:lnTo>
                    <a:pt x="21573" y="21347"/>
                  </a:lnTo>
                  <a:lnTo>
                    <a:pt x="21593" y="21072"/>
                  </a:lnTo>
                  <a:lnTo>
                    <a:pt x="21600" y="20736"/>
                  </a:lnTo>
                  <a:lnTo>
                    <a:pt x="21600" y="863"/>
                  </a:lnTo>
                  <a:lnTo>
                    <a:pt x="21593" y="528"/>
                  </a:lnTo>
                  <a:lnTo>
                    <a:pt x="21573" y="253"/>
                  </a:lnTo>
                  <a:lnTo>
                    <a:pt x="21544" y="68"/>
                  </a:lnTo>
                  <a:lnTo>
                    <a:pt x="21509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" name="object 7"/>
            <p:cNvSpPr/>
            <p:nvPr/>
          </p:nvSpPr>
          <p:spPr>
            <a:xfrm>
              <a:off x="0" y="0"/>
              <a:ext cx="11247120" cy="1188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3"/>
                  </a:moveTo>
                  <a:lnTo>
                    <a:pt x="7" y="528"/>
                  </a:lnTo>
                  <a:lnTo>
                    <a:pt x="27" y="253"/>
                  </a:lnTo>
                  <a:lnTo>
                    <a:pt x="56" y="68"/>
                  </a:lnTo>
                  <a:lnTo>
                    <a:pt x="91" y="0"/>
                  </a:lnTo>
                  <a:lnTo>
                    <a:pt x="21509" y="0"/>
                  </a:lnTo>
                  <a:lnTo>
                    <a:pt x="21544" y="68"/>
                  </a:lnTo>
                  <a:lnTo>
                    <a:pt x="21573" y="253"/>
                  </a:lnTo>
                  <a:lnTo>
                    <a:pt x="21593" y="528"/>
                  </a:lnTo>
                  <a:lnTo>
                    <a:pt x="21600" y="863"/>
                  </a:lnTo>
                  <a:lnTo>
                    <a:pt x="21600" y="20736"/>
                  </a:lnTo>
                  <a:lnTo>
                    <a:pt x="21593" y="21072"/>
                  </a:lnTo>
                  <a:lnTo>
                    <a:pt x="21573" y="21347"/>
                  </a:lnTo>
                  <a:lnTo>
                    <a:pt x="21544" y="21532"/>
                  </a:lnTo>
                  <a:lnTo>
                    <a:pt x="21509" y="21600"/>
                  </a:lnTo>
                  <a:lnTo>
                    <a:pt x="91" y="21600"/>
                  </a:lnTo>
                  <a:lnTo>
                    <a:pt x="56" y="21532"/>
                  </a:lnTo>
                  <a:lnTo>
                    <a:pt x="27" y="21347"/>
                  </a:lnTo>
                  <a:lnTo>
                    <a:pt x="7" y="21072"/>
                  </a:lnTo>
                  <a:lnTo>
                    <a:pt x="0" y="20736"/>
                  </a:lnTo>
                  <a:lnTo>
                    <a:pt x="0" y="863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50" name="object 8"/>
          <p:cNvSpPr txBox="1"/>
          <p:nvPr/>
        </p:nvSpPr>
        <p:spPr>
          <a:xfrm>
            <a:off x="568248" y="3381501"/>
            <a:ext cx="11011535" cy="2538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925820" indent="-165734">
              <a:spcBef>
                <a:spcPts val="100"/>
              </a:spcBef>
              <a:buSzPct val="100000"/>
              <a:buChar char="•"/>
              <a:tabLst>
                <a:tab pos="5918200" algn="l"/>
              </a:tabLst>
              <a:defRPr sz="1400">
                <a:solidFill>
                  <a:srgbClr val="13203C"/>
                </a:solidFill>
              </a:defRPr>
            </a:pPr>
            <a:r>
              <a:t>All</a:t>
            </a:r>
            <a:r>
              <a:rPr spc="-40"/>
              <a:t> </a:t>
            </a:r>
            <a:r>
              <a:t>three</a:t>
            </a:r>
            <a:r>
              <a:rPr spc="-25"/>
              <a:t> </a:t>
            </a:r>
            <a:r>
              <a:t>GANs</a:t>
            </a:r>
            <a:r>
              <a:rPr spc="-50"/>
              <a:t> </a:t>
            </a:r>
            <a:r>
              <a:rPr spc="-10"/>
              <a:t>make</a:t>
            </a:r>
            <a:r>
              <a:rPr spc="-45"/>
              <a:t> </a:t>
            </a:r>
            <a:r>
              <a:rPr spc="-10"/>
              <a:t>head-</a:t>
            </a:r>
            <a:r>
              <a:t>shaped,</a:t>
            </a:r>
            <a:r>
              <a:rPr spc="-10"/>
              <a:t> </a:t>
            </a:r>
            <a:r>
              <a:t>MRI-</a:t>
            </a:r>
            <a:r>
              <a:rPr spc="-10"/>
              <a:t>like</a:t>
            </a:r>
            <a:r>
              <a:rPr spc="-45"/>
              <a:t> </a:t>
            </a:r>
            <a:r>
              <a:t>images</a:t>
            </a:r>
            <a:r>
              <a:rPr spc="-35"/>
              <a:t> </a:t>
            </a:r>
            <a:r>
              <a:t>with</a:t>
            </a:r>
            <a:r>
              <a:rPr spc="-45"/>
              <a:t> </a:t>
            </a:r>
            <a:r>
              <a:t>soft</a:t>
            </a:r>
            <a:r>
              <a:rPr spc="-40"/>
              <a:t> </a:t>
            </a:r>
            <a:r>
              <a:rPr spc="-10"/>
              <a:t>interiors;</a:t>
            </a:r>
          </a:p>
          <a:p>
            <a:pPr indent="5760084">
              <a:defRPr sz="1400">
                <a:solidFill>
                  <a:srgbClr val="13203C"/>
                </a:solidFill>
              </a:defRPr>
            </a:pPr>
            <a:r>
              <a:t>none</a:t>
            </a:r>
            <a:r>
              <a:rPr spc="-20"/>
              <a:t> </a:t>
            </a:r>
            <a:r>
              <a:t>shows</a:t>
            </a:r>
            <a:r>
              <a:rPr spc="-40"/>
              <a:t> </a:t>
            </a:r>
            <a:r>
              <a:t>an</a:t>
            </a:r>
            <a:r>
              <a:rPr spc="-15"/>
              <a:t> </a:t>
            </a:r>
            <a:r>
              <a:rPr spc="-10"/>
              <a:t>identifiable</a:t>
            </a:r>
            <a:r>
              <a:rPr spc="10"/>
              <a:t> </a:t>
            </a:r>
            <a:r>
              <a:rPr spc="-10"/>
              <a:t>tumour.</a:t>
            </a:r>
          </a:p>
          <a:p>
            <a:pPr marL="5925819" marR="222884" indent="-165734">
              <a:spcBef>
                <a:spcPts val="400"/>
              </a:spcBef>
              <a:buSzPct val="100000"/>
              <a:buChar char="•"/>
              <a:tabLst>
                <a:tab pos="5918200" algn="l"/>
              </a:tabLst>
              <a:defRPr spc="-10" sz="1400">
                <a:solidFill>
                  <a:srgbClr val="13203C"/>
                </a:solidFill>
              </a:defRPr>
            </a:pPr>
            <a:r>
              <a:t>cWGAN-</a:t>
            </a:r>
            <a:r>
              <a:rPr spc="0"/>
              <a:t>GP:</a:t>
            </a:r>
            <a:r>
              <a:rPr spc="-50"/>
              <a:t> </a:t>
            </a:r>
            <a:r>
              <a:rPr spc="0"/>
              <a:t>the</a:t>
            </a:r>
            <a:r>
              <a:rPr spc="-25"/>
              <a:t> </a:t>
            </a:r>
            <a:r>
              <a:t>no-</a:t>
            </a:r>
            <a:r>
              <a:rPr spc="0"/>
              <a:t>tumour</a:t>
            </a:r>
            <a:r>
              <a:rPr spc="-30"/>
              <a:t> </a:t>
            </a:r>
            <a:r>
              <a:rPr spc="0"/>
              <a:t>row</a:t>
            </a:r>
            <a:r>
              <a:rPr spc="-45"/>
              <a:t> </a:t>
            </a:r>
            <a:r>
              <a:rPr spc="0"/>
              <a:t>is</a:t>
            </a:r>
            <a:r>
              <a:rPr spc="-25"/>
              <a:t> </a:t>
            </a:r>
            <a:r>
              <a:rPr spc="0"/>
              <a:t>visibly</a:t>
            </a:r>
            <a:r>
              <a:rPr spc="-25"/>
              <a:t> </a:t>
            </a:r>
            <a:r>
              <a:t>brighter;</a:t>
            </a:r>
            <a:r>
              <a:rPr spc="-25"/>
              <a:t> </a:t>
            </a:r>
            <a:r>
              <a:rPr spc="0"/>
              <a:t>other</a:t>
            </a:r>
            <a:r>
              <a:rPr spc="-20"/>
              <a:t> </a:t>
            </a:r>
            <a:r>
              <a:rPr spc="0"/>
              <a:t>labels</a:t>
            </a:r>
            <a:r>
              <a:rPr spc="-20"/>
              <a:t> look </a:t>
            </a:r>
            <a:r>
              <a:t>alike.</a:t>
            </a:r>
          </a:p>
          <a:p>
            <a:pPr marL="5925819" marR="135254" indent="-165734">
              <a:spcBef>
                <a:spcPts val="400"/>
              </a:spcBef>
              <a:buSzPct val="100000"/>
              <a:buChar char="•"/>
              <a:tabLst>
                <a:tab pos="5918200" algn="l"/>
              </a:tabLst>
              <a:defRPr spc="-10" sz="1400">
                <a:solidFill>
                  <a:srgbClr val="13203C"/>
                </a:solidFill>
              </a:defRPr>
            </a:pPr>
            <a:r>
              <a:t>Per-</a:t>
            </a:r>
            <a:r>
              <a:rPr spc="0"/>
              <a:t>class</a:t>
            </a:r>
            <a:r>
              <a:rPr spc="-25"/>
              <a:t> </a:t>
            </a:r>
            <a:r>
              <a:rPr spc="0"/>
              <a:t>KID:</a:t>
            </a:r>
            <a:r>
              <a:rPr spc="-40"/>
              <a:t> </a:t>
            </a:r>
            <a:r>
              <a:rPr spc="0"/>
              <a:t>only</a:t>
            </a:r>
            <a:r>
              <a:rPr spc="-30"/>
              <a:t> </a:t>
            </a:r>
            <a:r>
              <a:t>meningioma</a:t>
            </a:r>
            <a:r>
              <a:rPr spc="-15"/>
              <a:t> </a:t>
            </a:r>
            <a:r>
              <a:rPr spc="0"/>
              <a:t>is</a:t>
            </a:r>
            <a:r>
              <a:rPr spc="-25"/>
              <a:t> </a:t>
            </a:r>
            <a:r>
              <a:rPr spc="0"/>
              <a:t>closest</a:t>
            </a:r>
            <a:r>
              <a:rPr spc="-45"/>
              <a:t> </a:t>
            </a:r>
            <a:r>
              <a:rPr spc="0"/>
              <a:t>to</a:t>
            </a:r>
            <a:r>
              <a:rPr spc="-25"/>
              <a:t> </a:t>
            </a:r>
            <a:r>
              <a:rPr spc="0"/>
              <a:t>its</a:t>
            </a:r>
            <a:r>
              <a:rPr spc="-15"/>
              <a:t> </a:t>
            </a:r>
            <a:r>
              <a:rPr spc="0"/>
              <a:t>own</a:t>
            </a:r>
            <a:r>
              <a:rPr spc="-50"/>
              <a:t> </a:t>
            </a:r>
            <a:r>
              <a:rPr spc="0"/>
              <a:t>class;</a:t>
            </a:r>
            <a:r>
              <a:rPr spc="-30"/>
              <a:t> </a:t>
            </a:r>
            <a:r>
              <a:rPr spc="0"/>
              <a:t>pituitary</a:t>
            </a:r>
            <a:r>
              <a:rPr spc="-20"/>
              <a:t> </a:t>
            </a:r>
            <a:r>
              <a:rPr spc="-25"/>
              <a:t>is </a:t>
            </a:r>
            <a:r>
              <a:rPr spc="0"/>
              <a:t>not</a:t>
            </a:r>
            <a:r>
              <a:rPr spc="-20"/>
              <a:t> </a:t>
            </a:r>
            <a:r>
              <a:t>separated.</a:t>
            </a:r>
          </a:p>
          <a:p>
            <a:pPr>
              <a:spcBef>
                <a:spcPts val="1100"/>
              </a:spcBef>
              <a:defRPr sz="1400"/>
            </a:pPr>
          </a:p>
          <a:p>
            <a:pPr indent="12700">
              <a:defRPr b="1" sz="1500">
                <a:solidFill>
                  <a:srgbClr val="13203C"/>
                </a:solidFill>
              </a:defRPr>
            </a:pPr>
            <a:r>
              <a:t>Conclusion</a:t>
            </a:r>
            <a:r>
              <a:rPr spc="-30"/>
              <a:t> </a:t>
            </a:r>
            <a:r>
              <a:t>on</a:t>
            </a:r>
            <a:r>
              <a:rPr spc="-30"/>
              <a:t> </a:t>
            </a:r>
            <a:r>
              <a:rPr spc="-10"/>
              <a:t>conditioning</a:t>
            </a:r>
          </a:p>
          <a:p>
            <a:pPr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The</a:t>
            </a:r>
            <a:r>
              <a:rPr spc="-35"/>
              <a:t> </a:t>
            </a:r>
            <a:r>
              <a:rPr spc="-10"/>
              <a:t>generator</a:t>
            </a:r>
            <a:r>
              <a:rPr spc="-35"/>
              <a:t> </a:t>
            </a:r>
            <a:r>
              <a:t>did</a:t>
            </a:r>
            <a:r>
              <a:rPr spc="-20"/>
              <a:t> </a:t>
            </a:r>
            <a:r>
              <a:t>NOT</a:t>
            </a:r>
            <a:r>
              <a:rPr spc="-50"/>
              <a:t> </a:t>
            </a:r>
            <a:r>
              <a:rPr spc="-10"/>
              <a:t>demonstrate</a:t>
            </a:r>
            <a:r>
              <a:rPr spc="-30"/>
              <a:t> </a:t>
            </a:r>
            <a:r>
              <a:rPr spc="-10"/>
              <a:t>reliable</a:t>
            </a:r>
            <a:r>
              <a:rPr spc="-30"/>
              <a:t> </a:t>
            </a:r>
            <a:r>
              <a:rPr spc="-10"/>
              <a:t>tumour-</a:t>
            </a:r>
            <a:r>
              <a:t>specific</a:t>
            </a:r>
            <a:r>
              <a:rPr spc="-40"/>
              <a:t> </a:t>
            </a:r>
            <a:r>
              <a:rPr spc="-25"/>
              <a:t>anatomy.</a:t>
            </a:r>
            <a:r>
              <a:rPr spc="-35"/>
              <a:t> </a:t>
            </a:r>
            <a:r>
              <a:rPr spc="-10"/>
              <a:t>Synthetic</a:t>
            </a:r>
            <a:r>
              <a:rPr spc="-25"/>
              <a:t> </a:t>
            </a:r>
            <a:r>
              <a:t>labels</a:t>
            </a:r>
            <a:r>
              <a:rPr spc="-25"/>
              <a:t> </a:t>
            </a:r>
            <a:r>
              <a:t>are</a:t>
            </a:r>
            <a:r>
              <a:rPr spc="-30"/>
              <a:t> </a:t>
            </a:r>
            <a:r>
              <a:rPr spc="-10"/>
              <a:t>requested</a:t>
            </a:r>
            <a:r>
              <a:rPr spc="-25"/>
              <a:t> </a:t>
            </a:r>
            <a:r>
              <a:t>conditions,</a:t>
            </a:r>
            <a:r>
              <a:rPr spc="-30"/>
              <a:t> </a:t>
            </a:r>
            <a:r>
              <a:t>not</a:t>
            </a:r>
            <a:r>
              <a:rPr spc="-25"/>
              <a:t> </a:t>
            </a:r>
            <a:r>
              <a:rPr spc="-10"/>
              <a:t>expert-</a:t>
            </a:r>
            <a:r>
              <a:t>verified</a:t>
            </a:r>
            <a:r>
              <a:rPr spc="-35"/>
              <a:t> </a:t>
            </a:r>
            <a:r>
              <a:t>diagnoses.</a:t>
            </a:r>
            <a:r>
              <a:rPr spc="-35"/>
              <a:t> </a:t>
            </a:r>
            <a:r>
              <a:rPr spc="-20"/>
              <a:t>Per-</a:t>
            </a:r>
          </a:p>
          <a:p>
            <a:pPr indent="12700">
              <a:defRPr sz="1400">
                <a:solidFill>
                  <a:srgbClr val="13203C"/>
                </a:solidFill>
              </a:defRPr>
            </a:pPr>
            <a:r>
              <a:t>class</a:t>
            </a:r>
            <a:r>
              <a:rPr spc="-25"/>
              <a:t> </a:t>
            </a:r>
            <a:r>
              <a:t>FID/KID</a:t>
            </a:r>
            <a:r>
              <a:rPr spc="-55"/>
              <a:t> </a:t>
            </a:r>
            <a:r>
              <a:t>rest</a:t>
            </a:r>
            <a:r>
              <a:rPr spc="-25"/>
              <a:t> </a:t>
            </a:r>
            <a:r>
              <a:t>on</a:t>
            </a:r>
            <a:r>
              <a:rPr spc="-35"/>
              <a:t> </a:t>
            </a:r>
            <a:r>
              <a:t>only</a:t>
            </a:r>
            <a:r>
              <a:rPr spc="-35"/>
              <a:t> </a:t>
            </a:r>
            <a:r>
              <a:rPr spc="-10"/>
              <a:t>46–</a:t>
            </a:r>
            <a:r>
              <a:t>196</a:t>
            </a:r>
            <a:r>
              <a:rPr spc="-15"/>
              <a:t> </a:t>
            </a:r>
            <a:r>
              <a:t>images</a:t>
            </a:r>
            <a:r>
              <a:rPr spc="-20"/>
              <a:t> </a:t>
            </a:r>
            <a:r>
              <a:rPr spc="-10"/>
              <a:t>(indicative).</a:t>
            </a:r>
          </a:p>
        </p:txBody>
      </p:sp>
      <p:sp>
        <p:nvSpPr>
          <p:cNvPr id="151" name="object 9"/>
          <p:cNvSpPr txBox="1"/>
          <p:nvPr>
            <p:ph type="sldNum" sz="quarter" idx="4294967295"/>
          </p:nvPr>
        </p:nvSpPr>
        <p:spPr>
          <a:xfrm>
            <a:off x="535939" y="6532194"/>
            <a:ext cx="127001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FID</a:t>
            </a:r>
            <a:r>
              <a:rPr spc="-100"/>
              <a:t> </a:t>
            </a:r>
            <a:r>
              <a:t>/</a:t>
            </a:r>
            <a:r>
              <a:rPr spc="-100"/>
              <a:t> </a:t>
            </a:r>
            <a:r>
              <a:t>KID</a:t>
            </a:r>
            <a:r>
              <a:rPr spc="-100"/>
              <a:t> </a:t>
            </a:r>
            <a:r>
              <a:t>comparison</a:t>
            </a:r>
            <a:r>
              <a:rPr spc="-100"/>
              <a:t> </a:t>
            </a:r>
            <a:r>
              <a:t>(lower</a:t>
            </a:r>
            <a:r>
              <a:rPr spc="-100"/>
              <a:t> </a:t>
            </a:r>
            <a:r>
              <a:t>is</a:t>
            </a:r>
            <a:r>
              <a:rPr spc="-100"/>
              <a:t> better)</a:t>
            </a:r>
          </a:p>
        </p:txBody>
      </p:sp>
      <p:graphicFrame>
        <p:nvGraphicFramePr>
          <p:cNvPr id="154" name="object 3"/>
          <p:cNvGraphicFramePr/>
          <p:nvPr/>
        </p:nvGraphicFramePr>
        <p:xfrm>
          <a:off x="450850" y="1182369"/>
          <a:ext cx="5394958" cy="22923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86000"/>
                <a:gridCol w="1554479"/>
                <a:gridCol w="1554479"/>
              </a:tblGrid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b="1" spc="-10" sz="15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b="1" spc="-25" sz="1500">
                          <a:solidFill>
                            <a:srgbClr val="FFFFFF"/>
                          </a:solidFill>
                        </a:rPr>
                        <a:t>FID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KID</a:t>
                      </a:r>
                      <a:r>
                        <a:rPr spc="-10"/>
                        <a:t> </a:t>
                      </a:r>
                      <a:r>
                        <a:t>×</a:t>
                      </a:r>
                      <a:r>
                        <a:rPr spc="-15"/>
                        <a:t> </a:t>
                      </a:r>
                      <a:r>
                        <a:rPr spc="-20"/>
                        <a:t>1000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pc="-20" sz="1500">
                          <a:solidFill>
                            <a:srgbClr val="13203C"/>
                          </a:solidFill>
                        </a:defRPr>
                      </a:pPr>
                      <a:r>
                        <a:t>Real-</a:t>
                      </a:r>
                      <a:r>
                        <a:rPr spc="-10"/>
                        <a:t>vs-</a:t>
                      </a:r>
                      <a:r>
                        <a:rPr spc="0"/>
                        <a:t>real</a:t>
                      </a:r>
                      <a:r>
                        <a:rPr spc="20"/>
                        <a:t> </a:t>
                      </a:r>
                      <a:r>
                        <a:t>floor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396875">
                        <a:spcBef>
                          <a:spcPts val="100"/>
                        </a:spcBef>
                        <a:defRPr sz="1500">
                          <a:solidFill>
                            <a:srgbClr val="13203C"/>
                          </a:solidFill>
                        </a:defRPr>
                      </a:pPr>
                      <a:r>
                        <a:t>34.2</a:t>
                      </a:r>
                      <a:r>
                        <a:rPr spc="-20"/>
                        <a:t> </a:t>
                      </a:r>
                      <a:r>
                        <a:t>±</a:t>
                      </a:r>
                      <a:r>
                        <a:rPr spc="-15"/>
                        <a:t> </a:t>
                      </a:r>
                      <a:r>
                        <a:rPr spc="-25"/>
                        <a:t>0.3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500">
                          <a:solidFill>
                            <a:srgbClr val="13203C"/>
                          </a:solidFill>
                        </a:defRPr>
                      </a:pPr>
                      <a:r>
                        <a:t>−0.3</a:t>
                      </a:r>
                      <a:r>
                        <a:rPr spc="-20"/>
                        <a:t> </a:t>
                      </a:r>
                      <a:r>
                        <a:t>±</a:t>
                      </a:r>
                      <a:r>
                        <a:rPr spc="-10"/>
                        <a:t> </a:t>
                      </a:r>
                      <a:r>
                        <a:rPr spc="-25"/>
                        <a:t>0.1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b="1" sz="1500">
                          <a:solidFill>
                            <a:srgbClr val="13203C"/>
                          </a:solidFill>
                        </a:defRPr>
                      </a:pPr>
                      <a:r>
                        <a:t>DCGAN</a:t>
                      </a:r>
                      <a:r>
                        <a:rPr spc="-55"/>
                        <a:t> </a:t>
                      </a:r>
                      <a:r>
                        <a:rPr spc="-10"/>
                        <a:t>(best)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6709">
                        <a:spcBef>
                          <a:spcPts val="100"/>
                        </a:spcBef>
                        <a:defRPr b="1" sz="1500">
                          <a:solidFill>
                            <a:srgbClr val="13203C"/>
                          </a:solidFill>
                        </a:defRPr>
                      </a:pPr>
                      <a:r>
                        <a:t>154.7</a:t>
                      </a:r>
                      <a:r>
                        <a:rPr spc="-10"/>
                        <a:t> </a:t>
                      </a:r>
                      <a:r>
                        <a:t>±</a:t>
                      </a:r>
                      <a:r>
                        <a:rPr spc="-40"/>
                        <a:t> </a:t>
                      </a:r>
                      <a:r>
                        <a:rPr spc="-25"/>
                        <a:t>1.9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6709">
                        <a:spcBef>
                          <a:spcPts val="100"/>
                        </a:spcBef>
                        <a:defRPr b="1" sz="1500">
                          <a:solidFill>
                            <a:srgbClr val="13203C"/>
                          </a:solidFill>
                        </a:defRPr>
                      </a:pPr>
                      <a:r>
                        <a:t>129.4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25"/>
                        <a:t>2.4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63500">
                        <a:defRPr spc="-10" sz="1500">
                          <a:solidFill>
                            <a:srgbClr val="13203C"/>
                          </a:solidFill>
                        </a:defRPr>
                      </a:pPr>
                      <a:r>
                        <a:t>cWGAN-</a:t>
                      </a:r>
                      <a:r>
                        <a:rPr spc="-25"/>
                        <a:t>GP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347979">
                        <a:defRPr sz="1500">
                          <a:solidFill>
                            <a:srgbClr val="13203C"/>
                          </a:solidFill>
                        </a:defRPr>
                      </a:pPr>
                      <a:r>
                        <a:t>177.8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25"/>
                        <a:t>1.8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347979">
                        <a:defRPr sz="1500">
                          <a:solidFill>
                            <a:srgbClr val="13203C"/>
                          </a:solidFill>
                        </a:defRPr>
                      </a:pPr>
                      <a:r>
                        <a:t>157.6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25"/>
                        <a:t>2.4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pc="-10" sz="1500">
                          <a:solidFill>
                            <a:srgbClr val="13203C"/>
                          </a:solidFill>
                        </a:defRPr>
                      </a:pPr>
                      <a:r>
                        <a:t>WGAN-</a:t>
                      </a:r>
                      <a:r>
                        <a:rPr spc="-25"/>
                        <a:t>GP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7979">
                        <a:spcBef>
                          <a:spcPts val="100"/>
                        </a:spcBef>
                        <a:defRPr sz="1500">
                          <a:solidFill>
                            <a:srgbClr val="13203C"/>
                          </a:solidFill>
                        </a:defRPr>
                      </a:pPr>
                      <a:r>
                        <a:t>182.1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25"/>
                        <a:t>1.5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7979">
                        <a:spcBef>
                          <a:spcPts val="100"/>
                        </a:spcBef>
                        <a:defRPr sz="1500">
                          <a:solidFill>
                            <a:srgbClr val="13203C"/>
                          </a:solidFill>
                        </a:defRPr>
                      </a:pPr>
                      <a:r>
                        <a:t>163.5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25"/>
                        <a:t>2.0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5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5040" y="1356360"/>
            <a:ext cx="5760721" cy="2407921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object 5"/>
          <p:cNvSpPr txBox="1"/>
          <p:nvPr/>
        </p:nvSpPr>
        <p:spPr>
          <a:xfrm>
            <a:off x="554226" y="3701770"/>
            <a:ext cx="5106037" cy="798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8435" indent="-165735">
              <a:spcBef>
                <a:spcPts val="7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n</a:t>
            </a:r>
            <a:r>
              <a:rPr spc="-30"/>
              <a:t> </a:t>
            </a:r>
            <a:r>
              <a:t>=</a:t>
            </a:r>
            <a:r>
              <a:rPr spc="-35"/>
              <a:t> </a:t>
            </a:r>
            <a:r>
              <a:t>492</a:t>
            </a:r>
            <a:r>
              <a:rPr spc="-25"/>
              <a:t> </a:t>
            </a:r>
            <a:r>
              <a:t>test</a:t>
            </a:r>
            <a:r>
              <a:rPr spc="-25"/>
              <a:t> </a:t>
            </a:r>
            <a:r>
              <a:t>images;</a:t>
            </a:r>
            <a:r>
              <a:rPr spc="-25"/>
              <a:t> </a:t>
            </a:r>
            <a:r>
              <a:t>mean</a:t>
            </a:r>
            <a:r>
              <a:rPr spc="-20"/>
              <a:t> </a:t>
            </a:r>
            <a:r>
              <a:t>±</a:t>
            </a:r>
            <a:r>
              <a:rPr spc="-35"/>
              <a:t> </a:t>
            </a:r>
            <a:r>
              <a:t>sd</a:t>
            </a:r>
            <a:r>
              <a:rPr spc="-25"/>
              <a:t> </a:t>
            </a:r>
            <a:r>
              <a:t>over</a:t>
            </a:r>
            <a:r>
              <a:rPr spc="-45"/>
              <a:t> </a:t>
            </a:r>
            <a:r>
              <a:t>3</a:t>
            </a:r>
            <a:r>
              <a:rPr spc="-35"/>
              <a:t> </a:t>
            </a:r>
            <a:r>
              <a:rPr spc="-10"/>
              <a:t>generation</a:t>
            </a:r>
            <a:r>
              <a:rPr spc="-25"/>
              <a:t> </a:t>
            </a:r>
            <a:r>
              <a:rPr spc="-10"/>
              <a:t>seeds.</a:t>
            </a:r>
          </a:p>
          <a:p>
            <a:pPr marL="178435" indent="-165735">
              <a:spcBef>
                <a:spcPts val="6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Each</a:t>
            </a:r>
            <a:r>
              <a:rPr spc="-25"/>
              <a:t> </a:t>
            </a:r>
            <a:r>
              <a:t>GAN</a:t>
            </a:r>
            <a:r>
              <a:rPr spc="-35"/>
              <a:t> </a:t>
            </a:r>
            <a:r>
              <a:rPr spc="-10"/>
              <a:t>trained</a:t>
            </a:r>
            <a:r>
              <a:rPr spc="-15"/>
              <a:t> </a:t>
            </a:r>
            <a:r>
              <a:t>once,</a:t>
            </a:r>
            <a:r>
              <a:rPr spc="-30"/>
              <a:t> </a:t>
            </a:r>
            <a:r>
              <a:t>so</a:t>
            </a:r>
            <a:r>
              <a:rPr spc="-35"/>
              <a:t> </a:t>
            </a:r>
            <a:r>
              <a:rPr spc="-10"/>
              <a:t>training-</a:t>
            </a:r>
            <a:r>
              <a:t>run</a:t>
            </a:r>
            <a:r>
              <a:rPr spc="-15"/>
              <a:t> </a:t>
            </a:r>
            <a:r>
              <a:t>variance</a:t>
            </a:r>
            <a:r>
              <a:rPr spc="-20"/>
              <a:t> </a:t>
            </a:r>
            <a:r>
              <a:t>is</a:t>
            </a:r>
            <a:r>
              <a:rPr spc="-20"/>
              <a:t> </a:t>
            </a:r>
            <a:r>
              <a:rPr spc="-10"/>
              <a:t>unmeasured.</a:t>
            </a:r>
          </a:p>
          <a:p>
            <a:pPr marL="178435" indent="-165735">
              <a:spcBef>
                <a:spcPts val="6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Not</a:t>
            </a:r>
            <a:r>
              <a:rPr spc="-60"/>
              <a:t> </a:t>
            </a:r>
            <a:r>
              <a:rPr spc="-10"/>
              <a:t>compute-matched:</a:t>
            </a:r>
            <a:r>
              <a:rPr spc="-25"/>
              <a:t> </a:t>
            </a:r>
            <a:r>
              <a:t>3,000</a:t>
            </a:r>
            <a:r>
              <a:rPr spc="-20"/>
              <a:t> </a:t>
            </a:r>
            <a:r>
              <a:t>discriminator</a:t>
            </a:r>
            <a:r>
              <a:rPr spc="-40"/>
              <a:t> </a:t>
            </a:r>
            <a:r>
              <a:t>vs</a:t>
            </a:r>
            <a:r>
              <a:rPr spc="-50"/>
              <a:t> </a:t>
            </a:r>
            <a:r>
              <a:t>15,000</a:t>
            </a:r>
            <a:r>
              <a:rPr spc="-15"/>
              <a:t> </a:t>
            </a:r>
            <a:r>
              <a:t>critic</a:t>
            </a:r>
            <a:r>
              <a:rPr spc="-40"/>
              <a:t> </a:t>
            </a:r>
            <a:r>
              <a:rPr spc="-10"/>
              <a:t>updates.</a:t>
            </a:r>
          </a:p>
        </p:txBody>
      </p:sp>
      <p:grpSp>
        <p:nvGrpSpPr>
          <p:cNvPr id="159" name="object 6"/>
          <p:cNvGrpSpPr/>
          <p:nvPr/>
        </p:nvGrpSpPr>
        <p:grpSpPr>
          <a:xfrm>
            <a:off x="6035802" y="4161281"/>
            <a:ext cx="5760721" cy="2103122"/>
            <a:chOff x="0" y="0"/>
            <a:chExt cx="5760720" cy="2103120"/>
          </a:xfrm>
        </p:grpSpPr>
        <p:sp>
          <p:nvSpPr>
            <p:cNvPr id="157" name="object 7"/>
            <p:cNvSpPr/>
            <p:nvPr/>
          </p:nvSpPr>
          <p:spPr>
            <a:xfrm>
              <a:off x="0" y="0"/>
              <a:ext cx="5760721" cy="2103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285" y="0"/>
                  </a:moveTo>
                  <a:lnTo>
                    <a:pt x="315" y="0"/>
                  </a:lnTo>
                  <a:lnTo>
                    <a:pt x="193" y="68"/>
                  </a:lnTo>
                  <a:lnTo>
                    <a:pt x="92" y="253"/>
                  </a:lnTo>
                  <a:lnTo>
                    <a:pt x="25" y="528"/>
                  </a:lnTo>
                  <a:lnTo>
                    <a:pt x="0" y="863"/>
                  </a:lnTo>
                  <a:lnTo>
                    <a:pt x="0" y="20736"/>
                  </a:lnTo>
                  <a:lnTo>
                    <a:pt x="25" y="21072"/>
                  </a:lnTo>
                  <a:lnTo>
                    <a:pt x="92" y="21347"/>
                  </a:lnTo>
                  <a:lnTo>
                    <a:pt x="193" y="21532"/>
                  </a:lnTo>
                  <a:lnTo>
                    <a:pt x="315" y="21600"/>
                  </a:lnTo>
                  <a:lnTo>
                    <a:pt x="21285" y="21600"/>
                  </a:lnTo>
                  <a:lnTo>
                    <a:pt x="21407" y="21532"/>
                  </a:lnTo>
                  <a:lnTo>
                    <a:pt x="21508" y="21347"/>
                  </a:lnTo>
                  <a:lnTo>
                    <a:pt x="21575" y="21072"/>
                  </a:lnTo>
                  <a:lnTo>
                    <a:pt x="21600" y="20736"/>
                  </a:lnTo>
                  <a:lnTo>
                    <a:pt x="21600" y="863"/>
                  </a:lnTo>
                  <a:lnTo>
                    <a:pt x="21575" y="528"/>
                  </a:lnTo>
                  <a:lnTo>
                    <a:pt x="21508" y="253"/>
                  </a:lnTo>
                  <a:lnTo>
                    <a:pt x="21407" y="68"/>
                  </a:lnTo>
                  <a:lnTo>
                    <a:pt x="21285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" name="object 8"/>
            <p:cNvSpPr/>
            <p:nvPr/>
          </p:nvSpPr>
          <p:spPr>
            <a:xfrm>
              <a:off x="0" y="0"/>
              <a:ext cx="5760721" cy="2103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3"/>
                  </a:moveTo>
                  <a:lnTo>
                    <a:pt x="25" y="528"/>
                  </a:lnTo>
                  <a:lnTo>
                    <a:pt x="92" y="253"/>
                  </a:lnTo>
                  <a:lnTo>
                    <a:pt x="193" y="68"/>
                  </a:lnTo>
                  <a:lnTo>
                    <a:pt x="315" y="0"/>
                  </a:lnTo>
                  <a:lnTo>
                    <a:pt x="21285" y="0"/>
                  </a:lnTo>
                  <a:lnTo>
                    <a:pt x="21407" y="68"/>
                  </a:lnTo>
                  <a:lnTo>
                    <a:pt x="21508" y="253"/>
                  </a:lnTo>
                  <a:lnTo>
                    <a:pt x="21575" y="528"/>
                  </a:lnTo>
                  <a:lnTo>
                    <a:pt x="21600" y="863"/>
                  </a:lnTo>
                  <a:lnTo>
                    <a:pt x="21600" y="20736"/>
                  </a:lnTo>
                  <a:lnTo>
                    <a:pt x="21575" y="21072"/>
                  </a:lnTo>
                  <a:lnTo>
                    <a:pt x="21508" y="21347"/>
                  </a:lnTo>
                  <a:lnTo>
                    <a:pt x="21407" y="21532"/>
                  </a:lnTo>
                  <a:lnTo>
                    <a:pt x="21285" y="21600"/>
                  </a:lnTo>
                  <a:lnTo>
                    <a:pt x="315" y="21600"/>
                  </a:lnTo>
                  <a:lnTo>
                    <a:pt x="193" y="21532"/>
                  </a:lnTo>
                  <a:lnTo>
                    <a:pt x="92" y="21347"/>
                  </a:lnTo>
                  <a:lnTo>
                    <a:pt x="25" y="21072"/>
                  </a:lnTo>
                  <a:lnTo>
                    <a:pt x="0" y="20736"/>
                  </a:lnTo>
                  <a:lnTo>
                    <a:pt x="0" y="863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60" name="object 9"/>
          <p:cNvSpPr txBox="1"/>
          <p:nvPr/>
        </p:nvSpPr>
        <p:spPr>
          <a:xfrm>
            <a:off x="6157339" y="4228730"/>
            <a:ext cx="5479417" cy="964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z="1500">
                <a:solidFill>
                  <a:srgbClr val="13203C"/>
                </a:solidFill>
              </a:defRPr>
            </a:pPr>
            <a:r>
              <a:t>How</a:t>
            </a:r>
            <a:r>
              <a:rPr spc="-35"/>
              <a:t> </a:t>
            </a:r>
            <a:r>
              <a:t>to</a:t>
            </a:r>
            <a:r>
              <a:rPr spc="-10"/>
              <a:t> </a:t>
            </a:r>
            <a:r>
              <a:t>read</a:t>
            </a:r>
            <a:r>
              <a:rPr spc="-40"/>
              <a:t> </a:t>
            </a:r>
            <a:r>
              <a:t>these</a:t>
            </a:r>
            <a:r>
              <a:rPr spc="-35"/>
              <a:t> </a:t>
            </a:r>
            <a:r>
              <a:rPr spc="-10"/>
              <a:t>metrics</a:t>
            </a:r>
          </a:p>
          <a:p>
            <a:pPr marR="5080" indent="12700">
              <a:spcBef>
                <a:spcPts val="400"/>
              </a:spcBef>
              <a:defRPr spc="-10" sz="1400">
                <a:solidFill>
                  <a:srgbClr val="13203C"/>
                </a:solidFill>
              </a:defRPr>
            </a:pPr>
            <a:r>
              <a:t>Inception-</a:t>
            </a:r>
            <a:r>
              <a:rPr spc="0"/>
              <a:t>v3</a:t>
            </a:r>
            <a:r>
              <a:rPr spc="-20"/>
              <a:t> </a:t>
            </a:r>
            <a:r>
              <a:t>features</a:t>
            </a:r>
            <a:r>
              <a:rPr spc="-5"/>
              <a:t> </a:t>
            </a:r>
            <a:r>
              <a:rPr spc="0"/>
              <a:t>were</a:t>
            </a:r>
            <a:r>
              <a:rPr spc="-25"/>
              <a:t> </a:t>
            </a:r>
            <a:r>
              <a:t>learned</a:t>
            </a:r>
            <a:r>
              <a:rPr spc="-20"/>
              <a:t> </a:t>
            </a:r>
            <a:r>
              <a:rPr spc="0"/>
              <a:t>on</a:t>
            </a:r>
            <a:r>
              <a:rPr spc="-30"/>
              <a:t> </a:t>
            </a:r>
            <a:r>
              <a:rPr spc="0"/>
              <a:t>colour</a:t>
            </a:r>
            <a:r>
              <a:rPr spc="-20"/>
              <a:t> </a:t>
            </a:r>
            <a:r>
              <a:t>photographs;</a:t>
            </a:r>
            <a:r>
              <a:rPr spc="-15"/>
              <a:t> </a:t>
            </a:r>
            <a:r>
              <a:rPr spc="0"/>
              <a:t>FID</a:t>
            </a:r>
            <a:r>
              <a:rPr spc="-35"/>
              <a:t> </a:t>
            </a:r>
            <a:r>
              <a:rPr spc="0"/>
              <a:t>is</a:t>
            </a:r>
            <a:r>
              <a:rPr spc="-15"/>
              <a:t> </a:t>
            </a:r>
            <a:r>
              <a:rPr spc="0"/>
              <a:t>biased</a:t>
            </a:r>
            <a:r>
              <a:rPr spc="-20"/>
              <a:t> </a:t>
            </a:r>
            <a:r>
              <a:rPr spc="-25"/>
              <a:t>for </a:t>
            </a:r>
            <a:r>
              <a:rPr spc="0"/>
              <a:t>small </a:t>
            </a:r>
            <a:r>
              <a:t>samples.</a:t>
            </a:r>
          </a:p>
          <a:p>
            <a:pPr indent="12700">
              <a:spcBef>
                <a:spcPts val="300"/>
              </a:spcBef>
              <a:defRPr sz="1400">
                <a:solidFill>
                  <a:srgbClr val="13203C"/>
                </a:solidFill>
              </a:defRPr>
            </a:pPr>
            <a:r>
              <a:t>They</a:t>
            </a:r>
            <a:r>
              <a:rPr spc="-20"/>
              <a:t> </a:t>
            </a:r>
            <a:r>
              <a:t>do</a:t>
            </a:r>
            <a:r>
              <a:rPr spc="-25"/>
              <a:t> </a:t>
            </a:r>
            <a:r>
              <a:t>not</a:t>
            </a:r>
            <a:r>
              <a:rPr spc="-25"/>
              <a:t> </a:t>
            </a:r>
            <a:r>
              <a:rPr spc="-10"/>
              <a:t>establish</a:t>
            </a:r>
            <a:r>
              <a:rPr spc="-25"/>
              <a:t> </a:t>
            </a:r>
            <a:r>
              <a:t>anatomical</a:t>
            </a:r>
            <a:r>
              <a:rPr spc="-15"/>
              <a:t> </a:t>
            </a:r>
            <a:r>
              <a:t>or</a:t>
            </a:r>
            <a:r>
              <a:rPr spc="-40"/>
              <a:t> </a:t>
            </a:r>
            <a:r>
              <a:t>clinical</a:t>
            </a:r>
            <a:r>
              <a:rPr spc="-20"/>
              <a:t> </a:t>
            </a:r>
            <a:r>
              <a:rPr spc="-10"/>
              <a:t>validity.</a:t>
            </a:r>
          </a:p>
        </p:txBody>
      </p:sp>
      <p:sp>
        <p:nvSpPr>
          <p:cNvPr id="161" name="object 10"/>
          <p:cNvSpPr txBox="1"/>
          <p:nvPr>
            <p:ph type="sldNum" sz="quarter" idx="4294967295"/>
          </p:nvPr>
        </p:nvSpPr>
        <p:spPr>
          <a:xfrm>
            <a:off x="535939" y="6532194"/>
            <a:ext cx="151598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>
              <a:defRPr spc="-100"/>
            </a:pPr>
            <a:r>
              <a:t>Downstream classification: </a:t>
            </a:r>
            <a:r>
              <a:rPr spc="0"/>
              <a:t>conditions</a:t>
            </a:r>
            <a:r>
              <a:t> </a:t>
            </a:r>
            <a:r>
              <a:rPr spc="0"/>
              <a:t>A,</a:t>
            </a:r>
            <a:r>
              <a:t> </a:t>
            </a:r>
            <a:r>
              <a:rPr spc="0"/>
              <a:t>B</a:t>
            </a:r>
            <a:r>
              <a:t> </a:t>
            </a:r>
            <a:r>
              <a:rPr spc="0"/>
              <a:t>and</a:t>
            </a:r>
            <a:r>
              <a:t> C</a:t>
            </a:r>
          </a:p>
        </p:txBody>
      </p:sp>
      <p:graphicFrame>
        <p:nvGraphicFramePr>
          <p:cNvPr id="164" name="object 3"/>
          <p:cNvGraphicFramePr/>
          <p:nvPr/>
        </p:nvGraphicFramePr>
        <p:xfrm>
          <a:off x="450850" y="1182369"/>
          <a:ext cx="6583678" cy="1828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3120"/>
                <a:gridCol w="822959"/>
                <a:gridCol w="1463039"/>
                <a:gridCol w="1371600"/>
                <a:gridCol w="822960"/>
              </a:tblGrid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defRPr sz="1800"/>
                      </a:pPr>
                      <a:r>
                        <a:rPr b="1" spc="-10" sz="1400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b="1" spc="-20" sz="1400">
                          <a:solidFill>
                            <a:srgbClr val="FFFFFF"/>
                          </a:solidFill>
                        </a:defRPr>
                      </a:pPr>
                      <a:r>
                        <a:t>Train</a:t>
                      </a:r>
                      <a:r>
                        <a:rPr spc="-40"/>
                        <a:t> </a:t>
                      </a:r>
                      <a:r>
                        <a:rPr spc="-50"/>
                        <a:t>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b="1" spc="-30" sz="14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  <a:r>
                        <a:rPr spc="-45"/>
                        <a:t> </a:t>
                      </a:r>
                      <a:r>
                        <a:rPr spc="-10"/>
                        <a:t>accuracy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spcBef>
                          <a:spcPts val="100"/>
                        </a:spcBef>
                        <a:defRPr b="1" spc="-10" sz="1400">
                          <a:solidFill>
                            <a:srgbClr val="FFFFFF"/>
                          </a:solidFill>
                        </a:defRPr>
                      </a:pPr>
                      <a:r>
                        <a:t>Macro-</a:t>
                      </a:r>
                      <a:r>
                        <a:rPr spc="-25"/>
                        <a:t>F1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indent="1270" algn="ctr">
                        <a:spcBef>
                          <a:spcPts val="100"/>
                        </a:spcBef>
                        <a:defRPr b="1" spc="-10" sz="1400">
                          <a:solidFill>
                            <a:srgbClr val="FFFFFF"/>
                          </a:solidFill>
                        </a:defRPr>
                      </a:pPr>
                      <a:r>
                        <a:t>Val.</a:t>
                      </a:r>
                      <a:r>
                        <a:rPr spc="-65"/>
                        <a:t> </a:t>
                      </a:r>
                      <a:r>
                        <a:rPr spc="-20"/>
                        <a:t>acc.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F39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z="1400">
                          <a:solidFill>
                            <a:srgbClr val="13203C"/>
                          </a:solidFill>
                        </a:defRPr>
                      </a:pPr>
                      <a:r>
                        <a:t>A:</a:t>
                      </a:r>
                      <a:r>
                        <a:rPr spc="-35"/>
                        <a:t> </a:t>
                      </a:r>
                      <a:r>
                        <a:t>real</a:t>
                      </a:r>
                      <a:r>
                        <a:rPr spc="-20"/>
                        <a:t> only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400">
                          <a:solidFill>
                            <a:srgbClr val="13203C"/>
                          </a:solidFill>
                        </a:rPr>
                        <a:t>2,311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1270" algn="ctr">
                        <a:spcBef>
                          <a:spcPts val="100"/>
                        </a:spcBef>
                        <a:defRPr sz="1400">
                          <a:solidFill>
                            <a:srgbClr val="13203C"/>
                          </a:solidFill>
                        </a:defRPr>
                      </a:pPr>
                      <a:r>
                        <a:t>0.817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20"/>
                        <a:t> 0.027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1270" algn="ctr">
                        <a:spcBef>
                          <a:spcPts val="100"/>
                        </a:spcBef>
                        <a:defRPr sz="1400">
                          <a:solidFill>
                            <a:srgbClr val="13203C"/>
                          </a:solidFill>
                        </a:defRPr>
                      </a:pPr>
                      <a:r>
                        <a:t>0.786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20"/>
                        <a:t> </a:t>
                      </a:r>
                      <a:r>
                        <a:rPr spc="-10"/>
                        <a:t>0.010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400">
                          <a:solidFill>
                            <a:srgbClr val="13203C"/>
                          </a:solidFill>
                        </a:rPr>
                        <a:t>0.812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63500">
                        <a:spcBef>
                          <a:spcPts val="100"/>
                        </a:spcBef>
                        <a:defRPr sz="1400">
                          <a:solidFill>
                            <a:srgbClr val="13203C"/>
                          </a:solidFill>
                        </a:defRPr>
                      </a:pPr>
                      <a:r>
                        <a:t>B:</a:t>
                      </a:r>
                      <a:r>
                        <a:rPr spc="-30"/>
                        <a:t> </a:t>
                      </a:r>
                      <a:r>
                        <a:t>real</a:t>
                      </a:r>
                      <a:r>
                        <a:rPr spc="-15"/>
                        <a:t> </a:t>
                      </a:r>
                      <a:r>
                        <a:t>+</a:t>
                      </a:r>
                      <a:r>
                        <a:rPr spc="-20"/>
                        <a:t> </a:t>
                      </a:r>
                      <a:r>
                        <a:rPr spc="-10"/>
                        <a:t>synthetic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400">
                          <a:solidFill>
                            <a:srgbClr val="13203C"/>
                          </a:solidFill>
                        </a:rPr>
                        <a:t>5,199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" algn="ctr">
                        <a:spcBef>
                          <a:spcPts val="100"/>
                        </a:spcBef>
                        <a:defRPr sz="1400">
                          <a:solidFill>
                            <a:srgbClr val="13203C"/>
                          </a:solidFill>
                        </a:defRPr>
                      </a:pPr>
                      <a:r>
                        <a:t>0.839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20"/>
                        <a:t> 0.020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" algn="ctr">
                        <a:spcBef>
                          <a:spcPts val="100"/>
                        </a:spcBef>
                        <a:defRPr sz="1400">
                          <a:solidFill>
                            <a:srgbClr val="13203C"/>
                          </a:solidFill>
                        </a:defRPr>
                      </a:pPr>
                      <a:r>
                        <a:t>0.821</a:t>
                      </a:r>
                      <a:r>
                        <a:rPr spc="-15"/>
                        <a:t> </a:t>
                      </a:r>
                      <a:r>
                        <a:t>±</a:t>
                      </a:r>
                      <a:r>
                        <a:rPr spc="-20"/>
                        <a:t> </a:t>
                      </a:r>
                      <a:r>
                        <a:rPr spc="-10"/>
                        <a:t>0.025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spc="-10" sz="1400">
                          <a:solidFill>
                            <a:srgbClr val="13203C"/>
                          </a:solidFill>
                        </a:rPr>
                        <a:t>0.827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63500">
                        <a:defRPr b="1" sz="1400">
                          <a:solidFill>
                            <a:srgbClr val="13203C"/>
                          </a:solidFill>
                        </a:defRPr>
                      </a:pPr>
                      <a:r>
                        <a:t>C:</a:t>
                      </a:r>
                      <a:r>
                        <a:rPr spc="-15"/>
                        <a:t> </a:t>
                      </a:r>
                      <a:r>
                        <a:rPr spc="-10"/>
                        <a:t>matched</a:t>
                      </a:r>
                      <a:r>
                        <a:rPr spc="-40"/>
                        <a:t> </a:t>
                      </a:r>
                      <a:r>
                        <a:t>real</a:t>
                      </a:r>
                      <a:r>
                        <a:rPr spc="-30"/>
                        <a:t> </a:t>
                      </a:r>
                      <a:r>
                        <a:rPr spc="-20"/>
                        <a:t>only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0" sz="1400">
                          <a:solidFill>
                            <a:srgbClr val="13203C"/>
                          </a:solidFill>
                        </a:rPr>
                        <a:t>5,199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13203C"/>
                          </a:solidFill>
                        </a:defRPr>
                      </a:pPr>
                      <a:r>
                        <a:t>0.869</a:t>
                      </a:r>
                      <a:r>
                        <a:rPr spc="-20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10"/>
                        <a:t>0.021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3175" algn="ctr">
                        <a:defRPr b="1" sz="1400">
                          <a:solidFill>
                            <a:srgbClr val="13203C"/>
                          </a:solidFill>
                        </a:defRPr>
                      </a:pPr>
                      <a:r>
                        <a:t>0.853</a:t>
                      </a:r>
                      <a:r>
                        <a:rPr spc="-20"/>
                        <a:t> </a:t>
                      </a:r>
                      <a:r>
                        <a:t>±</a:t>
                      </a:r>
                      <a:r>
                        <a:rPr spc="-35"/>
                        <a:t> </a:t>
                      </a:r>
                      <a:r>
                        <a:rPr spc="-10"/>
                        <a:t>0.024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0" sz="1400">
                          <a:solidFill>
                            <a:srgbClr val="13203C"/>
                          </a:solidFill>
                        </a:rPr>
                        <a:t>0.877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B w="12700">
                      <a:solidFill>
                        <a:srgbClr val="FFFFFF"/>
                      </a:solidFill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sp>
        <p:nvSpPr>
          <p:cNvPr id="165" name="object 5"/>
          <p:cNvSpPr txBox="1"/>
          <p:nvPr/>
        </p:nvSpPr>
        <p:spPr>
          <a:xfrm>
            <a:off x="7413117" y="1231518"/>
            <a:ext cx="4089401" cy="1570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3039" indent="-180339">
              <a:spcBef>
                <a:spcPts val="700"/>
              </a:spcBef>
              <a:buSzPct val="100000"/>
              <a:buChar char="•"/>
              <a:tabLst>
                <a:tab pos="190500" algn="l"/>
              </a:tabLst>
              <a:defRPr spc="-40" sz="1500">
                <a:solidFill>
                  <a:srgbClr val="13203C"/>
                </a:solidFill>
              </a:defRPr>
            </a:pPr>
            <a:r>
              <a:t>Test</a:t>
            </a:r>
            <a:r>
              <a:rPr spc="-45"/>
              <a:t> </a:t>
            </a:r>
            <a:r>
              <a:rPr spc="0"/>
              <a:t>set:</a:t>
            </a:r>
            <a:r>
              <a:rPr spc="-20"/>
              <a:t> </a:t>
            </a:r>
            <a:r>
              <a:rPr spc="0"/>
              <a:t>492</a:t>
            </a:r>
            <a:r>
              <a:rPr spc="-15"/>
              <a:t> </a:t>
            </a:r>
            <a:r>
              <a:rPr spc="0"/>
              <a:t>images,</a:t>
            </a:r>
            <a:r>
              <a:rPr spc="-45"/>
              <a:t> </a:t>
            </a:r>
            <a:r>
              <a:rPr spc="0"/>
              <a:t>3</a:t>
            </a:r>
            <a:r>
              <a:rPr spc="-30"/>
              <a:t> </a:t>
            </a:r>
            <a:r>
              <a:rPr spc="0"/>
              <a:t>training</a:t>
            </a:r>
            <a:r>
              <a:rPr spc="-55"/>
              <a:t> </a:t>
            </a:r>
            <a:r>
              <a:rPr spc="-10"/>
              <a:t>seeds.</a:t>
            </a:r>
          </a:p>
          <a:p>
            <a:pPr marL="193039" marR="5080" indent="-180339">
              <a:spcBef>
                <a:spcPts val="600"/>
              </a:spcBef>
              <a:buSzPct val="100000"/>
              <a:buChar char="•"/>
              <a:tabLst>
                <a:tab pos="190500" algn="l"/>
              </a:tabLst>
              <a:defRPr sz="1500">
                <a:solidFill>
                  <a:srgbClr val="13203C"/>
                </a:solidFill>
              </a:defRPr>
            </a:pPr>
            <a:r>
              <a:t>Adding</a:t>
            </a:r>
            <a:r>
              <a:rPr spc="-45"/>
              <a:t> </a:t>
            </a:r>
            <a:r>
              <a:rPr spc="-10"/>
              <a:t>cWGAN-</a:t>
            </a:r>
            <a:r>
              <a:t>GP</a:t>
            </a:r>
            <a:r>
              <a:rPr spc="-5"/>
              <a:t> </a:t>
            </a:r>
            <a:r>
              <a:t>images</a:t>
            </a:r>
            <a:r>
              <a:rPr spc="-35"/>
              <a:t> </a:t>
            </a:r>
            <a:r>
              <a:t>(B)</a:t>
            </a:r>
            <a:r>
              <a:rPr spc="-25"/>
              <a:t> </a:t>
            </a:r>
            <a:r>
              <a:t>beat</a:t>
            </a:r>
            <a:r>
              <a:rPr spc="-30"/>
              <a:t> </a:t>
            </a:r>
            <a:r>
              <a:rPr spc="-10"/>
              <a:t>real-</a:t>
            </a:r>
            <a:r>
              <a:t>only</a:t>
            </a:r>
            <a:r>
              <a:rPr spc="-5"/>
              <a:t> </a:t>
            </a:r>
            <a:r>
              <a:t>(A)</a:t>
            </a:r>
            <a:r>
              <a:rPr spc="-30"/>
              <a:t> </a:t>
            </a:r>
            <a:r>
              <a:rPr spc="-25"/>
              <a:t>in </a:t>
            </a:r>
            <a:r>
              <a:t>all</a:t>
            </a:r>
            <a:r>
              <a:rPr spc="-30"/>
              <a:t> </a:t>
            </a:r>
            <a:r>
              <a:t>3</a:t>
            </a:r>
            <a:r>
              <a:rPr spc="-40"/>
              <a:t> </a:t>
            </a:r>
            <a:r>
              <a:t>seeds</a:t>
            </a:r>
            <a:r>
              <a:rPr spc="-25"/>
              <a:t> </a:t>
            </a:r>
            <a:r>
              <a:t>(+0.022</a:t>
            </a:r>
            <a:r>
              <a:rPr spc="-15"/>
              <a:t> </a:t>
            </a:r>
            <a:r>
              <a:rPr spc="-10"/>
              <a:t>accuracy).</a:t>
            </a:r>
          </a:p>
          <a:p>
            <a:pPr marL="193039" marR="121285" indent="-180339">
              <a:spcBef>
                <a:spcPts val="700"/>
              </a:spcBef>
              <a:buSzPct val="100000"/>
              <a:buChar char="•"/>
              <a:tabLst>
                <a:tab pos="190500" algn="l"/>
              </a:tabLst>
              <a:defRPr sz="1500">
                <a:solidFill>
                  <a:srgbClr val="13203C"/>
                </a:solidFill>
              </a:defRPr>
            </a:pPr>
            <a:r>
              <a:t>But</a:t>
            </a:r>
            <a:r>
              <a:rPr spc="-20"/>
              <a:t> </a:t>
            </a:r>
            <a:r>
              <a:t>the</a:t>
            </a:r>
            <a:r>
              <a:rPr spc="-15"/>
              <a:t> </a:t>
            </a:r>
            <a:r>
              <a:rPr spc="-20"/>
              <a:t>size-</a:t>
            </a:r>
            <a:r>
              <a:t>matched</a:t>
            </a:r>
            <a:r>
              <a:rPr spc="-10"/>
              <a:t> </a:t>
            </a:r>
            <a:r>
              <a:rPr spc="-20"/>
              <a:t>real-</a:t>
            </a:r>
            <a:r>
              <a:t>only </a:t>
            </a:r>
            <a:r>
              <a:rPr spc="-10"/>
              <a:t>control</a:t>
            </a:r>
            <a:r>
              <a:rPr spc="-30"/>
              <a:t> </a:t>
            </a:r>
            <a:r>
              <a:t>(C)</a:t>
            </a:r>
            <a:r>
              <a:rPr spc="-20"/>
              <a:t> </a:t>
            </a:r>
            <a:r>
              <a:rPr spc="-10"/>
              <a:t>scored </a:t>
            </a:r>
            <a:r>
              <a:t>highest:</a:t>
            </a:r>
            <a:r>
              <a:rPr spc="-30"/>
              <a:t> </a:t>
            </a:r>
            <a:r>
              <a:t>0.869</a:t>
            </a:r>
            <a:r>
              <a:rPr spc="-25"/>
              <a:t> </a:t>
            </a:r>
            <a:r>
              <a:rPr spc="-20"/>
              <a:t>accuracy,</a:t>
            </a:r>
            <a:r>
              <a:rPr spc="-30"/>
              <a:t> </a:t>
            </a:r>
            <a:r>
              <a:t>0.853 </a:t>
            </a:r>
            <a:r>
              <a:rPr spc="-10"/>
              <a:t>macro-</a:t>
            </a:r>
            <a:r>
              <a:rPr spc="-25"/>
              <a:t>F1.</a:t>
            </a:r>
          </a:p>
          <a:p>
            <a:pPr marL="193039" indent="-180339">
              <a:spcBef>
                <a:spcPts val="600"/>
              </a:spcBef>
              <a:buSzPct val="100000"/>
              <a:buChar char="•"/>
              <a:tabLst>
                <a:tab pos="190500" algn="l"/>
              </a:tabLst>
              <a:defRPr sz="1500">
                <a:solidFill>
                  <a:srgbClr val="13203C"/>
                </a:solidFill>
              </a:defRPr>
            </a:pPr>
            <a:r>
              <a:t>Mean</a:t>
            </a:r>
            <a:r>
              <a:rPr spc="-25"/>
              <a:t> </a:t>
            </a:r>
            <a:r>
              <a:t>B</a:t>
            </a:r>
            <a:r>
              <a:rPr spc="-40"/>
              <a:t> </a:t>
            </a:r>
            <a:r>
              <a:t>−</a:t>
            </a:r>
            <a:r>
              <a:rPr spc="-15"/>
              <a:t> </a:t>
            </a:r>
            <a:r>
              <a:t>C</a:t>
            </a:r>
            <a:r>
              <a:rPr spc="-25"/>
              <a:t> </a:t>
            </a:r>
            <a:r>
              <a:t>accuracy:</a:t>
            </a:r>
            <a:r>
              <a:rPr spc="-40"/>
              <a:t> </a:t>
            </a:r>
            <a:r>
              <a:rPr spc="-10"/>
              <a:t>−0.030.</a:t>
            </a:r>
          </a:p>
        </p:txBody>
      </p:sp>
      <p:pic>
        <p:nvPicPr>
          <p:cNvPr id="166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8" y="3694176"/>
            <a:ext cx="6766561" cy="202996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9" name="object 6"/>
          <p:cNvGrpSpPr/>
          <p:nvPr/>
        </p:nvGrpSpPr>
        <p:grpSpPr>
          <a:xfrm>
            <a:off x="7315962" y="4161281"/>
            <a:ext cx="4480562" cy="2103122"/>
            <a:chOff x="0" y="0"/>
            <a:chExt cx="4480561" cy="2103120"/>
          </a:xfrm>
        </p:grpSpPr>
        <p:sp>
          <p:nvSpPr>
            <p:cNvPr id="167" name="object 7"/>
            <p:cNvSpPr/>
            <p:nvPr/>
          </p:nvSpPr>
          <p:spPr>
            <a:xfrm>
              <a:off x="0" y="0"/>
              <a:ext cx="4480562" cy="2103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195" y="0"/>
                  </a:moveTo>
                  <a:lnTo>
                    <a:pt x="405" y="0"/>
                  </a:lnTo>
                  <a:lnTo>
                    <a:pt x="248" y="68"/>
                  </a:lnTo>
                  <a:lnTo>
                    <a:pt x="119" y="253"/>
                  </a:lnTo>
                  <a:lnTo>
                    <a:pt x="32" y="528"/>
                  </a:lnTo>
                  <a:lnTo>
                    <a:pt x="0" y="863"/>
                  </a:lnTo>
                  <a:lnTo>
                    <a:pt x="0" y="20736"/>
                  </a:lnTo>
                  <a:lnTo>
                    <a:pt x="32" y="21072"/>
                  </a:lnTo>
                  <a:lnTo>
                    <a:pt x="119" y="21347"/>
                  </a:lnTo>
                  <a:lnTo>
                    <a:pt x="248" y="21532"/>
                  </a:lnTo>
                  <a:lnTo>
                    <a:pt x="405" y="21600"/>
                  </a:lnTo>
                  <a:lnTo>
                    <a:pt x="21195" y="21600"/>
                  </a:lnTo>
                  <a:lnTo>
                    <a:pt x="21352" y="21532"/>
                  </a:lnTo>
                  <a:lnTo>
                    <a:pt x="21481" y="21347"/>
                  </a:lnTo>
                  <a:lnTo>
                    <a:pt x="21568" y="21072"/>
                  </a:lnTo>
                  <a:lnTo>
                    <a:pt x="21600" y="20736"/>
                  </a:lnTo>
                  <a:lnTo>
                    <a:pt x="21600" y="863"/>
                  </a:lnTo>
                  <a:lnTo>
                    <a:pt x="21568" y="528"/>
                  </a:lnTo>
                  <a:lnTo>
                    <a:pt x="21481" y="253"/>
                  </a:lnTo>
                  <a:lnTo>
                    <a:pt x="21352" y="68"/>
                  </a:lnTo>
                  <a:lnTo>
                    <a:pt x="21195" y="0"/>
                  </a:lnTo>
                  <a:close/>
                </a:path>
              </a:pathLst>
            </a:custGeom>
            <a:solidFill>
              <a:srgbClr val="E3F1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8" name="object 8"/>
            <p:cNvSpPr/>
            <p:nvPr/>
          </p:nvSpPr>
          <p:spPr>
            <a:xfrm>
              <a:off x="0" y="0"/>
              <a:ext cx="4480562" cy="2103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3"/>
                  </a:moveTo>
                  <a:lnTo>
                    <a:pt x="32" y="528"/>
                  </a:lnTo>
                  <a:lnTo>
                    <a:pt x="119" y="253"/>
                  </a:lnTo>
                  <a:lnTo>
                    <a:pt x="248" y="68"/>
                  </a:lnTo>
                  <a:lnTo>
                    <a:pt x="405" y="0"/>
                  </a:lnTo>
                  <a:lnTo>
                    <a:pt x="21195" y="0"/>
                  </a:lnTo>
                  <a:lnTo>
                    <a:pt x="21352" y="68"/>
                  </a:lnTo>
                  <a:lnTo>
                    <a:pt x="21481" y="253"/>
                  </a:lnTo>
                  <a:lnTo>
                    <a:pt x="21568" y="528"/>
                  </a:lnTo>
                  <a:lnTo>
                    <a:pt x="21600" y="863"/>
                  </a:lnTo>
                  <a:lnTo>
                    <a:pt x="21600" y="20736"/>
                  </a:lnTo>
                  <a:lnTo>
                    <a:pt x="21568" y="21072"/>
                  </a:lnTo>
                  <a:lnTo>
                    <a:pt x="21481" y="21347"/>
                  </a:lnTo>
                  <a:lnTo>
                    <a:pt x="21352" y="21532"/>
                  </a:lnTo>
                  <a:lnTo>
                    <a:pt x="21195" y="21600"/>
                  </a:lnTo>
                  <a:lnTo>
                    <a:pt x="405" y="21600"/>
                  </a:lnTo>
                  <a:lnTo>
                    <a:pt x="248" y="21532"/>
                  </a:lnTo>
                  <a:lnTo>
                    <a:pt x="119" y="21347"/>
                  </a:lnTo>
                  <a:lnTo>
                    <a:pt x="32" y="21072"/>
                  </a:lnTo>
                  <a:lnTo>
                    <a:pt x="0" y="20736"/>
                  </a:lnTo>
                  <a:lnTo>
                    <a:pt x="0" y="863"/>
                  </a:lnTo>
                  <a:close/>
                </a:path>
              </a:pathLst>
            </a:custGeom>
            <a:noFill/>
            <a:ln w="19812" cap="flat">
              <a:solidFill>
                <a:srgbClr val="2A9D8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70" name="object 9"/>
          <p:cNvSpPr txBox="1"/>
          <p:nvPr/>
        </p:nvSpPr>
        <p:spPr>
          <a:xfrm>
            <a:off x="7437880" y="4228731"/>
            <a:ext cx="4111626" cy="115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pc="-10" sz="1500">
                <a:solidFill>
                  <a:srgbClr val="13203C"/>
                </a:solidFill>
              </a:defRPr>
            </a:pPr>
            <a:r>
              <a:t>Conclusion</a:t>
            </a:r>
          </a:p>
          <a:p>
            <a:pPr marR="5080" indent="12700">
              <a:spcBef>
                <a:spcPts val="400"/>
              </a:spcBef>
              <a:defRPr sz="1400">
                <a:solidFill>
                  <a:srgbClr val="13203C"/>
                </a:solidFill>
              </a:defRPr>
            </a:pPr>
            <a:r>
              <a:t>No</a:t>
            </a:r>
            <a:r>
              <a:rPr spc="-60"/>
              <a:t> </a:t>
            </a:r>
            <a:r>
              <a:t>benefit</a:t>
            </a:r>
            <a:r>
              <a:rPr spc="-25"/>
              <a:t> </a:t>
            </a:r>
            <a:r>
              <a:t>of</a:t>
            </a:r>
            <a:r>
              <a:rPr spc="-45"/>
              <a:t> </a:t>
            </a:r>
            <a:r>
              <a:rPr spc="-10"/>
              <a:t>synthetic</a:t>
            </a:r>
            <a:r>
              <a:rPr spc="-20"/>
              <a:t> </a:t>
            </a:r>
            <a:r>
              <a:rPr spc="-10"/>
              <a:t>augmentation</a:t>
            </a:r>
            <a:r>
              <a:rPr spc="-20"/>
              <a:t> </a:t>
            </a:r>
            <a:r>
              <a:t>beyond</a:t>
            </a:r>
            <a:r>
              <a:rPr spc="-35"/>
              <a:t> </a:t>
            </a:r>
            <a:r>
              <a:rPr spc="-10"/>
              <a:t>added training</a:t>
            </a:r>
            <a:r>
              <a:rPr spc="-25"/>
              <a:t> </a:t>
            </a:r>
            <a:r>
              <a:t>volume</a:t>
            </a:r>
            <a:r>
              <a:rPr spc="-25"/>
              <a:t> </a:t>
            </a:r>
            <a:r>
              <a:t>is</a:t>
            </a:r>
            <a:r>
              <a:rPr spc="-40"/>
              <a:t> </a:t>
            </a:r>
            <a:r>
              <a:rPr spc="-10"/>
              <a:t>demonstrated;</a:t>
            </a:r>
            <a:r>
              <a:rPr spc="-15"/>
              <a:t> </a:t>
            </a:r>
            <a:r>
              <a:t>the</a:t>
            </a:r>
            <a:r>
              <a:rPr spc="-25"/>
              <a:t> </a:t>
            </a:r>
            <a:r>
              <a:t>point</a:t>
            </a:r>
            <a:r>
              <a:rPr spc="-25"/>
              <a:t> </a:t>
            </a:r>
            <a:r>
              <a:rPr spc="-10"/>
              <a:t>estimates favour</a:t>
            </a:r>
            <a:r>
              <a:rPr spc="-50"/>
              <a:t> </a:t>
            </a:r>
            <a:r>
              <a:t>the</a:t>
            </a:r>
            <a:r>
              <a:rPr spc="-35"/>
              <a:t> </a:t>
            </a:r>
            <a:r>
              <a:t>control.</a:t>
            </a:r>
            <a:r>
              <a:rPr spc="-45"/>
              <a:t> </a:t>
            </a:r>
            <a:r>
              <a:t>A</a:t>
            </a:r>
            <a:r>
              <a:rPr spc="-30"/>
              <a:t> </a:t>
            </a:r>
            <a:r>
              <a:t>single</a:t>
            </a:r>
            <a:r>
              <a:rPr spc="-35"/>
              <a:t> </a:t>
            </a:r>
            <a:r>
              <a:t>run</a:t>
            </a:r>
            <a:r>
              <a:rPr spc="-35"/>
              <a:t> </a:t>
            </a:r>
            <a:r>
              <a:t>has</a:t>
            </a:r>
            <a:r>
              <a:rPr spc="-35"/>
              <a:t> </a:t>
            </a:r>
            <a:r>
              <a:t>±3</a:t>
            </a:r>
            <a:r>
              <a:rPr spc="-30"/>
              <a:t> </a:t>
            </a:r>
            <a:r>
              <a:t>accuracy</a:t>
            </a:r>
            <a:r>
              <a:rPr spc="-35"/>
              <a:t> </a:t>
            </a:r>
            <a:r>
              <a:t>points</a:t>
            </a:r>
            <a:r>
              <a:rPr spc="-30"/>
              <a:t> </a:t>
            </a:r>
            <a:r>
              <a:rPr spc="-25"/>
              <a:t>of </a:t>
            </a:r>
            <a:r>
              <a:t>sampling</a:t>
            </a:r>
            <a:r>
              <a:rPr spc="-25"/>
              <a:t> </a:t>
            </a:r>
            <a:r>
              <a:t>error;</a:t>
            </a:r>
            <a:r>
              <a:rPr spc="-45"/>
              <a:t> </a:t>
            </a:r>
            <a:r>
              <a:t>no</a:t>
            </a:r>
            <a:r>
              <a:rPr spc="-25"/>
              <a:t> </a:t>
            </a:r>
            <a:r>
              <a:rPr spc="-10"/>
              <a:t>significance</a:t>
            </a:r>
            <a:r>
              <a:rPr spc="-25"/>
              <a:t> </a:t>
            </a:r>
            <a:r>
              <a:t>test</a:t>
            </a:r>
            <a:r>
              <a:rPr spc="-25"/>
              <a:t> </a:t>
            </a:r>
            <a:r>
              <a:t>was</a:t>
            </a:r>
            <a:r>
              <a:rPr spc="-35"/>
              <a:t> </a:t>
            </a:r>
            <a:r>
              <a:rPr spc="-20"/>
              <a:t>run.</a:t>
            </a:r>
          </a:p>
        </p:txBody>
      </p:sp>
      <p:sp>
        <p:nvSpPr>
          <p:cNvPr id="171" name="object 10"/>
          <p:cNvSpPr txBox="1"/>
          <p:nvPr>
            <p:ph type="sldNum" sz="quarter" idx="4294967295"/>
          </p:nvPr>
        </p:nvSpPr>
        <p:spPr>
          <a:xfrm>
            <a:off x="535939" y="6532194"/>
            <a:ext cx="151598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>
              <a:defRPr spc="-100"/>
            </a:pPr>
            <a:r>
              <a:t>Class-</a:t>
            </a:r>
            <a:r>
              <a:rPr spc="0"/>
              <a:t>wise</a:t>
            </a:r>
            <a:r>
              <a:t> </a:t>
            </a:r>
            <a:r>
              <a:rPr spc="0"/>
              <a:t>findings,</a:t>
            </a:r>
            <a:r>
              <a:t> </a:t>
            </a:r>
            <a:r>
              <a:rPr spc="0"/>
              <a:t>ethics</a:t>
            </a:r>
            <a:r>
              <a:t> </a:t>
            </a:r>
            <a:r>
              <a:rPr spc="0"/>
              <a:t>and</a:t>
            </a:r>
            <a:r>
              <a:t> patient-</a:t>
            </a:r>
            <a:r>
              <a:rPr spc="0"/>
              <a:t>safety</a:t>
            </a:r>
            <a:r>
              <a:t> limits</a:t>
            </a:r>
          </a:p>
        </p:txBody>
      </p:sp>
      <p:pic>
        <p:nvPicPr>
          <p:cNvPr id="17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7763" y="1097280"/>
            <a:ext cx="5879592" cy="28346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7" name="object 4"/>
          <p:cNvGrpSpPr/>
          <p:nvPr/>
        </p:nvGrpSpPr>
        <p:grpSpPr>
          <a:xfrm>
            <a:off x="6493002" y="1143760"/>
            <a:ext cx="5303521" cy="5120641"/>
            <a:chOff x="0" y="0"/>
            <a:chExt cx="5303520" cy="5120640"/>
          </a:xfrm>
        </p:grpSpPr>
        <p:sp>
          <p:nvSpPr>
            <p:cNvPr id="175" name="object 5"/>
            <p:cNvSpPr/>
            <p:nvPr/>
          </p:nvSpPr>
          <p:spPr>
            <a:xfrm>
              <a:off x="0" y="0"/>
              <a:ext cx="5303521" cy="512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766" y="0"/>
                  </a:moveTo>
                  <a:lnTo>
                    <a:pt x="834" y="0"/>
                  </a:lnTo>
                  <a:lnTo>
                    <a:pt x="643" y="23"/>
                  </a:lnTo>
                  <a:lnTo>
                    <a:pt x="467" y="88"/>
                  </a:lnTo>
                  <a:lnTo>
                    <a:pt x="312" y="190"/>
                  </a:lnTo>
                  <a:lnTo>
                    <a:pt x="183" y="324"/>
                  </a:lnTo>
                  <a:lnTo>
                    <a:pt x="85" y="484"/>
                  </a:lnTo>
                  <a:lnTo>
                    <a:pt x="22" y="666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22" y="20934"/>
                  </a:lnTo>
                  <a:lnTo>
                    <a:pt x="85" y="21116"/>
                  </a:lnTo>
                  <a:lnTo>
                    <a:pt x="183" y="21276"/>
                  </a:lnTo>
                  <a:lnTo>
                    <a:pt x="312" y="21410"/>
                  </a:lnTo>
                  <a:lnTo>
                    <a:pt x="467" y="21512"/>
                  </a:lnTo>
                  <a:lnTo>
                    <a:pt x="643" y="21577"/>
                  </a:lnTo>
                  <a:lnTo>
                    <a:pt x="834" y="21600"/>
                  </a:lnTo>
                  <a:lnTo>
                    <a:pt x="20766" y="21600"/>
                  </a:lnTo>
                  <a:lnTo>
                    <a:pt x="20957" y="21577"/>
                  </a:lnTo>
                  <a:lnTo>
                    <a:pt x="21133" y="21512"/>
                  </a:lnTo>
                  <a:lnTo>
                    <a:pt x="21288" y="21410"/>
                  </a:lnTo>
                  <a:lnTo>
                    <a:pt x="21417" y="21276"/>
                  </a:lnTo>
                  <a:lnTo>
                    <a:pt x="21515" y="21116"/>
                  </a:lnTo>
                  <a:lnTo>
                    <a:pt x="21578" y="20934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78" y="666"/>
                  </a:lnTo>
                  <a:lnTo>
                    <a:pt x="21515" y="484"/>
                  </a:lnTo>
                  <a:lnTo>
                    <a:pt x="21417" y="324"/>
                  </a:lnTo>
                  <a:lnTo>
                    <a:pt x="21288" y="190"/>
                  </a:lnTo>
                  <a:lnTo>
                    <a:pt x="21133" y="88"/>
                  </a:lnTo>
                  <a:lnTo>
                    <a:pt x="20957" y="23"/>
                  </a:lnTo>
                  <a:lnTo>
                    <a:pt x="20766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6" name="object 6"/>
            <p:cNvSpPr/>
            <p:nvPr/>
          </p:nvSpPr>
          <p:spPr>
            <a:xfrm>
              <a:off x="0" y="0"/>
              <a:ext cx="5303521" cy="512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22" y="666"/>
                  </a:lnTo>
                  <a:lnTo>
                    <a:pt x="85" y="484"/>
                  </a:lnTo>
                  <a:lnTo>
                    <a:pt x="183" y="324"/>
                  </a:lnTo>
                  <a:lnTo>
                    <a:pt x="312" y="190"/>
                  </a:lnTo>
                  <a:lnTo>
                    <a:pt x="467" y="88"/>
                  </a:lnTo>
                  <a:lnTo>
                    <a:pt x="643" y="23"/>
                  </a:lnTo>
                  <a:lnTo>
                    <a:pt x="834" y="0"/>
                  </a:lnTo>
                  <a:lnTo>
                    <a:pt x="20766" y="0"/>
                  </a:lnTo>
                  <a:lnTo>
                    <a:pt x="20957" y="23"/>
                  </a:lnTo>
                  <a:lnTo>
                    <a:pt x="21133" y="88"/>
                  </a:lnTo>
                  <a:lnTo>
                    <a:pt x="21288" y="190"/>
                  </a:lnTo>
                  <a:lnTo>
                    <a:pt x="21417" y="324"/>
                  </a:lnTo>
                  <a:lnTo>
                    <a:pt x="21515" y="484"/>
                  </a:lnTo>
                  <a:lnTo>
                    <a:pt x="21578" y="666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78" y="20934"/>
                  </a:lnTo>
                  <a:lnTo>
                    <a:pt x="21515" y="21116"/>
                  </a:lnTo>
                  <a:lnTo>
                    <a:pt x="21417" y="21276"/>
                  </a:lnTo>
                  <a:lnTo>
                    <a:pt x="21288" y="21410"/>
                  </a:lnTo>
                  <a:lnTo>
                    <a:pt x="21133" y="21512"/>
                  </a:lnTo>
                  <a:lnTo>
                    <a:pt x="20957" y="21577"/>
                  </a:lnTo>
                  <a:lnTo>
                    <a:pt x="20766" y="21600"/>
                  </a:lnTo>
                  <a:lnTo>
                    <a:pt x="834" y="21600"/>
                  </a:lnTo>
                  <a:lnTo>
                    <a:pt x="643" y="21577"/>
                  </a:lnTo>
                  <a:lnTo>
                    <a:pt x="467" y="21512"/>
                  </a:lnTo>
                  <a:lnTo>
                    <a:pt x="312" y="21410"/>
                  </a:lnTo>
                  <a:lnTo>
                    <a:pt x="183" y="21276"/>
                  </a:lnTo>
                  <a:lnTo>
                    <a:pt x="85" y="21116"/>
                  </a:lnTo>
                  <a:lnTo>
                    <a:pt x="22" y="20934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78" name="object 7"/>
          <p:cNvSpPr txBox="1"/>
          <p:nvPr/>
        </p:nvSpPr>
        <p:spPr>
          <a:xfrm>
            <a:off x="554227" y="1246021"/>
            <a:ext cx="11046460" cy="404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6108700">
              <a:spcBef>
                <a:spcPts val="500"/>
              </a:spcBef>
              <a:defRPr b="1" sz="1400">
                <a:solidFill>
                  <a:srgbClr val="13203C"/>
                </a:solidFill>
              </a:defRPr>
            </a:pPr>
            <a:r>
              <a:t>Ethics,</a:t>
            </a:r>
            <a:r>
              <a:rPr spc="-30"/>
              <a:t> </a:t>
            </a:r>
            <a:r>
              <a:rPr spc="-10"/>
              <a:t>safety</a:t>
            </a:r>
            <a:r>
              <a:rPr spc="-55"/>
              <a:t> </a:t>
            </a:r>
            <a:r>
              <a:t>and</a:t>
            </a:r>
            <a:r>
              <a:rPr spc="-30"/>
              <a:t> </a:t>
            </a:r>
            <a:r>
              <a:rPr spc="-10"/>
              <a:t>limitations</a:t>
            </a:r>
          </a:p>
          <a:p>
            <a:pPr indent="6108700">
              <a:spcBef>
                <a:spcPts val="400"/>
              </a:spcBef>
              <a:defRPr sz="1300">
                <a:solidFill>
                  <a:srgbClr val="13203C"/>
                </a:solidFill>
              </a:defRPr>
            </a:pPr>
            <a:r>
              <a:t>Not</a:t>
            </a:r>
            <a:r>
              <a:rPr spc="-25"/>
              <a:t> </a:t>
            </a:r>
            <a:r>
              <a:t>a</a:t>
            </a:r>
            <a:r>
              <a:rPr spc="-30"/>
              <a:t> </a:t>
            </a:r>
            <a:r>
              <a:t>medical</a:t>
            </a:r>
            <a:r>
              <a:rPr spc="-20"/>
              <a:t> </a:t>
            </a:r>
            <a:r>
              <a:t>device;</a:t>
            </a:r>
            <a:r>
              <a:rPr spc="-20"/>
              <a:t> </a:t>
            </a:r>
            <a:r>
              <a:t>never</a:t>
            </a:r>
            <a:r>
              <a:rPr spc="-30"/>
              <a:t> </a:t>
            </a:r>
            <a:r>
              <a:t>for</a:t>
            </a:r>
            <a:r>
              <a:rPr spc="-30"/>
              <a:t> </a:t>
            </a:r>
            <a:r>
              <a:t>diagnosis</a:t>
            </a:r>
            <a:r>
              <a:rPr spc="-20"/>
              <a:t> </a:t>
            </a:r>
            <a:r>
              <a:t>or</a:t>
            </a:r>
            <a:r>
              <a:rPr spc="-30"/>
              <a:t> </a:t>
            </a:r>
            <a:r>
              <a:rPr spc="-10"/>
              <a:t>treatment.</a:t>
            </a:r>
          </a:p>
          <a:p>
            <a:pPr marR="5080" indent="6108700">
              <a:lnSpc>
                <a:spcPct val="125400"/>
              </a:lnSpc>
              <a:defRPr sz="1300">
                <a:solidFill>
                  <a:srgbClr val="13203C"/>
                </a:solidFill>
              </a:defRPr>
            </a:pPr>
            <a:r>
              <a:t>Synthetic</a:t>
            </a:r>
            <a:r>
              <a:rPr spc="-15"/>
              <a:t> </a:t>
            </a:r>
            <a:r>
              <a:t>images</a:t>
            </a:r>
            <a:r>
              <a:rPr spc="-25"/>
              <a:t> </a:t>
            </a:r>
            <a:r>
              <a:t>are</a:t>
            </a:r>
            <a:r>
              <a:rPr spc="-40"/>
              <a:t> </a:t>
            </a:r>
            <a:r>
              <a:t>not</a:t>
            </a:r>
            <a:r>
              <a:rPr spc="-25"/>
              <a:t> </a:t>
            </a:r>
            <a:r>
              <a:t>patient</a:t>
            </a:r>
            <a:r>
              <a:rPr spc="-15"/>
              <a:t> </a:t>
            </a:r>
            <a:r>
              <a:t>scans;</a:t>
            </a:r>
            <a:r>
              <a:rPr spc="-20"/>
              <a:t> </a:t>
            </a:r>
            <a:r>
              <a:t>labels</a:t>
            </a:r>
            <a:r>
              <a:rPr spc="-25"/>
              <a:t> </a:t>
            </a:r>
            <a:r>
              <a:t>are</a:t>
            </a:r>
            <a:r>
              <a:rPr spc="-30"/>
              <a:t> </a:t>
            </a:r>
            <a:r>
              <a:rPr spc="-10"/>
              <a:t>requested,</a:t>
            </a:r>
            <a:r>
              <a:rPr spc="-25"/>
              <a:t> </a:t>
            </a:r>
            <a:r>
              <a:t>not</a:t>
            </a:r>
            <a:r>
              <a:rPr spc="-30"/>
              <a:t> </a:t>
            </a:r>
            <a:r>
              <a:rPr spc="-10"/>
              <a:t>verified. </a:t>
            </a:r>
            <a:r>
              <a:t>Small</a:t>
            </a:r>
            <a:r>
              <a:rPr spc="-5"/>
              <a:t> </a:t>
            </a:r>
            <a:r>
              <a:t>test</a:t>
            </a:r>
            <a:r>
              <a:rPr spc="-15"/>
              <a:t> </a:t>
            </a:r>
            <a:r>
              <a:t>set</a:t>
            </a:r>
            <a:r>
              <a:rPr spc="5"/>
              <a:t> </a:t>
            </a:r>
            <a:r>
              <a:t>(492;</a:t>
            </a:r>
            <a:r>
              <a:rPr spc="-10"/>
              <a:t> </a:t>
            </a:r>
            <a:r>
              <a:t>46</a:t>
            </a:r>
            <a:r>
              <a:rPr spc="-15"/>
              <a:t> </a:t>
            </a:r>
            <a:r>
              <a:rPr spc="-10"/>
              <a:t>no-</a:t>
            </a:r>
            <a:r>
              <a:t>tumour);</a:t>
            </a:r>
            <a:r>
              <a:rPr spc="15"/>
              <a:t> </a:t>
            </a:r>
            <a:r>
              <a:rPr spc="-20"/>
              <a:t>patient-</a:t>
            </a:r>
            <a:r>
              <a:t>level</a:t>
            </a:r>
            <a:r>
              <a:rPr spc="15"/>
              <a:t> </a:t>
            </a:r>
            <a:r>
              <a:rPr spc="-10"/>
              <a:t>independence</a:t>
            </a:r>
          </a:p>
          <a:p>
            <a:pPr indent="6108700">
              <a:defRPr sz="1300">
                <a:solidFill>
                  <a:srgbClr val="13203C"/>
                </a:solidFill>
              </a:defRPr>
            </a:pPr>
            <a:r>
              <a:t>unproven;</a:t>
            </a:r>
            <a:r>
              <a:rPr spc="-60"/>
              <a:t> </a:t>
            </a:r>
            <a:r>
              <a:t>heuristic</a:t>
            </a:r>
            <a:r>
              <a:rPr spc="-60"/>
              <a:t> </a:t>
            </a:r>
            <a:r>
              <a:rPr spc="-10"/>
              <a:t>de-duplication.</a:t>
            </a:r>
          </a:p>
          <a:p>
            <a:pPr indent="6108700">
              <a:spcBef>
                <a:spcPts val="400"/>
              </a:spcBef>
              <a:defRPr sz="1300">
                <a:solidFill>
                  <a:srgbClr val="13203C"/>
                </a:solidFill>
              </a:defRPr>
            </a:pPr>
            <a:r>
              <a:t>3</a:t>
            </a:r>
            <a:r>
              <a:rPr spc="-30"/>
              <a:t> </a:t>
            </a:r>
            <a:r>
              <a:t>seeds,</a:t>
            </a:r>
            <a:r>
              <a:rPr spc="-10"/>
              <a:t> </a:t>
            </a:r>
            <a:r>
              <a:t>one</a:t>
            </a:r>
            <a:r>
              <a:rPr spc="-15"/>
              <a:t> </a:t>
            </a:r>
            <a:r>
              <a:t>GAN</a:t>
            </a:r>
            <a:r>
              <a:rPr spc="-15"/>
              <a:t> </a:t>
            </a:r>
            <a:r>
              <a:t>run</a:t>
            </a:r>
            <a:r>
              <a:rPr spc="-25"/>
              <a:t> </a:t>
            </a:r>
            <a:r>
              <a:t>each;</a:t>
            </a:r>
            <a:r>
              <a:rPr spc="-20"/>
              <a:t> </a:t>
            </a:r>
            <a:r>
              <a:t>no</a:t>
            </a:r>
            <a:r>
              <a:rPr spc="-30"/>
              <a:t> </a:t>
            </a:r>
            <a:r>
              <a:t>significance</a:t>
            </a:r>
            <a:r>
              <a:rPr spc="-5"/>
              <a:t> </a:t>
            </a:r>
            <a:r>
              <a:rPr spc="-10"/>
              <a:t>tests.</a:t>
            </a:r>
          </a:p>
          <a:p>
            <a:pPr marR="883285" indent="6108700">
              <a:spcBef>
                <a:spcPts val="300"/>
              </a:spcBef>
              <a:defRPr spc="-20" sz="1300">
                <a:solidFill>
                  <a:srgbClr val="13203C"/>
                </a:solidFill>
              </a:defRPr>
            </a:pPr>
            <a:r>
              <a:t>cWGAN-</a:t>
            </a:r>
            <a:r>
              <a:rPr spc="0"/>
              <a:t>GP</a:t>
            </a:r>
            <a:r>
              <a:rPr spc="10"/>
              <a:t> </a:t>
            </a:r>
            <a:r>
              <a:rPr spc="-10"/>
              <a:t>interrupted</a:t>
            </a:r>
            <a:r>
              <a:rPr spc="-5"/>
              <a:t> </a:t>
            </a:r>
            <a:r>
              <a:rPr spc="0"/>
              <a:t>at</a:t>
            </a:r>
            <a:r>
              <a:t> </a:t>
            </a:r>
            <a:r>
              <a:rPr spc="0"/>
              <a:t>step</a:t>
            </a:r>
            <a:r>
              <a:rPr spc="5"/>
              <a:t> </a:t>
            </a:r>
            <a:r>
              <a:rPr spc="0"/>
              <a:t>2,861 </a:t>
            </a:r>
            <a:r>
              <a:rPr spc="-10"/>
              <a:t>(non-</a:t>
            </a:r>
            <a:r>
              <a:rPr spc="0"/>
              <a:t>finite</a:t>
            </a:r>
            <a:r>
              <a:rPr spc="15"/>
              <a:t> </a:t>
            </a:r>
            <a:r>
              <a:rPr spc="0"/>
              <a:t>loss);</a:t>
            </a:r>
            <a:r>
              <a:rPr spc="5"/>
              <a:t> </a:t>
            </a:r>
            <a:r>
              <a:rPr spc="-10"/>
              <a:t>cause </a:t>
            </a:r>
            <a:r>
              <a:rPr spc="0"/>
              <a:t>unconfirmed;</a:t>
            </a:r>
            <a:r>
              <a:rPr spc="-45"/>
              <a:t> </a:t>
            </a:r>
            <a:r>
              <a:rPr spc="0"/>
              <a:t>resumed</a:t>
            </a:r>
            <a:r>
              <a:rPr spc="-40"/>
              <a:t> </a:t>
            </a:r>
            <a:r>
              <a:rPr spc="0"/>
              <a:t>from</a:t>
            </a:r>
            <a:r>
              <a:rPr spc="-65"/>
              <a:t> </a:t>
            </a:r>
            <a:r>
              <a:rPr spc="0"/>
              <a:t>step</a:t>
            </a:r>
            <a:r>
              <a:rPr spc="-30"/>
              <a:t> </a:t>
            </a:r>
            <a:r>
              <a:rPr spc="-10"/>
              <a:t>2,500.</a:t>
            </a:r>
          </a:p>
          <a:p>
            <a:pPr marR="30480" indent="6108700">
              <a:spcBef>
                <a:spcPts val="300"/>
              </a:spcBef>
              <a:defRPr spc="-10" sz="1300">
                <a:solidFill>
                  <a:srgbClr val="13203C"/>
                </a:solidFill>
              </a:defRPr>
            </a:pPr>
            <a:r>
              <a:t>Third-</a:t>
            </a:r>
            <a:r>
              <a:rPr spc="0"/>
              <a:t>party</a:t>
            </a:r>
            <a:r>
              <a:rPr spc="-40"/>
              <a:t> </a:t>
            </a:r>
            <a:r>
              <a:rPr spc="0"/>
              <a:t>classifier</a:t>
            </a:r>
            <a:r>
              <a:rPr spc="-20"/>
              <a:t> </a:t>
            </a:r>
            <a:r>
              <a:rPr spc="0"/>
              <a:t>may</a:t>
            </a:r>
            <a:r>
              <a:rPr spc="-40"/>
              <a:t> </a:t>
            </a:r>
            <a:r>
              <a:rPr spc="0"/>
              <a:t>have</a:t>
            </a:r>
            <a:r>
              <a:rPr spc="-30"/>
              <a:t> </a:t>
            </a:r>
            <a:r>
              <a:rPr spc="0"/>
              <a:t>inflated</a:t>
            </a:r>
            <a:r>
              <a:rPr spc="-15"/>
              <a:t> </a:t>
            </a:r>
            <a:r>
              <a:rPr spc="0"/>
              <a:t>accuracy;</a:t>
            </a:r>
            <a:r>
              <a:rPr spc="-50"/>
              <a:t> </a:t>
            </a:r>
            <a:r>
              <a:rPr spc="0"/>
              <a:t>unknown</a:t>
            </a:r>
            <a:r>
              <a:rPr spc="-30"/>
              <a:t> </a:t>
            </a:r>
            <a:r>
              <a:rPr spc="0"/>
              <a:t>here;</a:t>
            </a:r>
            <a:r>
              <a:rPr spc="-40"/>
              <a:t> </a:t>
            </a:r>
            <a:r>
              <a:rPr spc="0"/>
              <a:t>no</a:t>
            </a:r>
            <a:r>
              <a:rPr spc="-30"/>
              <a:t> </a:t>
            </a:r>
            <a:r>
              <a:rPr spc="-25"/>
              <a:t>OOD </a:t>
            </a:r>
            <a:r>
              <a:t>detection.</a:t>
            </a:r>
          </a:p>
          <a:p>
            <a:pPr indent="6108700">
              <a:spcBef>
                <a:spcPts val="400"/>
              </a:spcBef>
              <a:defRPr sz="1300">
                <a:solidFill>
                  <a:srgbClr val="13203C"/>
                </a:solidFill>
              </a:defRPr>
            </a:pPr>
            <a:r>
              <a:t>Dataset:</a:t>
            </a:r>
            <a:r>
              <a:rPr spc="-25"/>
              <a:t> </a:t>
            </a:r>
            <a:r>
              <a:t>matches</a:t>
            </a:r>
            <a:r>
              <a:rPr spc="-30"/>
              <a:t> </a:t>
            </a:r>
            <a:r>
              <a:t>Kaggle</a:t>
            </a:r>
            <a:r>
              <a:rPr spc="-50"/>
              <a:t> </a:t>
            </a:r>
            <a:r>
              <a:t>v2,</a:t>
            </a:r>
            <a:r>
              <a:rPr spc="-40"/>
              <a:t> </a:t>
            </a:r>
            <a:r>
              <a:t>download</a:t>
            </a:r>
            <a:r>
              <a:rPr spc="-35"/>
              <a:t> </a:t>
            </a:r>
            <a:r>
              <a:t>record</a:t>
            </a:r>
            <a:r>
              <a:rPr spc="-55"/>
              <a:t> </a:t>
            </a:r>
            <a:r>
              <a:t>unverified;</a:t>
            </a:r>
            <a:r>
              <a:rPr spc="-40"/>
              <a:t> </a:t>
            </a:r>
            <a:r>
              <a:t>CC</a:t>
            </a:r>
            <a:r>
              <a:rPr spc="-60"/>
              <a:t> </a:t>
            </a:r>
            <a:r>
              <a:t>BY</a:t>
            </a:r>
            <a:r>
              <a:rPr spc="-55"/>
              <a:t> </a:t>
            </a:r>
            <a:r>
              <a:rPr spc="-20"/>
              <a:t>4.0,</a:t>
            </a:r>
          </a:p>
          <a:p>
            <a:pPr indent="6108700">
              <a:defRPr sz="1300">
                <a:solidFill>
                  <a:srgbClr val="13203C"/>
                </a:solidFill>
              </a:defRPr>
            </a:pPr>
            <a:r>
              <a:t>upstream</a:t>
            </a:r>
            <a:r>
              <a:rPr spc="-35"/>
              <a:t> </a:t>
            </a:r>
            <a:r>
              <a:t>terms</a:t>
            </a:r>
            <a:r>
              <a:rPr spc="-35"/>
              <a:t> </a:t>
            </a:r>
            <a:r>
              <a:t>may</a:t>
            </a:r>
            <a:r>
              <a:rPr spc="-40"/>
              <a:t> </a:t>
            </a:r>
            <a:r>
              <a:rPr spc="-10"/>
              <a:t>differ;</a:t>
            </a:r>
            <a:r>
              <a:rPr spc="-35"/>
              <a:t> </a:t>
            </a:r>
            <a:r>
              <a:t>not</a:t>
            </a:r>
            <a:r>
              <a:rPr spc="-20"/>
              <a:t> </a:t>
            </a:r>
            <a:r>
              <a:rPr spc="-10"/>
              <a:t>redistributed.</a:t>
            </a:r>
          </a:p>
          <a:p>
            <a:pPr marL="178435" marR="5426709" indent="-165735">
              <a:spcBef>
                <a:spcPts val="100"/>
              </a:spcBef>
              <a:buSzPct val="100000"/>
              <a:buChar char="•"/>
              <a:tabLst>
                <a:tab pos="177800" algn="l"/>
              </a:tabLst>
              <a:defRPr spc="-10" sz="1400">
                <a:solidFill>
                  <a:srgbClr val="13203C"/>
                </a:solidFill>
              </a:defRPr>
            </a:pPr>
            <a:r>
              <a:t>Largest</a:t>
            </a:r>
            <a:r>
              <a:rPr spc="-30"/>
              <a:t> </a:t>
            </a:r>
            <a:r>
              <a:rPr spc="0"/>
              <a:t>confusion</a:t>
            </a:r>
            <a:r>
              <a:rPr spc="-45"/>
              <a:t> </a:t>
            </a:r>
            <a:r>
              <a:rPr spc="0"/>
              <a:t>in</a:t>
            </a:r>
            <a:r>
              <a:rPr spc="-25"/>
              <a:t> </a:t>
            </a:r>
            <a:r>
              <a:rPr spc="0"/>
              <a:t>every</a:t>
            </a:r>
            <a:r>
              <a:rPr spc="-35"/>
              <a:t> </a:t>
            </a:r>
            <a:r>
              <a:rPr spc="0"/>
              <a:t>condition:</a:t>
            </a:r>
            <a:r>
              <a:rPr spc="-20"/>
              <a:t> </a:t>
            </a:r>
            <a:r>
              <a:rPr spc="0"/>
              <a:t>glioma</a:t>
            </a:r>
            <a:r>
              <a:rPr spc="-30"/>
              <a:t> </a:t>
            </a:r>
            <a:r>
              <a:t>predicted</a:t>
            </a:r>
            <a:r>
              <a:rPr spc="-25"/>
              <a:t> </a:t>
            </a:r>
            <a:r>
              <a:rPr spc="0"/>
              <a:t>as</a:t>
            </a:r>
            <a:r>
              <a:rPr spc="-30"/>
              <a:t> </a:t>
            </a:r>
            <a:r>
              <a:t>meningioma</a:t>
            </a:r>
            <a:r>
              <a:rPr spc="-20"/>
              <a:t> </a:t>
            </a:r>
            <a:r>
              <a:rPr spc="0"/>
              <a:t>(26</a:t>
            </a:r>
            <a:r>
              <a:rPr spc="-35"/>
              <a:t> </a:t>
            </a:r>
            <a:r>
              <a:rPr spc="-50"/>
              <a:t>/ </a:t>
            </a:r>
            <a:r>
              <a:rPr spc="0"/>
              <a:t>31</a:t>
            </a:r>
            <a:r>
              <a:rPr spc="-15"/>
              <a:t> </a:t>
            </a:r>
            <a:r>
              <a:rPr spc="0"/>
              <a:t>/</a:t>
            </a:r>
            <a:r>
              <a:rPr spc="-20"/>
              <a:t> </a:t>
            </a:r>
            <a:r>
              <a:rPr spc="0"/>
              <a:t>16</a:t>
            </a:r>
            <a:r>
              <a:rPr spc="-25"/>
              <a:t> </a:t>
            </a:r>
            <a:r>
              <a:rPr spc="0"/>
              <a:t>of</a:t>
            </a:r>
            <a:r>
              <a:rPr spc="-20"/>
              <a:t> </a:t>
            </a:r>
            <a:r>
              <a:rPr spc="0"/>
              <a:t>196</a:t>
            </a:r>
            <a:r>
              <a:t> </a:t>
            </a:r>
            <a:r>
              <a:rPr spc="0"/>
              <a:t>for</a:t>
            </a:r>
            <a:r>
              <a:rPr spc="-25"/>
              <a:t> </a:t>
            </a:r>
            <a:r>
              <a:rPr spc="0"/>
              <a:t>A</a:t>
            </a:r>
            <a:r>
              <a:rPr spc="-20"/>
              <a:t> </a:t>
            </a:r>
            <a:r>
              <a:rPr spc="0"/>
              <a:t>/</a:t>
            </a:r>
            <a:r>
              <a:rPr spc="-20"/>
              <a:t> </a:t>
            </a:r>
            <a:r>
              <a:rPr spc="0"/>
              <a:t>B</a:t>
            </a:r>
            <a:r>
              <a:rPr spc="-15"/>
              <a:t> </a:t>
            </a:r>
            <a:r>
              <a:rPr spc="0"/>
              <a:t>/</a:t>
            </a:r>
            <a:r>
              <a:rPr spc="-20"/>
              <a:t> </a:t>
            </a:r>
            <a:r>
              <a:rPr spc="-25"/>
              <a:t>C).</a:t>
            </a:r>
          </a:p>
          <a:p>
            <a:pPr marL="178435" indent="-165735">
              <a:spcBef>
                <a:spcPts val="600"/>
              </a:spcBef>
              <a:buSzPct val="100000"/>
              <a:buChar char="•"/>
              <a:tabLst>
                <a:tab pos="177800" algn="l"/>
              </a:tabLst>
              <a:defRPr spc="-10" sz="1400">
                <a:solidFill>
                  <a:srgbClr val="13203C"/>
                </a:solidFill>
              </a:defRPr>
            </a:pPr>
            <a:r>
              <a:t>Tumour</a:t>
            </a:r>
            <a:r>
              <a:rPr spc="-30"/>
              <a:t> </a:t>
            </a:r>
            <a:r>
              <a:rPr spc="0"/>
              <a:t>vs</a:t>
            </a:r>
            <a:r>
              <a:rPr spc="-25"/>
              <a:t> </a:t>
            </a:r>
            <a:r>
              <a:t>no-</a:t>
            </a:r>
            <a:r>
              <a:rPr spc="0"/>
              <a:t>tumour</a:t>
            </a:r>
            <a:r>
              <a:rPr spc="-40"/>
              <a:t> </a:t>
            </a:r>
            <a:r>
              <a:rPr spc="0"/>
              <a:t>sensitivity</a:t>
            </a:r>
            <a:r>
              <a:rPr spc="5"/>
              <a:t> </a:t>
            </a:r>
            <a:r>
              <a:rPr spc="0"/>
              <a:t>≈</a:t>
            </a:r>
            <a:r>
              <a:rPr spc="-35"/>
              <a:t> </a:t>
            </a:r>
            <a:r>
              <a:t>0.96–</a:t>
            </a:r>
            <a:r>
              <a:rPr spc="0"/>
              <a:t>0.97</a:t>
            </a:r>
            <a:r>
              <a:rPr spc="-20"/>
              <a:t> </a:t>
            </a:r>
            <a:r>
              <a:rPr spc="0"/>
              <a:t>for</a:t>
            </a:r>
            <a:r>
              <a:rPr spc="-45"/>
              <a:t> </a:t>
            </a:r>
            <a:r>
              <a:rPr spc="0"/>
              <a:t>all;</a:t>
            </a:r>
            <a:r>
              <a:rPr spc="-20"/>
              <a:t> </a:t>
            </a:r>
            <a:r>
              <a:rPr spc="0"/>
              <a:t>specificity</a:t>
            </a:r>
            <a:r>
              <a:rPr spc="-15"/>
              <a:t> </a:t>
            </a:r>
            <a:r>
              <a:rPr spc="0"/>
              <a:t>0.67</a:t>
            </a:r>
            <a:r>
              <a:rPr spc="-35"/>
              <a:t> </a:t>
            </a:r>
            <a:r>
              <a:rPr spc="-20"/>
              <a:t>(A),</a:t>
            </a:r>
          </a:p>
          <a:p>
            <a:pPr indent="12700">
              <a:defRPr sz="1400">
                <a:solidFill>
                  <a:srgbClr val="13203C"/>
                </a:solidFill>
              </a:defRPr>
            </a:pPr>
            <a:r>
              <a:t>0.75</a:t>
            </a:r>
            <a:r>
              <a:rPr spc="-30"/>
              <a:t> </a:t>
            </a:r>
            <a:r>
              <a:t>(B),</a:t>
            </a:r>
            <a:r>
              <a:rPr spc="-15"/>
              <a:t> </a:t>
            </a:r>
            <a:r>
              <a:t>0.91</a:t>
            </a:r>
            <a:r>
              <a:rPr spc="-25"/>
              <a:t> </a:t>
            </a:r>
            <a:r>
              <a:rPr spc="-20"/>
              <a:t>(C).</a:t>
            </a:r>
          </a:p>
          <a:p>
            <a:pPr marL="178435" indent="-165735">
              <a:spcBef>
                <a:spcPts val="600"/>
              </a:spcBef>
              <a:buSzPct val="100000"/>
              <a:buChar char="•"/>
              <a:tabLst>
                <a:tab pos="177800" algn="l"/>
              </a:tabLst>
              <a:defRPr sz="1400">
                <a:solidFill>
                  <a:srgbClr val="13203C"/>
                </a:solidFill>
              </a:defRPr>
            </a:pPr>
            <a:r>
              <a:t>No-tumour</a:t>
            </a:r>
            <a:r>
              <a:rPr spc="-40"/>
              <a:t> </a:t>
            </a:r>
            <a:r>
              <a:t>rests</a:t>
            </a:r>
            <a:r>
              <a:rPr spc="-35"/>
              <a:t> </a:t>
            </a:r>
            <a:r>
              <a:t>on</a:t>
            </a:r>
            <a:r>
              <a:rPr spc="-35"/>
              <a:t> </a:t>
            </a:r>
            <a:r>
              <a:t>only</a:t>
            </a:r>
            <a:r>
              <a:rPr spc="-30"/>
              <a:t> </a:t>
            </a:r>
            <a:r>
              <a:t>46</a:t>
            </a:r>
            <a:r>
              <a:rPr spc="-25"/>
              <a:t> </a:t>
            </a:r>
            <a:r>
              <a:t>test</a:t>
            </a:r>
            <a:r>
              <a:rPr spc="-25"/>
              <a:t> </a:t>
            </a:r>
            <a:r>
              <a:t>images:</a:t>
            </a:r>
            <a:r>
              <a:rPr spc="-25"/>
              <a:t> </a:t>
            </a:r>
            <a:r>
              <a:t>very</a:t>
            </a:r>
            <a:r>
              <a:rPr spc="-40"/>
              <a:t> </a:t>
            </a:r>
            <a:r>
              <a:rPr spc="-10"/>
              <a:t>uncertain.</a:t>
            </a:r>
          </a:p>
        </p:txBody>
      </p:sp>
      <p:sp>
        <p:nvSpPr>
          <p:cNvPr id="179" name="object 8"/>
          <p:cNvSpPr txBox="1"/>
          <p:nvPr>
            <p:ph type="sldNum" sz="quarter" idx="4294967295"/>
          </p:nvPr>
        </p:nvSpPr>
        <p:spPr>
          <a:xfrm>
            <a:off x="535939" y="6532194"/>
            <a:ext cx="151598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/>
            <a:r>
              <a:t>Conclusion</a:t>
            </a:r>
            <a:r>
              <a:rPr spc="-100"/>
              <a:t> </a:t>
            </a:r>
            <a:r>
              <a:t>and</a:t>
            </a:r>
            <a:r>
              <a:rPr spc="-100"/>
              <a:t> </a:t>
            </a:r>
            <a:r>
              <a:t>future</a:t>
            </a:r>
            <a:r>
              <a:rPr spc="-100"/>
              <a:t> scope</a:t>
            </a:r>
          </a:p>
        </p:txBody>
      </p:sp>
      <p:grpSp>
        <p:nvGrpSpPr>
          <p:cNvPr id="184" name="object 3"/>
          <p:cNvGrpSpPr/>
          <p:nvPr/>
        </p:nvGrpSpPr>
        <p:grpSpPr>
          <a:xfrm>
            <a:off x="457961" y="1143760"/>
            <a:ext cx="5669281" cy="5120641"/>
            <a:chOff x="0" y="0"/>
            <a:chExt cx="5669279" cy="5120640"/>
          </a:xfrm>
        </p:grpSpPr>
        <p:sp>
          <p:nvSpPr>
            <p:cNvPr id="182" name="object 4"/>
            <p:cNvSpPr/>
            <p:nvPr/>
          </p:nvSpPr>
          <p:spPr>
            <a:xfrm>
              <a:off x="0" y="0"/>
              <a:ext cx="5669281" cy="512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20" y="0"/>
                  </a:moveTo>
                  <a:lnTo>
                    <a:pt x="780" y="0"/>
                  </a:lnTo>
                  <a:lnTo>
                    <a:pt x="601" y="23"/>
                  </a:lnTo>
                  <a:lnTo>
                    <a:pt x="437" y="88"/>
                  </a:lnTo>
                  <a:lnTo>
                    <a:pt x="292" y="190"/>
                  </a:lnTo>
                  <a:lnTo>
                    <a:pt x="171" y="324"/>
                  </a:lnTo>
                  <a:lnTo>
                    <a:pt x="79" y="484"/>
                  </a:lnTo>
                  <a:lnTo>
                    <a:pt x="21" y="666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21" y="20934"/>
                  </a:lnTo>
                  <a:lnTo>
                    <a:pt x="79" y="21116"/>
                  </a:lnTo>
                  <a:lnTo>
                    <a:pt x="171" y="21276"/>
                  </a:lnTo>
                  <a:lnTo>
                    <a:pt x="292" y="21410"/>
                  </a:lnTo>
                  <a:lnTo>
                    <a:pt x="437" y="21512"/>
                  </a:lnTo>
                  <a:lnTo>
                    <a:pt x="601" y="21577"/>
                  </a:lnTo>
                  <a:lnTo>
                    <a:pt x="780" y="21600"/>
                  </a:lnTo>
                  <a:lnTo>
                    <a:pt x="20820" y="21600"/>
                  </a:lnTo>
                  <a:lnTo>
                    <a:pt x="20998" y="21577"/>
                  </a:lnTo>
                  <a:lnTo>
                    <a:pt x="21163" y="21512"/>
                  </a:lnTo>
                  <a:lnTo>
                    <a:pt x="21308" y="21410"/>
                  </a:lnTo>
                  <a:lnTo>
                    <a:pt x="21429" y="21276"/>
                  </a:lnTo>
                  <a:lnTo>
                    <a:pt x="21521" y="21116"/>
                  </a:lnTo>
                  <a:lnTo>
                    <a:pt x="21579" y="20934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79" y="666"/>
                  </a:lnTo>
                  <a:lnTo>
                    <a:pt x="21521" y="484"/>
                  </a:lnTo>
                  <a:lnTo>
                    <a:pt x="21429" y="324"/>
                  </a:lnTo>
                  <a:lnTo>
                    <a:pt x="21308" y="190"/>
                  </a:lnTo>
                  <a:lnTo>
                    <a:pt x="21163" y="88"/>
                  </a:lnTo>
                  <a:lnTo>
                    <a:pt x="20998" y="23"/>
                  </a:lnTo>
                  <a:lnTo>
                    <a:pt x="2082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3" name="object 5"/>
            <p:cNvSpPr/>
            <p:nvPr/>
          </p:nvSpPr>
          <p:spPr>
            <a:xfrm>
              <a:off x="0" y="0"/>
              <a:ext cx="5669281" cy="512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21" y="666"/>
                  </a:lnTo>
                  <a:lnTo>
                    <a:pt x="79" y="484"/>
                  </a:lnTo>
                  <a:lnTo>
                    <a:pt x="171" y="324"/>
                  </a:lnTo>
                  <a:lnTo>
                    <a:pt x="292" y="190"/>
                  </a:lnTo>
                  <a:lnTo>
                    <a:pt x="437" y="88"/>
                  </a:lnTo>
                  <a:lnTo>
                    <a:pt x="601" y="23"/>
                  </a:lnTo>
                  <a:lnTo>
                    <a:pt x="780" y="0"/>
                  </a:lnTo>
                  <a:lnTo>
                    <a:pt x="20820" y="0"/>
                  </a:lnTo>
                  <a:lnTo>
                    <a:pt x="20998" y="23"/>
                  </a:lnTo>
                  <a:lnTo>
                    <a:pt x="21163" y="88"/>
                  </a:lnTo>
                  <a:lnTo>
                    <a:pt x="21308" y="190"/>
                  </a:lnTo>
                  <a:lnTo>
                    <a:pt x="21429" y="324"/>
                  </a:lnTo>
                  <a:lnTo>
                    <a:pt x="21521" y="484"/>
                  </a:lnTo>
                  <a:lnTo>
                    <a:pt x="21579" y="666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79" y="20934"/>
                  </a:lnTo>
                  <a:lnTo>
                    <a:pt x="21521" y="21116"/>
                  </a:lnTo>
                  <a:lnTo>
                    <a:pt x="21429" y="21276"/>
                  </a:lnTo>
                  <a:lnTo>
                    <a:pt x="21308" y="21410"/>
                  </a:lnTo>
                  <a:lnTo>
                    <a:pt x="21163" y="21512"/>
                  </a:lnTo>
                  <a:lnTo>
                    <a:pt x="20998" y="21577"/>
                  </a:lnTo>
                  <a:lnTo>
                    <a:pt x="20820" y="21600"/>
                  </a:lnTo>
                  <a:lnTo>
                    <a:pt x="780" y="21600"/>
                  </a:lnTo>
                  <a:lnTo>
                    <a:pt x="601" y="21577"/>
                  </a:lnTo>
                  <a:lnTo>
                    <a:pt x="437" y="21512"/>
                  </a:lnTo>
                  <a:lnTo>
                    <a:pt x="292" y="21410"/>
                  </a:lnTo>
                  <a:lnTo>
                    <a:pt x="171" y="21276"/>
                  </a:lnTo>
                  <a:lnTo>
                    <a:pt x="79" y="21116"/>
                  </a:lnTo>
                  <a:lnTo>
                    <a:pt x="21" y="20934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1F395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85" name="object 6"/>
          <p:cNvSpPr txBox="1"/>
          <p:nvPr/>
        </p:nvSpPr>
        <p:spPr>
          <a:xfrm>
            <a:off x="614272" y="1242439"/>
            <a:ext cx="5302887" cy="3107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200"/>
              </a:spcBef>
              <a:defRPr b="1" spc="-10" sz="1900">
                <a:solidFill>
                  <a:srgbClr val="13203C"/>
                </a:solidFill>
              </a:defRPr>
            </a:pPr>
            <a:r>
              <a:t>Conclusion</a:t>
            </a:r>
          </a:p>
          <a:p>
            <a:pPr marR="5080" indent="12700">
              <a:spcBef>
                <a:spcPts val="900"/>
              </a:spcBef>
              <a:defRPr sz="1500">
                <a:solidFill>
                  <a:srgbClr val="13203C"/>
                </a:solidFill>
              </a:defRPr>
            </a:pPr>
            <a:r>
              <a:t>DCGAN</a:t>
            </a:r>
            <a:r>
              <a:rPr spc="-50"/>
              <a:t> </a:t>
            </a:r>
            <a:r>
              <a:rPr spc="-10"/>
              <a:t>gave</a:t>
            </a:r>
            <a:r>
              <a:rPr spc="-55"/>
              <a:t> </a:t>
            </a:r>
            <a:r>
              <a:t>the</a:t>
            </a:r>
            <a:r>
              <a:rPr spc="-40"/>
              <a:t> </a:t>
            </a:r>
            <a:r>
              <a:t>best</a:t>
            </a:r>
            <a:r>
              <a:rPr spc="-50"/>
              <a:t> </a:t>
            </a:r>
            <a:r>
              <a:rPr spc="-10"/>
              <a:t>generation</a:t>
            </a:r>
            <a:r>
              <a:rPr spc="-50"/>
              <a:t> </a:t>
            </a:r>
            <a:r>
              <a:t>metrics:</a:t>
            </a:r>
            <a:r>
              <a:rPr spc="-35"/>
              <a:t> </a:t>
            </a:r>
            <a:r>
              <a:t>FID</a:t>
            </a:r>
            <a:r>
              <a:rPr spc="-25"/>
              <a:t> </a:t>
            </a:r>
            <a:r>
              <a:t>154.7,</a:t>
            </a:r>
            <a:r>
              <a:rPr spc="-30"/>
              <a:t> </a:t>
            </a:r>
            <a:r>
              <a:t>KID×1000</a:t>
            </a:r>
            <a:r>
              <a:rPr spc="-20"/>
              <a:t> </a:t>
            </a:r>
            <a:r>
              <a:rPr spc="-10"/>
              <a:t>129.4 (cWGAN-</a:t>
            </a:r>
            <a:r>
              <a:t>GP</a:t>
            </a:r>
            <a:r>
              <a:rPr spc="-35"/>
              <a:t> </a:t>
            </a:r>
            <a:r>
              <a:t>177.8</a:t>
            </a:r>
            <a:r>
              <a:rPr spc="-5"/>
              <a:t> </a:t>
            </a:r>
            <a:r>
              <a:t>/</a:t>
            </a:r>
            <a:r>
              <a:rPr spc="-30"/>
              <a:t> </a:t>
            </a:r>
            <a:r>
              <a:t>157.6;</a:t>
            </a:r>
            <a:r>
              <a:rPr spc="-10"/>
              <a:t> WGAN-</a:t>
            </a:r>
            <a:r>
              <a:t>GP</a:t>
            </a:r>
            <a:r>
              <a:rPr spc="-25"/>
              <a:t> </a:t>
            </a:r>
            <a:r>
              <a:t>182.1</a:t>
            </a:r>
            <a:r>
              <a:rPr spc="-15"/>
              <a:t> </a:t>
            </a:r>
            <a:r>
              <a:t>/</a:t>
            </a:r>
            <a:r>
              <a:rPr spc="-30"/>
              <a:t> </a:t>
            </a:r>
            <a:r>
              <a:rPr spc="-10"/>
              <a:t>163.5).</a:t>
            </a:r>
          </a:p>
          <a:p>
            <a:pPr marR="316865" indent="12700">
              <a:spcBef>
                <a:spcPts val="900"/>
              </a:spcBef>
              <a:defRPr sz="1500">
                <a:solidFill>
                  <a:srgbClr val="13203C"/>
                </a:solidFill>
              </a:defRPr>
            </a:pPr>
            <a:r>
              <a:t>Mean</a:t>
            </a:r>
            <a:r>
              <a:rPr spc="-35"/>
              <a:t> </a:t>
            </a:r>
            <a:r>
              <a:t>test</a:t>
            </a:r>
            <a:r>
              <a:rPr spc="-40"/>
              <a:t> </a:t>
            </a:r>
            <a:r>
              <a:t>accuracy:</a:t>
            </a:r>
            <a:r>
              <a:rPr spc="-40"/>
              <a:t> </a:t>
            </a:r>
            <a:r>
              <a:t>A</a:t>
            </a:r>
            <a:r>
              <a:rPr spc="-35"/>
              <a:t> </a:t>
            </a:r>
            <a:r>
              <a:t>0.817,</a:t>
            </a:r>
            <a:r>
              <a:rPr spc="-10"/>
              <a:t> </a:t>
            </a:r>
            <a:r>
              <a:t>B</a:t>
            </a:r>
            <a:r>
              <a:rPr spc="-40"/>
              <a:t> </a:t>
            </a:r>
            <a:r>
              <a:t>0.839,</a:t>
            </a:r>
            <a:r>
              <a:rPr spc="-10"/>
              <a:t> </a:t>
            </a:r>
            <a:r>
              <a:t>C</a:t>
            </a:r>
            <a:r>
              <a:rPr spc="-30"/>
              <a:t> </a:t>
            </a:r>
            <a:r>
              <a:t>0.869.</a:t>
            </a:r>
            <a:r>
              <a:rPr spc="-15"/>
              <a:t> </a:t>
            </a:r>
            <a:r>
              <a:t>The</a:t>
            </a:r>
            <a:r>
              <a:rPr spc="-45"/>
              <a:t> </a:t>
            </a:r>
            <a:r>
              <a:rPr spc="-20"/>
              <a:t>matched-size real-</a:t>
            </a:r>
            <a:r>
              <a:t>only</a:t>
            </a:r>
            <a:r>
              <a:rPr spc="-35"/>
              <a:t> </a:t>
            </a:r>
            <a:r>
              <a:t>control</a:t>
            </a:r>
            <a:r>
              <a:rPr spc="-35"/>
              <a:t> </a:t>
            </a:r>
            <a:r>
              <a:t>was</a:t>
            </a:r>
            <a:r>
              <a:rPr spc="-35"/>
              <a:t> </a:t>
            </a:r>
            <a:r>
              <a:t>best,</a:t>
            </a:r>
            <a:r>
              <a:rPr spc="-40"/>
              <a:t> </a:t>
            </a:r>
            <a:r>
              <a:t>so</a:t>
            </a:r>
            <a:r>
              <a:rPr spc="-30"/>
              <a:t> </a:t>
            </a:r>
            <a:r>
              <a:t>no</a:t>
            </a:r>
            <a:r>
              <a:rPr spc="-40"/>
              <a:t> </a:t>
            </a:r>
            <a:r>
              <a:t>benefit</a:t>
            </a:r>
            <a:r>
              <a:rPr spc="-20"/>
              <a:t> </a:t>
            </a:r>
            <a:r>
              <a:t>beyond</a:t>
            </a:r>
            <a:r>
              <a:rPr spc="-45"/>
              <a:t> </a:t>
            </a:r>
            <a:r>
              <a:t>added</a:t>
            </a:r>
            <a:r>
              <a:rPr spc="-40"/>
              <a:t> </a:t>
            </a:r>
            <a:r>
              <a:rPr spc="-10"/>
              <a:t>training </a:t>
            </a:r>
            <a:r>
              <a:t>volume</a:t>
            </a:r>
            <a:r>
              <a:rPr spc="-55"/>
              <a:t> </a:t>
            </a:r>
            <a:r>
              <a:t>was</a:t>
            </a:r>
            <a:r>
              <a:rPr spc="-55"/>
              <a:t> </a:t>
            </a:r>
            <a:r>
              <a:rPr spc="-10"/>
              <a:t>shown.</a:t>
            </a:r>
          </a:p>
          <a:p>
            <a:pPr marR="285115" indent="12700">
              <a:spcBef>
                <a:spcPts val="900"/>
              </a:spcBef>
              <a:defRPr sz="1500">
                <a:solidFill>
                  <a:srgbClr val="13203C"/>
                </a:solidFill>
              </a:defRPr>
            </a:pPr>
            <a:r>
              <a:t>The</a:t>
            </a:r>
            <a:r>
              <a:rPr spc="-45"/>
              <a:t> </a:t>
            </a:r>
            <a:r>
              <a:rPr spc="-10"/>
              <a:t>generator</a:t>
            </a:r>
            <a:r>
              <a:rPr spc="-60"/>
              <a:t> </a:t>
            </a:r>
            <a:r>
              <a:t>produced</a:t>
            </a:r>
            <a:r>
              <a:rPr spc="-50"/>
              <a:t> </a:t>
            </a:r>
            <a:r>
              <a:t>MRI-like</a:t>
            </a:r>
            <a:r>
              <a:rPr spc="-30"/>
              <a:t> </a:t>
            </a:r>
            <a:r>
              <a:t>images</a:t>
            </a:r>
            <a:r>
              <a:rPr spc="-55"/>
              <a:t> </a:t>
            </a:r>
            <a:r>
              <a:t>but</a:t>
            </a:r>
            <a:r>
              <a:rPr spc="-50"/>
              <a:t> </a:t>
            </a:r>
            <a:r>
              <a:t>no</a:t>
            </a:r>
            <a:r>
              <a:rPr spc="-50"/>
              <a:t> </a:t>
            </a:r>
            <a:r>
              <a:t>reliable</a:t>
            </a:r>
            <a:r>
              <a:rPr spc="-30"/>
              <a:t> </a:t>
            </a:r>
            <a:r>
              <a:rPr spc="-10"/>
              <a:t>tumour-</a:t>
            </a:r>
            <a:r>
              <a:t>specific</a:t>
            </a:r>
            <a:r>
              <a:rPr spc="-45"/>
              <a:t> </a:t>
            </a:r>
            <a:r>
              <a:rPr spc="-10"/>
              <a:t>anatomy.</a:t>
            </a:r>
          </a:p>
          <a:p>
            <a:pPr indent="12700">
              <a:spcBef>
                <a:spcPts val="900"/>
              </a:spcBef>
              <a:defRPr spc="-10" sz="1500">
                <a:solidFill>
                  <a:srgbClr val="13203C"/>
                </a:solidFill>
              </a:defRPr>
            </a:pPr>
            <a:r>
              <a:t>NeuroVision</a:t>
            </a:r>
            <a:r>
              <a:rPr spc="-50"/>
              <a:t> </a:t>
            </a:r>
            <a:r>
              <a:rPr spc="0"/>
              <a:t>AI</a:t>
            </a:r>
            <a:r>
              <a:rPr spc="-35"/>
              <a:t> </a:t>
            </a:r>
            <a:r>
              <a:rPr spc="0"/>
              <a:t>delivers</a:t>
            </a:r>
            <a:r>
              <a:rPr spc="-20"/>
              <a:t> </a:t>
            </a:r>
            <a:r>
              <a:rPr spc="0"/>
              <a:t>the</a:t>
            </a:r>
            <a:r>
              <a:rPr spc="-35"/>
              <a:t> </a:t>
            </a:r>
            <a:r>
              <a:rPr spc="0"/>
              <a:t>saved</a:t>
            </a:r>
            <a:r>
              <a:rPr spc="-25"/>
              <a:t> </a:t>
            </a:r>
            <a:r>
              <a:rPr spc="0"/>
              <a:t>results,</a:t>
            </a:r>
            <a:r>
              <a:rPr spc="-25"/>
              <a:t> </a:t>
            </a:r>
            <a:r>
              <a:rPr spc="0"/>
              <a:t>sample</a:t>
            </a:r>
            <a:r>
              <a:rPr spc="-25"/>
              <a:t> </a:t>
            </a:r>
            <a:r>
              <a:t>generation</a:t>
            </a:r>
            <a:r>
              <a:rPr spc="-45"/>
              <a:t> </a:t>
            </a:r>
            <a:r>
              <a:rPr spc="0"/>
              <a:t>and</a:t>
            </a:r>
            <a:r>
              <a:rPr spc="-35"/>
              <a:t> </a:t>
            </a:r>
            <a:r>
              <a:rPr spc="-50"/>
              <a:t>a</a:t>
            </a:r>
          </a:p>
          <a:p>
            <a:pPr indent="12700">
              <a:defRPr spc="-10" sz="1500">
                <a:solidFill>
                  <a:srgbClr val="13203C"/>
                </a:solidFill>
              </a:defRPr>
            </a:pPr>
            <a:r>
              <a:t>third-</a:t>
            </a:r>
            <a:r>
              <a:rPr spc="0"/>
              <a:t>party</a:t>
            </a:r>
            <a:r>
              <a:rPr spc="-65"/>
              <a:t> </a:t>
            </a:r>
            <a:r>
              <a:rPr spc="0"/>
              <a:t>classifier</a:t>
            </a:r>
            <a:r>
              <a:rPr spc="-20"/>
              <a:t> </a:t>
            </a:r>
            <a:r>
              <a:rPr spc="0"/>
              <a:t>demo</a:t>
            </a:r>
            <a:r>
              <a:rPr spc="-30"/>
              <a:t> </a:t>
            </a:r>
            <a:r>
              <a:rPr spc="0"/>
              <a:t>with</a:t>
            </a:r>
            <a:r>
              <a:rPr spc="-35"/>
              <a:t> </a:t>
            </a:r>
            <a:r>
              <a:rPr spc="0"/>
              <a:t>visible</a:t>
            </a:r>
            <a:r>
              <a:rPr spc="-25"/>
              <a:t> </a:t>
            </a:r>
            <a:r>
              <a:t>limits.</a:t>
            </a:r>
          </a:p>
          <a:p>
            <a:pPr indent="12700">
              <a:spcBef>
                <a:spcPts val="900"/>
              </a:spcBef>
              <a:defRPr b="1" sz="1500">
                <a:solidFill>
                  <a:srgbClr val="13203C"/>
                </a:solidFill>
              </a:defRPr>
            </a:pPr>
            <a:r>
              <a:t>Not</a:t>
            </a:r>
            <a:r>
              <a:rPr spc="15"/>
              <a:t> </a:t>
            </a:r>
            <a:r>
              <a:rPr spc="-10"/>
              <a:t>clinically</a:t>
            </a:r>
            <a:r>
              <a:rPr spc="-30"/>
              <a:t> </a:t>
            </a:r>
            <a:r>
              <a:rPr spc="-10"/>
              <a:t>validated.</a:t>
            </a:r>
          </a:p>
        </p:txBody>
      </p:sp>
      <p:grpSp>
        <p:nvGrpSpPr>
          <p:cNvPr id="188" name="object 7"/>
          <p:cNvGrpSpPr/>
          <p:nvPr/>
        </p:nvGrpSpPr>
        <p:grpSpPr>
          <a:xfrm>
            <a:off x="6355840" y="1143760"/>
            <a:ext cx="5394963" cy="5120641"/>
            <a:chOff x="0" y="0"/>
            <a:chExt cx="5394961" cy="5120640"/>
          </a:xfrm>
        </p:grpSpPr>
        <p:sp>
          <p:nvSpPr>
            <p:cNvPr id="186" name="object 8"/>
            <p:cNvSpPr/>
            <p:nvPr/>
          </p:nvSpPr>
          <p:spPr>
            <a:xfrm>
              <a:off x="0" y="0"/>
              <a:ext cx="5394962" cy="512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780" y="0"/>
                  </a:moveTo>
                  <a:lnTo>
                    <a:pt x="820" y="0"/>
                  </a:lnTo>
                  <a:lnTo>
                    <a:pt x="632" y="23"/>
                  </a:lnTo>
                  <a:lnTo>
                    <a:pt x="459" y="88"/>
                  </a:lnTo>
                  <a:lnTo>
                    <a:pt x="307" y="190"/>
                  </a:lnTo>
                  <a:lnTo>
                    <a:pt x="180" y="324"/>
                  </a:lnTo>
                  <a:lnTo>
                    <a:pt x="83" y="484"/>
                  </a:lnTo>
                  <a:lnTo>
                    <a:pt x="22" y="666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22" y="20934"/>
                  </a:lnTo>
                  <a:lnTo>
                    <a:pt x="83" y="21116"/>
                  </a:lnTo>
                  <a:lnTo>
                    <a:pt x="180" y="21276"/>
                  </a:lnTo>
                  <a:lnTo>
                    <a:pt x="307" y="21410"/>
                  </a:lnTo>
                  <a:lnTo>
                    <a:pt x="459" y="21512"/>
                  </a:lnTo>
                  <a:lnTo>
                    <a:pt x="632" y="21577"/>
                  </a:lnTo>
                  <a:lnTo>
                    <a:pt x="820" y="21600"/>
                  </a:lnTo>
                  <a:lnTo>
                    <a:pt x="20780" y="21600"/>
                  </a:lnTo>
                  <a:lnTo>
                    <a:pt x="20968" y="21577"/>
                  </a:lnTo>
                  <a:lnTo>
                    <a:pt x="21141" y="21512"/>
                  </a:lnTo>
                  <a:lnTo>
                    <a:pt x="21293" y="21410"/>
                  </a:lnTo>
                  <a:lnTo>
                    <a:pt x="21420" y="21276"/>
                  </a:lnTo>
                  <a:lnTo>
                    <a:pt x="21517" y="21116"/>
                  </a:lnTo>
                  <a:lnTo>
                    <a:pt x="21578" y="20934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78" y="666"/>
                  </a:lnTo>
                  <a:lnTo>
                    <a:pt x="21517" y="484"/>
                  </a:lnTo>
                  <a:lnTo>
                    <a:pt x="21420" y="324"/>
                  </a:lnTo>
                  <a:lnTo>
                    <a:pt x="21293" y="190"/>
                  </a:lnTo>
                  <a:lnTo>
                    <a:pt x="21141" y="88"/>
                  </a:lnTo>
                  <a:lnTo>
                    <a:pt x="20968" y="23"/>
                  </a:lnTo>
                  <a:lnTo>
                    <a:pt x="20780" y="0"/>
                  </a:lnTo>
                  <a:close/>
                </a:path>
              </a:pathLst>
            </a:custGeom>
            <a:solidFill>
              <a:srgbClr val="E3F1E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" name="object 9"/>
            <p:cNvSpPr/>
            <p:nvPr/>
          </p:nvSpPr>
          <p:spPr>
            <a:xfrm>
              <a:off x="0" y="0"/>
              <a:ext cx="5394962" cy="512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22" y="666"/>
                  </a:lnTo>
                  <a:lnTo>
                    <a:pt x="83" y="484"/>
                  </a:lnTo>
                  <a:lnTo>
                    <a:pt x="180" y="324"/>
                  </a:lnTo>
                  <a:lnTo>
                    <a:pt x="307" y="190"/>
                  </a:lnTo>
                  <a:lnTo>
                    <a:pt x="459" y="88"/>
                  </a:lnTo>
                  <a:lnTo>
                    <a:pt x="632" y="23"/>
                  </a:lnTo>
                  <a:lnTo>
                    <a:pt x="820" y="0"/>
                  </a:lnTo>
                  <a:lnTo>
                    <a:pt x="20780" y="0"/>
                  </a:lnTo>
                  <a:lnTo>
                    <a:pt x="20968" y="23"/>
                  </a:lnTo>
                  <a:lnTo>
                    <a:pt x="21141" y="88"/>
                  </a:lnTo>
                  <a:lnTo>
                    <a:pt x="21293" y="190"/>
                  </a:lnTo>
                  <a:lnTo>
                    <a:pt x="21420" y="324"/>
                  </a:lnTo>
                  <a:lnTo>
                    <a:pt x="21517" y="484"/>
                  </a:lnTo>
                  <a:lnTo>
                    <a:pt x="21578" y="666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78" y="20934"/>
                  </a:lnTo>
                  <a:lnTo>
                    <a:pt x="21517" y="21116"/>
                  </a:lnTo>
                  <a:lnTo>
                    <a:pt x="21420" y="21276"/>
                  </a:lnTo>
                  <a:lnTo>
                    <a:pt x="21293" y="21410"/>
                  </a:lnTo>
                  <a:lnTo>
                    <a:pt x="21141" y="21512"/>
                  </a:lnTo>
                  <a:lnTo>
                    <a:pt x="20968" y="21577"/>
                  </a:lnTo>
                  <a:lnTo>
                    <a:pt x="20780" y="21600"/>
                  </a:lnTo>
                  <a:lnTo>
                    <a:pt x="820" y="21600"/>
                  </a:lnTo>
                  <a:lnTo>
                    <a:pt x="632" y="21577"/>
                  </a:lnTo>
                  <a:lnTo>
                    <a:pt x="459" y="21512"/>
                  </a:lnTo>
                  <a:lnTo>
                    <a:pt x="307" y="21410"/>
                  </a:lnTo>
                  <a:lnTo>
                    <a:pt x="180" y="21276"/>
                  </a:lnTo>
                  <a:lnTo>
                    <a:pt x="83" y="21116"/>
                  </a:lnTo>
                  <a:lnTo>
                    <a:pt x="22" y="20934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2A9D8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89" name="object 10"/>
          <p:cNvSpPr txBox="1"/>
          <p:nvPr/>
        </p:nvSpPr>
        <p:spPr>
          <a:xfrm>
            <a:off x="6513068" y="1242313"/>
            <a:ext cx="5002531" cy="313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0"/>
              </a:spcBef>
              <a:defRPr b="1" sz="1900">
                <a:solidFill>
                  <a:srgbClr val="13203C"/>
                </a:solidFill>
              </a:defRPr>
            </a:pPr>
            <a:r>
              <a:t>Future</a:t>
            </a:r>
            <a:r>
              <a:rPr spc="-70"/>
              <a:t> </a:t>
            </a:r>
            <a:r>
              <a:rPr spc="-10"/>
              <a:t>scope</a:t>
            </a:r>
          </a:p>
          <a:p>
            <a:pPr indent="12700">
              <a:spcBef>
                <a:spcPts val="700"/>
              </a:spcBef>
              <a:defRPr spc="-20" sz="1400">
                <a:solidFill>
                  <a:srgbClr val="13203C"/>
                </a:solidFill>
              </a:defRPr>
            </a:pPr>
            <a:r>
              <a:t>Larger,</a:t>
            </a:r>
            <a:r>
              <a:rPr spc="-45"/>
              <a:t> </a:t>
            </a:r>
            <a:r>
              <a:rPr spc="0"/>
              <a:t>more</a:t>
            </a:r>
            <a:r>
              <a:rPr spc="-60"/>
              <a:t> </a:t>
            </a:r>
            <a:r>
              <a:rPr spc="0"/>
              <a:t>diverse</a:t>
            </a:r>
            <a:r>
              <a:rPr spc="-35"/>
              <a:t> </a:t>
            </a:r>
            <a:r>
              <a:rPr spc="0"/>
              <a:t>data;</a:t>
            </a:r>
            <a:r>
              <a:rPr spc="-40"/>
              <a:t> </a:t>
            </a:r>
            <a:r>
              <a:rPr spc="-10"/>
              <a:t>patient-</a:t>
            </a:r>
            <a:r>
              <a:rPr spc="0"/>
              <a:t>level</a:t>
            </a:r>
            <a:r>
              <a:rPr spc="-10"/>
              <a:t> </a:t>
            </a:r>
            <a:r>
              <a:rPr spc="0"/>
              <a:t>splits</a:t>
            </a:r>
            <a:r>
              <a:rPr spc="-35"/>
              <a:t> </a:t>
            </a:r>
            <a:r>
              <a:rPr spc="0"/>
              <a:t>where</a:t>
            </a:r>
            <a:r>
              <a:rPr spc="-50"/>
              <a:t> </a:t>
            </a:r>
            <a:r>
              <a:rPr spc="-10"/>
              <a:t>identifiers</a:t>
            </a:r>
            <a:r>
              <a:rPr spc="-40"/>
              <a:t> </a:t>
            </a:r>
            <a:r>
              <a:rPr spc="-10"/>
              <a:t>exist.</a:t>
            </a:r>
          </a:p>
          <a:p>
            <a:pPr marR="370204" indent="12700">
              <a:spcBef>
                <a:spcPts val="600"/>
              </a:spcBef>
              <a:defRPr sz="1400">
                <a:solidFill>
                  <a:srgbClr val="13203C"/>
                </a:solidFill>
              </a:defRPr>
            </a:pPr>
            <a:r>
              <a:t>More</a:t>
            </a:r>
            <a:r>
              <a:rPr spc="-40"/>
              <a:t> </a:t>
            </a:r>
            <a:r>
              <a:t>GAN</a:t>
            </a:r>
            <a:r>
              <a:rPr spc="-40"/>
              <a:t> </a:t>
            </a:r>
            <a:r>
              <a:t>runs</a:t>
            </a:r>
            <a:r>
              <a:rPr spc="-25"/>
              <a:t> </a:t>
            </a:r>
            <a:r>
              <a:t>and</a:t>
            </a:r>
            <a:r>
              <a:rPr spc="-25"/>
              <a:t> </a:t>
            </a:r>
            <a:r>
              <a:t>seeds,</a:t>
            </a:r>
            <a:r>
              <a:rPr spc="-20"/>
              <a:t> </a:t>
            </a:r>
            <a:r>
              <a:rPr spc="-10"/>
              <a:t>significance</a:t>
            </a:r>
            <a:r>
              <a:rPr spc="-30"/>
              <a:t> </a:t>
            </a:r>
            <a:r>
              <a:t>tests,</a:t>
            </a:r>
            <a:r>
              <a:rPr spc="-25"/>
              <a:t> </a:t>
            </a:r>
            <a:r>
              <a:rPr spc="-10"/>
              <a:t>compute-matched </a:t>
            </a:r>
            <a:r>
              <a:t>baselines,</a:t>
            </a:r>
            <a:r>
              <a:rPr spc="-40"/>
              <a:t> </a:t>
            </a:r>
            <a:r>
              <a:t>longer</a:t>
            </a:r>
            <a:r>
              <a:rPr spc="-65"/>
              <a:t> </a:t>
            </a:r>
            <a:r>
              <a:rPr spc="-10"/>
              <a:t>training.</a:t>
            </a:r>
          </a:p>
          <a:p>
            <a:pPr indent="12700">
              <a:spcBef>
                <a:spcPts val="700"/>
              </a:spcBef>
              <a:defRPr spc="-10" sz="1400">
                <a:solidFill>
                  <a:srgbClr val="13203C"/>
                </a:solidFill>
              </a:defRPr>
            </a:pPr>
            <a:r>
              <a:t>Improved</a:t>
            </a:r>
            <a:r>
              <a:rPr spc="-45"/>
              <a:t> </a:t>
            </a:r>
            <a:r>
              <a:rPr spc="0"/>
              <a:t>conditional</a:t>
            </a:r>
            <a:r>
              <a:rPr spc="-20"/>
              <a:t> </a:t>
            </a:r>
            <a:r>
              <a:t>generation</a:t>
            </a:r>
            <a:r>
              <a:rPr spc="-15"/>
              <a:t> </a:t>
            </a:r>
            <a:r>
              <a:rPr spc="0"/>
              <a:t>and</a:t>
            </a:r>
            <a:r>
              <a:rPr spc="-25"/>
              <a:t> </a:t>
            </a:r>
            <a:r>
              <a:t>class-consistency</a:t>
            </a:r>
            <a:r>
              <a:rPr spc="-30"/>
              <a:t> </a:t>
            </a:r>
            <a:r>
              <a:t>evaluation.</a:t>
            </a:r>
          </a:p>
          <a:p>
            <a:pPr indent="12700">
              <a:spcBef>
                <a:spcPts val="700"/>
              </a:spcBef>
              <a:defRPr spc="-10" sz="1400">
                <a:solidFill>
                  <a:srgbClr val="13203C"/>
                </a:solidFill>
              </a:defRPr>
            </a:pPr>
            <a:r>
              <a:t>Medical-structure</a:t>
            </a:r>
            <a:r>
              <a:rPr spc="-25"/>
              <a:t> </a:t>
            </a:r>
            <a:r>
              <a:t>evaluation </a:t>
            </a:r>
            <a:r>
              <a:rPr spc="0"/>
              <a:t>beyond</a:t>
            </a:r>
            <a:r>
              <a:rPr spc="-35"/>
              <a:t> </a:t>
            </a:r>
            <a:r>
              <a:t>ImageNet-feature</a:t>
            </a:r>
            <a:r>
              <a:rPr spc="-20"/>
              <a:t> </a:t>
            </a:r>
            <a:r>
              <a:t>FID/KID.</a:t>
            </a:r>
          </a:p>
          <a:p>
            <a:pPr marR="5080" indent="12700">
              <a:spcBef>
                <a:spcPts val="700"/>
              </a:spcBef>
              <a:defRPr sz="1400">
                <a:solidFill>
                  <a:srgbClr val="13203C"/>
                </a:solidFill>
              </a:defRPr>
            </a:pPr>
            <a:r>
              <a:t>Save</a:t>
            </a:r>
            <a:r>
              <a:rPr spc="-35"/>
              <a:t> </a:t>
            </a:r>
            <a:r>
              <a:t>a</a:t>
            </a:r>
            <a:r>
              <a:rPr spc="-30"/>
              <a:t> </a:t>
            </a:r>
            <a:r>
              <a:rPr spc="-10"/>
              <a:t>research</a:t>
            </a:r>
            <a:r>
              <a:rPr spc="-25"/>
              <a:t> </a:t>
            </a:r>
            <a:r>
              <a:t>classifier</a:t>
            </a:r>
            <a:r>
              <a:rPr spc="-30"/>
              <a:t> </a:t>
            </a:r>
            <a:r>
              <a:t>checkpoint</a:t>
            </a:r>
            <a:r>
              <a:rPr spc="-10"/>
              <a:t> </a:t>
            </a:r>
            <a:r>
              <a:t>(e.g.</a:t>
            </a:r>
            <a:r>
              <a:rPr spc="-35"/>
              <a:t> </a:t>
            </a:r>
            <a:r>
              <a:rPr spc="-10"/>
              <a:t>condition</a:t>
            </a:r>
            <a:r>
              <a:rPr spc="-25"/>
              <a:t> </a:t>
            </a:r>
            <a:r>
              <a:t>C)</a:t>
            </a:r>
            <a:r>
              <a:rPr spc="-25"/>
              <a:t> </a:t>
            </a:r>
            <a:r>
              <a:t>for</a:t>
            </a:r>
            <a:r>
              <a:rPr spc="-45"/>
              <a:t> </a:t>
            </a:r>
            <a:r>
              <a:t>new-</a:t>
            </a:r>
            <a:r>
              <a:rPr spc="-10"/>
              <a:t>image inference.</a:t>
            </a:r>
          </a:p>
          <a:p>
            <a:pPr indent="12700">
              <a:spcBef>
                <a:spcPts val="600"/>
              </a:spcBef>
              <a:defRPr spc="-10" sz="1400">
                <a:solidFill>
                  <a:srgbClr val="13203C"/>
                </a:solidFill>
              </a:defRPr>
            </a:pPr>
            <a:r>
              <a:t>Automated</a:t>
            </a:r>
            <a:r>
              <a:rPr spc="-25"/>
              <a:t> </a:t>
            </a:r>
            <a:r>
              <a:t>browser-</a:t>
            </a:r>
            <a:r>
              <a:rPr spc="0"/>
              <a:t>level</a:t>
            </a:r>
            <a:r>
              <a:rPr spc="-35"/>
              <a:t> </a:t>
            </a:r>
            <a:r>
              <a:rPr spc="0"/>
              <a:t>tests</a:t>
            </a:r>
            <a:r>
              <a:rPr spc="-15"/>
              <a:t> </a:t>
            </a:r>
            <a:r>
              <a:rPr spc="0"/>
              <a:t>and</a:t>
            </a:r>
            <a:r>
              <a:rPr spc="-15"/>
              <a:t> </a:t>
            </a:r>
            <a:r>
              <a:t>out-</a:t>
            </a:r>
            <a:r>
              <a:rPr spc="0"/>
              <a:t>of-</a:t>
            </a:r>
            <a:r>
              <a:t>distribution</a:t>
            </a:r>
            <a:r>
              <a:rPr spc="-30"/>
              <a:t> </a:t>
            </a:r>
            <a:r>
              <a:t>handling.</a:t>
            </a:r>
          </a:p>
          <a:p>
            <a:pPr indent="12700">
              <a:spcBef>
                <a:spcPts val="700"/>
              </a:spcBef>
              <a:defRPr sz="1400">
                <a:solidFill>
                  <a:srgbClr val="13203C"/>
                </a:solidFill>
              </a:defRPr>
            </a:pPr>
            <a:r>
              <a:t>Clinical</a:t>
            </a:r>
            <a:r>
              <a:rPr spc="-25"/>
              <a:t> </a:t>
            </a:r>
            <a:r>
              <a:rPr spc="-10"/>
              <a:t>validation,</a:t>
            </a:r>
            <a:r>
              <a:rPr spc="-30"/>
              <a:t> </a:t>
            </a:r>
            <a:r>
              <a:rPr spc="-10"/>
              <a:t>regulatory</a:t>
            </a:r>
            <a:r>
              <a:rPr spc="-45"/>
              <a:t> </a:t>
            </a:r>
            <a:r>
              <a:t>review</a:t>
            </a:r>
            <a:r>
              <a:rPr spc="-20"/>
              <a:t> </a:t>
            </a:r>
            <a:r>
              <a:t>and</a:t>
            </a:r>
            <a:r>
              <a:rPr spc="-45"/>
              <a:t> </a:t>
            </a:r>
            <a:r>
              <a:rPr spc="-10"/>
              <a:t>oversight</a:t>
            </a:r>
            <a:r>
              <a:rPr spc="-45"/>
              <a:t> </a:t>
            </a:r>
            <a:r>
              <a:rPr spc="-10"/>
              <a:t>before</a:t>
            </a:r>
            <a:r>
              <a:rPr spc="-45"/>
              <a:t> </a:t>
            </a:r>
            <a:r>
              <a:rPr spc="-25"/>
              <a:t>any</a:t>
            </a:r>
          </a:p>
          <a:p>
            <a:pPr indent="12700">
              <a:defRPr spc="-10" sz="1400">
                <a:solidFill>
                  <a:srgbClr val="13203C"/>
                </a:solidFill>
              </a:defRPr>
            </a:pPr>
            <a:r>
              <a:t>healthcare</a:t>
            </a:r>
            <a:r>
              <a:rPr spc="15"/>
              <a:t> </a:t>
            </a:r>
            <a:r>
              <a:rPr spc="-20"/>
              <a:t>use.</a:t>
            </a:r>
          </a:p>
        </p:txBody>
      </p:sp>
      <p:sp>
        <p:nvSpPr>
          <p:cNvPr id="190" name="object 11"/>
          <p:cNvSpPr txBox="1"/>
          <p:nvPr>
            <p:ph type="sldNum" sz="quarter" idx="4294967295"/>
          </p:nvPr>
        </p:nvSpPr>
        <p:spPr>
          <a:xfrm>
            <a:off x="535939" y="6532194"/>
            <a:ext cx="151598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object 2"/>
          <p:cNvSpPr txBox="1"/>
          <p:nvPr>
            <p:ph type="title"/>
          </p:nvPr>
        </p:nvSpPr>
        <p:spPr>
          <a:xfrm>
            <a:off x="535939" y="198830"/>
            <a:ext cx="7517132" cy="452121"/>
          </a:xfrm>
          <a:prstGeom prst="rect">
            <a:avLst/>
          </a:prstGeom>
        </p:spPr>
        <p:txBody>
          <a:bodyPr/>
          <a:lstStyle/>
          <a:p>
            <a:pPr indent="12700">
              <a:defRPr spc="-100"/>
            </a:pPr>
            <a:r>
              <a:t>References </a:t>
            </a:r>
            <a:r>
              <a:rPr spc="0"/>
              <a:t>and</a:t>
            </a:r>
            <a:r>
              <a:rPr spc="-200"/>
              <a:t> </a:t>
            </a:r>
            <a:r>
              <a:t>questions</a:t>
            </a:r>
          </a:p>
        </p:txBody>
      </p:sp>
      <p:sp>
        <p:nvSpPr>
          <p:cNvPr id="193" name="object 3"/>
          <p:cNvSpPr txBox="1"/>
          <p:nvPr/>
        </p:nvSpPr>
        <p:spPr>
          <a:xfrm>
            <a:off x="554226" y="1142695"/>
            <a:ext cx="5450842" cy="227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28600" indent="-215900">
              <a:spcBef>
                <a:spcPts val="500"/>
              </a:spcBef>
              <a:buSzPct val="100000"/>
              <a:buAutoNum type="arabicPeriod" startAt="1"/>
              <a:tabLst>
                <a:tab pos="228600" algn="l"/>
              </a:tabLst>
              <a:defRPr spc="-10" sz="1200">
                <a:solidFill>
                  <a:srgbClr val="13203C"/>
                </a:solidFill>
              </a:defRPr>
            </a:pPr>
            <a:r>
              <a:t>Goodfellow</a:t>
            </a:r>
            <a:r>
              <a:rPr spc="-40"/>
              <a:t> </a:t>
            </a:r>
            <a:r>
              <a:rPr spc="0"/>
              <a:t>et</a:t>
            </a:r>
            <a:r>
              <a:rPr spc="-30"/>
              <a:t> </a:t>
            </a:r>
            <a:r>
              <a:rPr spc="0"/>
              <a:t>al.,</a:t>
            </a:r>
            <a:r>
              <a:rPr spc="-30"/>
              <a:t> </a:t>
            </a:r>
            <a:r>
              <a:t>Generative</a:t>
            </a:r>
            <a:r>
              <a:rPr spc="-30"/>
              <a:t> </a:t>
            </a:r>
            <a:r>
              <a:rPr spc="0"/>
              <a:t>Adversarial</a:t>
            </a:r>
            <a:r>
              <a:rPr spc="-20"/>
              <a:t> </a:t>
            </a:r>
            <a:r>
              <a:rPr spc="0"/>
              <a:t>Networks,</a:t>
            </a:r>
            <a:r>
              <a:rPr spc="-20"/>
              <a:t> </a:t>
            </a:r>
            <a:r>
              <a:rPr spc="0"/>
              <a:t>arXiv:1406.2661,</a:t>
            </a:r>
            <a:r>
              <a:t> 2014.</a:t>
            </a:r>
          </a:p>
          <a:p>
            <a:pPr marL="228600" marR="267970" indent="-215900">
              <a:spcBef>
                <a:spcPts val="400"/>
              </a:spcBef>
              <a:buSzPct val="100000"/>
              <a:buAutoNum type="arabicPeriod" startAt="1"/>
              <a:tabLst>
                <a:tab pos="228600" algn="l"/>
              </a:tabLst>
              <a:defRPr sz="1200">
                <a:solidFill>
                  <a:srgbClr val="13203C"/>
                </a:solidFill>
              </a:defRPr>
            </a:pPr>
            <a:r>
              <a:t>Mirza</a:t>
            </a:r>
            <a:r>
              <a:rPr spc="-30"/>
              <a:t> </a:t>
            </a:r>
            <a:r>
              <a:t>&amp;</a:t>
            </a:r>
            <a:r>
              <a:rPr spc="-20"/>
              <a:t> </a:t>
            </a:r>
            <a:r>
              <a:rPr spc="-10"/>
              <a:t>Osindero,</a:t>
            </a:r>
            <a:r>
              <a:rPr spc="-5"/>
              <a:t> </a:t>
            </a:r>
            <a:r>
              <a:t>Conditional</a:t>
            </a:r>
            <a:r>
              <a:rPr spc="-5"/>
              <a:t> </a:t>
            </a:r>
            <a:r>
              <a:rPr spc="-10"/>
              <a:t>Generative</a:t>
            </a:r>
            <a:r>
              <a:rPr spc="-20"/>
              <a:t> </a:t>
            </a:r>
            <a:r>
              <a:rPr spc="-10"/>
              <a:t>Adversarial</a:t>
            </a:r>
            <a:r>
              <a:rPr spc="10"/>
              <a:t> </a:t>
            </a:r>
            <a:r>
              <a:t>Nets,</a:t>
            </a:r>
            <a:r>
              <a:rPr spc="-15"/>
              <a:t> </a:t>
            </a:r>
            <a:r>
              <a:rPr spc="-10"/>
              <a:t>arXiv:1411.1784, 2014.</a:t>
            </a:r>
          </a:p>
          <a:p>
            <a:pPr marL="228600" indent="-215900">
              <a:spcBef>
                <a:spcPts val="500"/>
              </a:spcBef>
              <a:buSzPct val="100000"/>
              <a:buAutoNum type="arabicPeriod" startAt="1"/>
              <a:tabLst>
                <a:tab pos="228600" algn="l"/>
              </a:tabLst>
              <a:defRPr spc="-10" sz="1200">
                <a:solidFill>
                  <a:srgbClr val="13203C"/>
                </a:solidFill>
              </a:defRPr>
            </a:pPr>
            <a:r>
              <a:t>Radford,</a:t>
            </a:r>
            <a:r>
              <a:rPr spc="-15"/>
              <a:t> </a:t>
            </a:r>
            <a:r>
              <a:rPr spc="0"/>
              <a:t>Metz</a:t>
            </a:r>
            <a:r>
              <a:rPr spc="-25"/>
              <a:t> </a:t>
            </a:r>
            <a:r>
              <a:rPr spc="0"/>
              <a:t>&amp;</a:t>
            </a:r>
            <a:r>
              <a:rPr spc="-25"/>
              <a:t> </a:t>
            </a:r>
            <a:r>
              <a:t>Chintala,</a:t>
            </a:r>
            <a:r>
              <a:rPr spc="-35"/>
              <a:t> </a:t>
            </a:r>
            <a:r>
              <a:rPr spc="0"/>
              <a:t>DCGAN,</a:t>
            </a:r>
            <a:r>
              <a:rPr spc="-5"/>
              <a:t> </a:t>
            </a:r>
            <a:r>
              <a:rPr spc="0"/>
              <a:t>arXiv:1511.06434,</a:t>
            </a:r>
            <a:r>
              <a:rPr spc="-5"/>
              <a:t> </a:t>
            </a:r>
            <a:r>
              <a:t>2015.</a:t>
            </a:r>
          </a:p>
          <a:p>
            <a:pPr marL="228600" indent="-215900">
              <a:spcBef>
                <a:spcPts val="500"/>
              </a:spcBef>
              <a:buSzPct val="100000"/>
              <a:buAutoNum type="arabicPeriod" startAt="1"/>
              <a:tabLst>
                <a:tab pos="228600" algn="l"/>
              </a:tabLst>
              <a:defRPr spc="-20" sz="1200">
                <a:solidFill>
                  <a:srgbClr val="13203C"/>
                </a:solidFill>
              </a:defRPr>
            </a:pPr>
            <a:r>
              <a:t>Arjovsky,</a:t>
            </a:r>
            <a:r>
              <a:rPr spc="-25"/>
              <a:t> </a:t>
            </a:r>
            <a:r>
              <a:rPr spc="0"/>
              <a:t>Chintala</a:t>
            </a:r>
            <a:r>
              <a:rPr spc="-15"/>
              <a:t> </a:t>
            </a:r>
            <a:r>
              <a:rPr spc="0"/>
              <a:t>&amp;</a:t>
            </a:r>
            <a:r>
              <a:rPr spc="-15"/>
              <a:t> </a:t>
            </a:r>
            <a:r>
              <a:rPr spc="0"/>
              <a:t>Bottou,</a:t>
            </a:r>
            <a:r>
              <a:rPr spc="-30"/>
              <a:t> </a:t>
            </a:r>
            <a:r>
              <a:rPr spc="-10"/>
              <a:t>Wasserstein</a:t>
            </a:r>
            <a:r>
              <a:rPr spc="-15"/>
              <a:t> </a:t>
            </a:r>
            <a:r>
              <a:rPr spc="0"/>
              <a:t>GAN, </a:t>
            </a:r>
            <a:r>
              <a:rPr spc="-10"/>
              <a:t>arXiv:1701.07875,</a:t>
            </a:r>
            <a:r>
              <a:rPr spc="15"/>
              <a:t> </a:t>
            </a:r>
            <a:r>
              <a:rPr spc="-10"/>
              <a:t>2017.</a:t>
            </a:r>
          </a:p>
          <a:p>
            <a:pPr marL="228600" indent="-215900">
              <a:spcBef>
                <a:spcPts val="400"/>
              </a:spcBef>
              <a:buSzPct val="100000"/>
              <a:buAutoNum type="arabicPeriod" startAt="1"/>
              <a:tabLst>
                <a:tab pos="228600" algn="l"/>
              </a:tabLst>
              <a:defRPr spc="-10" sz="1200">
                <a:solidFill>
                  <a:srgbClr val="13203C"/>
                </a:solidFill>
              </a:defRPr>
            </a:pPr>
            <a:r>
              <a:t>Gulrajani</a:t>
            </a:r>
            <a:r>
              <a:rPr spc="-20"/>
              <a:t> </a:t>
            </a:r>
            <a:r>
              <a:rPr spc="0"/>
              <a:t>et</a:t>
            </a:r>
            <a:r>
              <a:rPr spc="-15"/>
              <a:t> </a:t>
            </a:r>
            <a:r>
              <a:rPr spc="0"/>
              <a:t>al.,</a:t>
            </a:r>
            <a:r>
              <a:rPr spc="-20"/>
              <a:t> </a:t>
            </a:r>
            <a:r>
              <a:t>Improved</a:t>
            </a:r>
            <a:r>
              <a:rPr spc="-5"/>
              <a:t> </a:t>
            </a:r>
            <a:r>
              <a:rPr spc="-20"/>
              <a:t>Training </a:t>
            </a:r>
            <a:r>
              <a:rPr spc="0"/>
              <a:t>of</a:t>
            </a:r>
            <a:r>
              <a:rPr spc="-5"/>
              <a:t> </a:t>
            </a:r>
            <a:r>
              <a:t>Wasserstein</a:t>
            </a:r>
            <a:r>
              <a:rPr spc="-20"/>
              <a:t> </a:t>
            </a:r>
            <a:r>
              <a:rPr spc="0"/>
              <a:t>GANs,</a:t>
            </a:r>
            <a:r>
              <a:rPr spc="-20"/>
              <a:t> </a:t>
            </a:r>
            <a:r>
              <a:rPr spc="0"/>
              <a:t>arXiv:1704.00028,</a:t>
            </a:r>
            <a:r>
              <a:rPr spc="5"/>
              <a:t> </a:t>
            </a:r>
            <a:r>
              <a:t>2017.</a:t>
            </a:r>
          </a:p>
          <a:p>
            <a:pPr marL="228600" indent="-215900">
              <a:spcBef>
                <a:spcPts val="500"/>
              </a:spcBef>
              <a:buSzPct val="100000"/>
              <a:buAutoNum type="arabicPeriod" startAt="1"/>
              <a:tabLst>
                <a:tab pos="228600" algn="l"/>
              </a:tabLst>
              <a:defRPr sz="1200">
                <a:solidFill>
                  <a:srgbClr val="13203C"/>
                </a:solidFill>
              </a:defRPr>
            </a:pPr>
            <a:r>
              <a:t>Heusel</a:t>
            </a:r>
            <a:r>
              <a:rPr spc="-30"/>
              <a:t> </a:t>
            </a:r>
            <a:r>
              <a:t>et</a:t>
            </a:r>
            <a:r>
              <a:rPr spc="-20"/>
              <a:t> </a:t>
            </a:r>
            <a:r>
              <a:t>al.,</a:t>
            </a:r>
            <a:r>
              <a:rPr spc="-20"/>
              <a:t> </a:t>
            </a:r>
            <a:r>
              <a:t>TTUR</a:t>
            </a:r>
            <a:r>
              <a:rPr spc="-30"/>
              <a:t> </a:t>
            </a:r>
            <a:r>
              <a:t>/</a:t>
            </a:r>
            <a:r>
              <a:rPr spc="-10"/>
              <a:t> </a:t>
            </a:r>
            <a:r>
              <a:t>FID,</a:t>
            </a:r>
            <a:r>
              <a:rPr spc="-10"/>
              <a:t> </a:t>
            </a:r>
            <a:r>
              <a:t>NIPS</a:t>
            </a:r>
            <a:r>
              <a:rPr spc="-10"/>
              <a:t> </a:t>
            </a:r>
            <a:r>
              <a:t>2017;</a:t>
            </a:r>
            <a:r>
              <a:rPr spc="-20"/>
              <a:t> </a:t>
            </a:r>
            <a:r>
              <a:rPr spc="-10"/>
              <a:t>arXiv:1706.08500.</a:t>
            </a:r>
          </a:p>
          <a:p>
            <a:pPr marL="228600" indent="-215900">
              <a:spcBef>
                <a:spcPts val="500"/>
              </a:spcBef>
              <a:buSzPct val="100000"/>
              <a:buAutoNum type="arabicPeriod" startAt="1"/>
              <a:tabLst>
                <a:tab pos="228600" algn="l"/>
              </a:tabLst>
              <a:defRPr spc="-10" sz="1200">
                <a:solidFill>
                  <a:srgbClr val="13203C"/>
                </a:solidFill>
              </a:defRPr>
            </a:pPr>
            <a:r>
              <a:t>Bińkowski</a:t>
            </a:r>
            <a:r>
              <a:rPr spc="-35"/>
              <a:t> </a:t>
            </a:r>
            <a:r>
              <a:rPr spc="0"/>
              <a:t>et</a:t>
            </a:r>
            <a:r>
              <a:t> </a:t>
            </a:r>
            <a:r>
              <a:rPr spc="0"/>
              <a:t>al.,</a:t>
            </a:r>
            <a:r>
              <a:rPr spc="-5"/>
              <a:t> </a:t>
            </a:r>
            <a:r>
              <a:t>Demystifying</a:t>
            </a:r>
            <a:r>
              <a:rPr spc="-15"/>
              <a:t> </a:t>
            </a:r>
            <a:r>
              <a:rPr spc="0"/>
              <a:t>MMD</a:t>
            </a:r>
            <a:r>
              <a:rPr spc="-5"/>
              <a:t> </a:t>
            </a:r>
            <a:r>
              <a:rPr spc="0"/>
              <a:t>GANs,</a:t>
            </a:r>
            <a:r>
              <a:t> </a:t>
            </a:r>
            <a:r>
              <a:rPr spc="0"/>
              <a:t>ICLR</a:t>
            </a:r>
            <a:r>
              <a:rPr spc="-20"/>
              <a:t> </a:t>
            </a:r>
            <a:r>
              <a:rPr spc="0"/>
              <a:t>2018;</a:t>
            </a:r>
            <a:r>
              <a:rPr spc="5"/>
              <a:t> </a:t>
            </a:r>
            <a:r>
              <a:t>arXiv:1801.01401.</a:t>
            </a:r>
          </a:p>
          <a:p>
            <a:pPr marL="228600" marR="909319" indent="-215900">
              <a:spcBef>
                <a:spcPts val="400"/>
              </a:spcBef>
              <a:buSzPct val="100000"/>
              <a:buAutoNum type="arabicPeriod" startAt="1"/>
              <a:tabLst>
                <a:tab pos="228600" algn="l"/>
              </a:tabLst>
              <a:defRPr sz="1200">
                <a:solidFill>
                  <a:srgbClr val="13203C"/>
                </a:solidFill>
              </a:defRPr>
            </a:pPr>
            <a:r>
              <a:t>Miyato</a:t>
            </a:r>
            <a:r>
              <a:rPr spc="-45"/>
              <a:t> </a:t>
            </a:r>
            <a:r>
              <a:t>&amp;</a:t>
            </a:r>
            <a:r>
              <a:rPr spc="-40"/>
              <a:t> </a:t>
            </a:r>
            <a:r>
              <a:rPr spc="-10"/>
              <a:t>Koyama,</a:t>
            </a:r>
            <a:r>
              <a:rPr spc="-15"/>
              <a:t> </a:t>
            </a:r>
            <a:r>
              <a:t>cGANs</a:t>
            </a:r>
            <a:r>
              <a:rPr spc="-25"/>
              <a:t> </a:t>
            </a:r>
            <a:r>
              <a:t>with</a:t>
            </a:r>
            <a:r>
              <a:rPr spc="-40"/>
              <a:t> </a:t>
            </a:r>
            <a:r>
              <a:t>Projection</a:t>
            </a:r>
            <a:r>
              <a:rPr spc="-20"/>
              <a:t> </a:t>
            </a:r>
            <a:r>
              <a:rPr spc="-10"/>
              <a:t>Discriminator,</a:t>
            </a:r>
            <a:r>
              <a:rPr spc="-25"/>
              <a:t> </a:t>
            </a:r>
            <a:r>
              <a:t>ICLR</a:t>
            </a:r>
            <a:r>
              <a:rPr spc="-40"/>
              <a:t> </a:t>
            </a:r>
            <a:r>
              <a:rPr spc="-10"/>
              <a:t>2018; arXiv:1802.05637.</a:t>
            </a:r>
          </a:p>
        </p:txBody>
      </p:sp>
      <p:sp>
        <p:nvSpPr>
          <p:cNvPr id="194" name="object 4"/>
          <p:cNvSpPr txBox="1"/>
          <p:nvPr/>
        </p:nvSpPr>
        <p:spPr>
          <a:xfrm>
            <a:off x="6407277" y="1142694"/>
            <a:ext cx="4426586" cy="165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28600" indent="-215900">
              <a:spcBef>
                <a:spcPts val="500"/>
              </a:spcBef>
              <a:buSzPct val="100000"/>
              <a:buAutoNum type="arabicPeriod" startAt="9"/>
              <a:tabLst>
                <a:tab pos="228600" algn="l"/>
              </a:tabLst>
              <a:defRPr sz="1200">
                <a:solidFill>
                  <a:srgbClr val="13203C"/>
                </a:solidFill>
              </a:defRPr>
            </a:pPr>
            <a:r>
              <a:t>United</a:t>
            </a:r>
            <a:r>
              <a:rPr spc="-35"/>
              <a:t> </a:t>
            </a:r>
            <a:r>
              <a:t>Nations,</a:t>
            </a:r>
            <a:r>
              <a:rPr spc="-30"/>
              <a:t> </a:t>
            </a:r>
            <a:r>
              <a:rPr spc="-20"/>
              <a:t>Transforming</a:t>
            </a:r>
            <a:r>
              <a:rPr spc="-15"/>
              <a:t> </a:t>
            </a:r>
            <a:r>
              <a:t>our</a:t>
            </a:r>
            <a:r>
              <a:rPr spc="-20"/>
              <a:t> </a:t>
            </a:r>
            <a:r>
              <a:t>world:</a:t>
            </a:r>
            <a:r>
              <a:rPr spc="-15"/>
              <a:t> </a:t>
            </a:r>
            <a:r>
              <a:t>the</a:t>
            </a:r>
            <a:r>
              <a:rPr spc="-5"/>
              <a:t> </a:t>
            </a:r>
            <a:r>
              <a:t>2030</a:t>
            </a:r>
            <a:r>
              <a:rPr spc="-25"/>
              <a:t> </a:t>
            </a:r>
            <a:r>
              <a:t>Agenda,</a:t>
            </a:r>
            <a:r>
              <a:rPr spc="-15"/>
              <a:t> </a:t>
            </a:r>
            <a:r>
              <a:rPr spc="-10"/>
              <a:t>2015.</a:t>
            </a:r>
          </a:p>
          <a:p>
            <a:pPr marL="308609" indent="-295909">
              <a:spcBef>
                <a:spcPts val="400"/>
              </a:spcBef>
              <a:buSzPct val="100000"/>
              <a:buAutoNum type="arabicPeriod" startAt="9"/>
              <a:tabLst>
                <a:tab pos="304800" algn="l"/>
              </a:tabLst>
              <a:defRPr spc="-10" sz="1200">
                <a:solidFill>
                  <a:srgbClr val="13203C"/>
                </a:solidFill>
              </a:defRPr>
            </a:pPr>
            <a:r>
              <a:t>Karunya Institute</a:t>
            </a:r>
            <a:r>
              <a:rPr spc="-35"/>
              <a:t> </a:t>
            </a:r>
            <a:r>
              <a:rPr spc="0"/>
              <a:t>of</a:t>
            </a:r>
            <a:r>
              <a:rPr spc="-5"/>
              <a:t> </a:t>
            </a:r>
            <a:r>
              <a:rPr spc="-20"/>
              <a:t>Technology </a:t>
            </a:r>
            <a:r>
              <a:rPr spc="0"/>
              <a:t>and</a:t>
            </a:r>
            <a:r>
              <a:rPr spc="-20"/>
              <a:t> </a:t>
            </a:r>
            <a:r>
              <a:rPr spc="0"/>
              <a:t>Sciences,</a:t>
            </a:r>
            <a:r>
              <a:rPr spc="-15"/>
              <a:t> </a:t>
            </a:r>
            <a:r>
              <a:rPr spc="0"/>
              <a:t>official</a:t>
            </a:r>
            <a:r>
              <a:rPr spc="-20"/>
              <a:t> </a:t>
            </a:r>
            <a:r>
              <a:t>website.</a:t>
            </a:r>
          </a:p>
          <a:p>
            <a:pPr marL="308609" indent="-295909">
              <a:spcBef>
                <a:spcPts val="500"/>
              </a:spcBef>
              <a:buSzPct val="100000"/>
              <a:buAutoNum type="arabicPeriod" startAt="9"/>
              <a:tabLst>
                <a:tab pos="304800" algn="l"/>
              </a:tabLst>
              <a:defRPr sz="1200">
                <a:solidFill>
                  <a:srgbClr val="13203C"/>
                </a:solidFill>
              </a:defRPr>
            </a:pPr>
            <a:r>
              <a:t>M.</a:t>
            </a:r>
            <a:r>
              <a:rPr spc="-45"/>
              <a:t> </a:t>
            </a:r>
            <a:r>
              <a:rPr spc="-10"/>
              <a:t>Nickparvar,</a:t>
            </a:r>
            <a:r>
              <a:rPr spc="-15"/>
              <a:t> </a:t>
            </a:r>
            <a:r>
              <a:t>Brain</a:t>
            </a:r>
            <a:r>
              <a:rPr spc="-30"/>
              <a:t> </a:t>
            </a:r>
            <a:r>
              <a:rPr spc="-10"/>
              <a:t>Tumor</a:t>
            </a:r>
            <a:r>
              <a:rPr spc="-25"/>
              <a:t> </a:t>
            </a:r>
            <a:r>
              <a:t>MRI</a:t>
            </a:r>
            <a:r>
              <a:rPr spc="-45"/>
              <a:t> </a:t>
            </a:r>
            <a:r>
              <a:t>Dataset,</a:t>
            </a:r>
            <a:r>
              <a:rPr spc="-30"/>
              <a:t> </a:t>
            </a:r>
            <a:r>
              <a:t>Kaggle</a:t>
            </a:r>
            <a:r>
              <a:rPr spc="-35"/>
              <a:t> </a:t>
            </a:r>
            <a:r>
              <a:t>v2,</a:t>
            </a:r>
            <a:r>
              <a:rPr spc="-30"/>
              <a:t> </a:t>
            </a:r>
            <a:r>
              <a:t>CC</a:t>
            </a:r>
            <a:r>
              <a:rPr spc="-40"/>
              <a:t> </a:t>
            </a:r>
            <a:r>
              <a:t>BY</a:t>
            </a:r>
            <a:r>
              <a:rPr spc="-25"/>
              <a:t> </a:t>
            </a:r>
            <a:r>
              <a:rPr spc="-20"/>
              <a:t>4.0.</a:t>
            </a:r>
          </a:p>
          <a:p>
            <a:pPr marL="308609" indent="-295909">
              <a:spcBef>
                <a:spcPts val="500"/>
              </a:spcBef>
              <a:buSzPct val="100000"/>
              <a:buAutoNum type="arabicPeriod" startAt="9"/>
              <a:tabLst>
                <a:tab pos="304800" algn="l"/>
              </a:tabLst>
              <a:defRPr sz="1200">
                <a:solidFill>
                  <a:srgbClr val="13203C"/>
                </a:solidFill>
              </a:defRPr>
            </a:pPr>
            <a:r>
              <a:t>Kingma</a:t>
            </a:r>
            <a:r>
              <a:rPr spc="-20"/>
              <a:t> </a:t>
            </a:r>
            <a:r>
              <a:t>&amp;</a:t>
            </a:r>
            <a:r>
              <a:rPr spc="-25"/>
              <a:t> </a:t>
            </a:r>
            <a:r>
              <a:t>Ba,</a:t>
            </a:r>
            <a:r>
              <a:rPr spc="-25"/>
              <a:t> </a:t>
            </a:r>
            <a:r>
              <a:t>Adam,</a:t>
            </a:r>
            <a:r>
              <a:rPr spc="-10"/>
              <a:t> </a:t>
            </a:r>
            <a:r>
              <a:t>ICLR 2015;</a:t>
            </a:r>
            <a:r>
              <a:rPr spc="-20"/>
              <a:t> </a:t>
            </a:r>
            <a:r>
              <a:rPr spc="-10"/>
              <a:t>arXiv:1412.6980.</a:t>
            </a:r>
          </a:p>
          <a:p>
            <a:pPr marL="308609" indent="-295909">
              <a:spcBef>
                <a:spcPts val="400"/>
              </a:spcBef>
              <a:buSzPct val="100000"/>
              <a:buAutoNum type="arabicPeriod" startAt="9"/>
              <a:tabLst>
                <a:tab pos="304800" algn="l"/>
              </a:tabLst>
              <a:defRPr spc="-20" sz="1200">
                <a:solidFill>
                  <a:srgbClr val="13203C"/>
                </a:solidFill>
              </a:defRPr>
            </a:pPr>
            <a:r>
              <a:t>torch-</a:t>
            </a:r>
            <a:r>
              <a:rPr spc="0"/>
              <a:t>fidelity 0.4.0</a:t>
            </a:r>
            <a:r>
              <a:rPr spc="10"/>
              <a:t> </a:t>
            </a:r>
            <a:r>
              <a:rPr spc="-10"/>
              <a:t>(software).</a:t>
            </a:r>
          </a:p>
          <a:p>
            <a:pPr marL="308609" indent="-295909">
              <a:spcBef>
                <a:spcPts val="500"/>
              </a:spcBef>
              <a:buSzPct val="100000"/>
              <a:buAutoNum type="arabicPeriod" startAt="9"/>
              <a:tabLst>
                <a:tab pos="304800" algn="l"/>
              </a:tabLst>
              <a:defRPr spc="-20" sz="1200">
                <a:solidFill>
                  <a:srgbClr val="13203C"/>
                </a:solidFill>
              </a:defRPr>
            </a:pPr>
            <a:r>
              <a:t>Tan</a:t>
            </a:r>
            <a:r>
              <a:rPr spc="-15"/>
              <a:t> </a:t>
            </a:r>
            <a:r>
              <a:rPr spc="0"/>
              <a:t>&amp;</a:t>
            </a:r>
            <a:r>
              <a:t> </a:t>
            </a:r>
            <a:r>
              <a:rPr spc="0"/>
              <a:t>Le,</a:t>
            </a:r>
            <a:r>
              <a:t> </a:t>
            </a:r>
            <a:r>
              <a:rPr spc="-10"/>
              <a:t>EfficientNet,</a:t>
            </a:r>
            <a:r>
              <a:rPr spc="-5"/>
              <a:t> </a:t>
            </a:r>
            <a:r>
              <a:rPr spc="0"/>
              <a:t>ICML</a:t>
            </a:r>
            <a:r>
              <a:t> </a:t>
            </a:r>
            <a:r>
              <a:rPr spc="0"/>
              <a:t>2019;</a:t>
            </a:r>
            <a:r>
              <a:rPr spc="-5"/>
              <a:t> </a:t>
            </a:r>
            <a:r>
              <a:rPr spc="-10"/>
              <a:t>arXiv:1905.11946.</a:t>
            </a:r>
          </a:p>
          <a:p>
            <a:pPr marL="308609" indent="-295909">
              <a:spcBef>
                <a:spcPts val="500"/>
              </a:spcBef>
              <a:buSzPct val="100000"/>
              <a:buAutoNum type="arabicPeriod" startAt="9"/>
              <a:tabLst>
                <a:tab pos="304800" algn="l"/>
              </a:tabLst>
              <a:defRPr spc="-10" sz="1200">
                <a:solidFill>
                  <a:srgbClr val="13203C"/>
                </a:solidFill>
              </a:defRPr>
            </a:pPr>
            <a:r>
              <a:t>Phi-</a:t>
            </a:r>
            <a:r>
              <a:rPr spc="0"/>
              <a:t>007,</a:t>
            </a:r>
            <a:r>
              <a:rPr spc="30"/>
              <a:t> </a:t>
            </a:r>
            <a:r>
              <a:rPr spc="-20"/>
              <a:t>brain-</a:t>
            </a:r>
            <a:r>
              <a:t>tumor-</a:t>
            </a:r>
            <a:r>
              <a:rPr spc="0"/>
              <a:t>classifier</a:t>
            </a:r>
            <a:r>
              <a:rPr spc="25"/>
              <a:t> </a:t>
            </a:r>
            <a:r>
              <a:t>(Apache-</a:t>
            </a:r>
            <a:r>
              <a:rPr spc="0"/>
              <a:t>2.0)</a:t>
            </a:r>
            <a:r>
              <a:rPr spc="20"/>
              <a:t> </a:t>
            </a:r>
            <a:r>
              <a:t>(software).</a:t>
            </a:r>
          </a:p>
        </p:txBody>
      </p:sp>
      <p:sp>
        <p:nvSpPr>
          <p:cNvPr id="195" name="object 5"/>
          <p:cNvSpPr txBox="1"/>
          <p:nvPr/>
        </p:nvSpPr>
        <p:spPr>
          <a:xfrm>
            <a:off x="554226" y="5015660"/>
            <a:ext cx="6304917" cy="66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200"/>
              </a:spcBef>
              <a:defRPr b="1" spc="-10" sz="2800">
                <a:solidFill>
                  <a:srgbClr val="1F395F"/>
                </a:solidFill>
              </a:defRPr>
            </a:pPr>
            <a:r>
              <a:t>Questions?</a:t>
            </a:r>
          </a:p>
          <a:p>
            <a:pPr marR="5080" indent="12700">
              <a:spcBef>
                <a:spcPts val="500"/>
              </a:spcBef>
              <a:defRPr sz="1300">
                <a:solidFill>
                  <a:srgbClr val="545F6F"/>
                </a:solidFill>
              </a:defRPr>
            </a:pPr>
            <a:r>
              <a:t>25AI2004 AI</a:t>
            </a:r>
            <a:r>
              <a:rPr spc="-30"/>
              <a:t> </a:t>
            </a:r>
            <a:r>
              <a:t>in</a:t>
            </a:r>
            <a:r>
              <a:rPr spc="-10"/>
              <a:t> </a:t>
            </a:r>
            <a:r>
              <a:t>Healthcare</a:t>
            </a:r>
            <a:r>
              <a:rPr spc="265"/>
              <a:t> </a:t>
            </a:r>
            <a:r>
              <a:t>|</a:t>
            </a:r>
            <a:r>
              <a:rPr spc="250"/>
              <a:t> </a:t>
            </a:r>
            <a:r>
              <a:rPr spc="-10"/>
              <a:t>Karunya</a:t>
            </a:r>
            <a:r>
              <a:rPr spc="-15"/>
              <a:t> </a:t>
            </a:r>
            <a:r>
              <a:t>Institute of</a:t>
            </a:r>
            <a:r>
              <a:rPr spc="-15"/>
              <a:t> </a:t>
            </a:r>
            <a:r>
              <a:rPr spc="-10"/>
              <a:t>Technology </a:t>
            </a:r>
            <a:r>
              <a:t>and</a:t>
            </a:r>
            <a:r>
              <a:rPr spc="-5"/>
              <a:t> </a:t>
            </a:r>
            <a:r>
              <a:rPr spc="-10"/>
              <a:t>Sciences</a:t>
            </a:r>
          </a:p>
        </p:txBody>
      </p:sp>
      <p:grpSp>
        <p:nvGrpSpPr>
          <p:cNvPr id="198" name="object 6"/>
          <p:cNvGrpSpPr/>
          <p:nvPr/>
        </p:nvGrpSpPr>
        <p:grpSpPr>
          <a:xfrm>
            <a:off x="7224522" y="4938521"/>
            <a:ext cx="4572001" cy="1371600"/>
            <a:chOff x="0" y="0"/>
            <a:chExt cx="4572000" cy="1371599"/>
          </a:xfrm>
        </p:grpSpPr>
        <p:sp>
          <p:nvSpPr>
            <p:cNvPr id="196" name="object 7"/>
            <p:cNvSpPr/>
            <p:nvPr/>
          </p:nvSpPr>
          <p:spPr>
            <a:xfrm>
              <a:off x="0" y="0"/>
              <a:ext cx="4572001" cy="137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41" y="0"/>
                  </a:moveTo>
                  <a:lnTo>
                    <a:pt x="259" y="0"/>
                  </a:lnTo>
                  <a:lnTo>
                    <a:pt x="158" y="68"/>
                  </a:lnTo>
                  <a:lnTo>
                    <a:pt x="76" y="253"/>
                  </a:lnTo>
                  <a:lnTo>
                    <a:pt x="20" y="527"/>
                  </a:lnTo>
                  <a:lnTo>
                    <a:pt x="0" y="864"/>
                  </a:lnTo>
                  <a:lnTo>
                    <a:pt x="0" y="20736"/>
                  </a:lnTo>
                  <a:lnTo>
                    <a:pt x="20" y="21072"/>
                  </a:lnTo>
                  <a:lnTo>
                    <a:pt x="76" y="21347"/>
                  </a:lnTo>
                  <a:lnTo>
                    <a:pt x="158" y="21532"/>
                  </a:lnTo>
                  <a:lnTo>
                    <a:pt x="259" y="21600"/>
                  </a:lnTo>
                  <a:lnTo>
                    <a:pt x="21341" y="21600"/>
                  </a:lnTo>
                  <a:lnTo>
                    <a:pt x="21442" y="21532"/>
                  </a:lnTo>
                  <a:lnTo>
                    <a:pt x="21524" y="21347"/>
                  </a:lnTo>
                  <a:lnTo>
                    <a:pt x="21580" y="21072"/>
                  </a:lnTo>
                  <a:lnTo>
                    <a:pt x="21600" y="20736"/>
                  </a:lnTo>
                  <a:lnTo>
                    <a:pt x="21600" y="864"/>
                  </a:lnTo>
                  <a:lnTo>
                    <a:pt x="21580" y="527"/>
                  </a:lnTo>
                  <a:lnTo>
                    <a:pt x="21524" y="253"/>
                  </a:lnTo>
                  <a:lnTo>
                    <a:pt x="21442" y="68"/>
                  </a:lnTo>
                  <a:lnTo>
                    <a:pt x="21341" y="0"/>
                  </a:lnTo>
                  <a:close/>
                </a:path>
              </a:pathLst>
            </a:custGeom>
            <a:solidFill>
              <a:srgbClr val="FCF0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7" name="object 8"/>
            <p:cNvSpPr/>
            <p:nvPr/>
          </p:nvSpPr>
          <p:spPr>
            <a:xfrm>
              <a:off x="0" y="0"/>
              <a:ext cx="4572001" cy="1371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864"/>
                  </a:moveTo>
                  <a:lnTo>
                    <a:pt x="20" y="527"/>
                  </a:lnTo>
                  <a:lnTo>
                    <a:pt x="76" y="253"/>
                  </a:lnTo>
                  <a:lnTo>
                    <a:pt x="158" y="68"/>
                  </a:lnTo>
                  <a:lnTo>
                    <a:pt x="259" y="0"/>
                  </a:lnTo>
                  <a:lnTo>
                    <a:pt x="21341" y="0"/>
                  </a:lnTo>
                  <a:lnTo>
                    <a:pt x="21442" y="68"/>
                  </a:lnTo>
                  <a:lnTo>
                    <a:pt x="21524" y="253"/>
                  </a:lnTo>
                  <a:lnTo>
                    <a:pt x="21580" y="527"/>
                  </a:lnTo>
                  <a:lnTo>
                    <a:pt x="21600" y="864"/>
                  </a:lnTo>
                  <a:lnTo>
                    <a:pt x="21600" y="20736"/>
                  </a:lnTo>
                  <a:lnTo>
                    <a:pt x="21580" y="21072"/>
                  </a:lnTo>
                  <a:lnTo>
                    <a:pt x="21524" y="21347"/>
                  </a:lnTo>
                  <a:lnTo>
                    <a:pt x="21442" y="21532"/>
                  </a:lnTo>
                  <a:lnTo>
                    <a:pt x="21341" y="21600"/>
                  </a:lnTo>
                  <a:lnTo>
                    <a:pt x="259" y="21600"/>
                  </a:lnTo>
                  <a:lnTo>
                    <a:pt x="158" y="21532"/>
                  </a:lnTo>
                  <a:lnTo>
                    <a:pt x="76" y="21347"/>
                  </a:lnTo>
                  <a:lnTo>
                    <a:pt x="20" y="21072"/>
                  </a:lnTo>
                  <a:lnTo>
                    <a:pt x="0" y="20736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9812" cap="flat">
              <a:solidFill>
                <a:srgbClr val="C8891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bject 9"/>
          <p:cNvSpPr txBox="1"/>
          <p:nvPr/>
        </p:nvSpPr>
        <p:spPr>
          <a:xfrm>
            <a:off x="7337806" y="4998234"/>
            <a:ext cx="4265296" cy="601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b="1" spc="-10" sz="1300">
                <a:solidFill>
                  <a:srgbClr val="13203C"/>
                </a:solidFill>
              </a:defRPr>
            </a:pPr>
            <a:r>
              <a:t>Reminder</a:t>
            </a:r>
          </a:p>
          <a:p>
            <a:pPr marR="5080" indent="12700">
              <a:spcBef>
                <a:spcPts val="400"/>
              </a:spcBef>
              <a:defRPr sz="1200">
                <a:solidFill>
                  <a:srgbClr val="13203C"/>
                </a:solidFill>
              </a:defRPr>
            </a:pPr>
            <a:r>
              <a:t>Academic</a:t>
            </a:r>
            <a:r>
              <a:rPr spc="-10"/>
              <a:t> </a:t>
            </a:r>
            <a:r>
              <a:t>research</a:t>
            </a:r>
            <a:r>
              <a:rPr spc="-30"/>
              <a:t> </a:t>
            </a:r>
            <a:r>
              <a:rPr spc="-10"/>
              <a:t>prototype.</a:t>
            </a:r>
            <a:r>
              <a:rPr spc="-55"/>
              <a:t> </a:t>
            </a:r>
            <a:r>
              <a:t>Dataset</a:t>
            </a:r>
            <a:r>
              <a:rPr spc="-25"/>
              <a:t> </a:t>
            </a:r>
            <a:r>
              <a:rPr spc="-10"/>
              <a:t>matches</a:t>
            </a:r>
            <a:r>
              <a:rPr spc="-25"/>
              <a:t> </a:t>
            </a:r>
            <a:r>
              <a:t>Kaggle</a:t>
            </a:r>
            <a:r>
              <a:rPr spc="-15"/>
              <a:t> </a:t>
            </a:r>
            <a:r>
              <a:t>v2;</a:t>
            </a:r>
            <a:r>
              <a:rPr spc="-15"/>
              <a:t> </a:t>
            </a:r>
            <a:r>
              <a:rPr spc="-10"/>
              <a:t>download </a:t>
            </a:r>
            <a:r>
              <a:t>record</a:t>
            </a:r>
            <a:r>
              <a:rPr spc="-20"/>
              <a:t> </a:t>
            </a:r>
            <a:r>
              <a:rPr spc="-10"/>
              <a:t>unverified;</a:t>
            </a:r>
            <a:r>
              <a:rPr spc="-35"/>
              <a:t> </a:t>
            </a:r>
            <a:r>
              <a:t>not</a:t>
            </a:r>
            <a:r>
              <a:rPr spc="-20"/>
              <a:t> </a:t>
            </a:r>
            <a:r>
              <a:rPr spc="-10"/>
              <a:t>redistributed.</a:t>
            </a:r>
            <a:r>
              <a:rPr spc="-40"/>
              <a:t> </a:t>
            </a:r>
            <a:r>
              <a:t>Not</a:t>
            </a:r>
            <a:r>
              <a:rPr spc="-5"/>
              <a:t> </a:t>
            </a:r>
            <a:r>
              <a:t>a</a:t>
            </a:r>
            <a:r>
              <a:rPr spc="-5"/>
              <a:t> </a:t>
            </a:r>
            <a:r>
              <a:t>medical </a:t>
            </a:r>
            <a:r>
              <a:rPr spc="-10"/>
              <a:t>device.</a:t>
            </a:r>
          </a:p>
        </p:txBody>
      </p:sp>
      <p:sp>
        <p:nvSpPr>
          <p:cNvPr id="200" name="object 10"/>
          <p:cNvSpPr txBox="1"/>
          <p:nvPr>
            <p:ph type="sldNum" sz="quarter" idx="4294967295"/>
          </p:nvPr>
        </p:nvSpPr>
        <p:spPr>
          <a:xfrm>
            <a:off x="535939" y="6532194"/>
            <a:ext cx="151598" cy="1333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lnSpc>
                <a:spcPts val="1000"/>
              </a:lnSpc>
              <a:defRPr spc="-9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